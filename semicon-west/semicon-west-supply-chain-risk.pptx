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1.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charts/chart2.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5A6672"/>
                </a:solidFill>
                <a:latin typeface="Calibri"/>
              </a:defRPr>
            </a:pPr>
            <a:r>
              <a:rPr sz="1400" b="0" i="0" u="none" strike="noStrike">
                <a:solidFill>
                  <a:srgbClr val="5A6672"/>
                </a:solidFill>
                <a:latin typeface="Calibri"/>
              </a:rPr>
              <a:t>Share of global sub-10 nm logic wafer capacity</a:t>
            </a:r>
          </a:p>
        </c:rich>
      </c:tx>
      <c:layout/>
      <c:overlay val="0"/>
    </c:title>
    <c:autoTitleDeleted val="0"/>
    <c:plotArea>
      <c:layout/>
      <c:barChart>
        <c:barDir val="col"/>
        <c:grouping val="clustered"/>
        <c:varyColors val="0"/>
        <c:ser>
          <c:idx val="0"/>
          <c:order val="0"/>
          <c:tx>
            <c:strRef>
              <c:f>Sheet1!$B$1</c:f>
              <c:strCache>
                <c:ptCount val="1"/>
                <c:pt idx="0">
                  <c:v>2022</c:v>
                </c:pt>
              </c:strCache>
            </c:strRef>
          </c:tx>
          <c:spPr>
            <a:solidFill>
              <a:srgbClr val="2B7FB8"/>
            </a:solidFill>
            <a:effectLst/>
          </c:spPr>
          <c:invertIfNegative val="0"/>
          <c:dLbls>
            <c:numFmt formatCode="0&quot;%&quot;" sourceLinked="0"/>
            <c:txPr>
              <a:bodyPr/>
              <a:lstStyle/>
              <a:p>
                <a:pPr>
                  <a:defRPr b="0" i="0" strike="noStrike" sz="1200" u="none">
                    <a:solidFill>
                      <a:srgbClr val="1B2229"/>
                    </a:solidFill>
                    <a:latin typeface="Calibri"/>
                  </a:defRPr>
                </a:pPr>
              </a:p>
            </c:txPr>
            <c:showLegendKey val="0"/>
            <c:showVal val="1"/>
            <c:showCatName val="0"/>
            <c:showSerName val="0"/>
            <c:showPercent val="0"/>
            <c:showBubbleSize val="0"/>
            <c:showLeaderLines val="0"/>
          </c:dLbls>
          <c:cat>
            <c:multiLvlStrRef>
              <c:f>Sheet1!$A$2:$A$6</c:f>
              <c:multiLvlStrCache>
                <c:ptCount val="5"/>
                <c:lvl>
                  <c:pt idx="0">
                    <c:v>Taiwan</c:v>
                  </c:pt>
                  <c:pt idx="1">
                    <c:v>United States</c:v>
                  </c:pt>
                  <c:pt idx="2">
                    <c:v>South Korea</c:v>
                  </c:pt>
                  <c:pt idx="3">
                    <c:v>Europe</c:v>
                  </c:pt>
                  <c:pt idx="4">
                    <c:v>Japan</c:v>
                  </c:pt>
                </c:lvl>
              </c:multiLvlStrCache>
            </c:multiLvlStrRef>
          </c:cat>
          <c:val>
            <c:numRef>
              <c:f>Sheet1!$B$2:$B$6</c:f>
              <c:numCache>
                <c:formatCode>General</c:formatCode>
                <c:ptCount val="5"/>
                <c:pt idx="0">
                  <c:v>69</c:v>
                </c:pt>
                <c:pt idx="1">
                  <c:v>0</c:v>
                </c:pt>
                <c:pt idx="2">
                  <c:v>31</c:v>
                </c:pt>
                <c:pt idx="3">
                  <c:v>0</c:v>
                </c:pt>
                <c:pt idx="4">
                  <c:v>0</c:v>
                </c:pt>
              </c:numCache>
            </c:numRef>
          </c:val>
        </c:ser>
        <c:ser>
          <c:idx val="1"/>
          <c:order val="1"/>
          <c:tx>
            <c:strRef>
              <c:f>Sheet1!$C$1</c:f>
              <c:strCache>
                <c:ptCount val="1"/>
                <c:pt idx="0">
                  <c:v>2032 (projected)</c:v>
                </c:pt>
              </c:strCache>
            </c:strRef>
          </c:tx>
          <c:spPr>
            <a:solidFill>
              <a:srgbClr val="C46A2B"/>
            </a:solidFill>
            <a:effectLst/>
          </c:spPr>
          <c:invertIfNegative val="0"/>
          <c:dLbls>
            <c:numFmt formatCode="0&quot;%&quot;" sourceLinked="0"/>
            <c:txPr>
              <a:bodyPr/>
              <a:lstStyle/>
              <a:p>
                <a:pPr>
                  <a:defRPr b="0" i="0" strike="noStrike" sz="1200" u="none">
                    <a:solidFill>
                      <a:srgbClr val="1B2229"/>
                    </a:solidFill>
                    <a:latin typeface="Calibri"/>
                  </a:defRPr>
                </a:pPr>
              </a:p>
            </c:txPr>
            <c:showLegendKey val="0"/>
            <c:showVal val="1"/>
            <c:showCatName val="0"/>
            <c:showSerName val="0"/>
            <c:showPercent val="0"/>
            <c:showBubbleSize val="0"/>
            <c:showLeaderLines val="0"/>
          </c:dLbls>
          <c:cat>
            <c:multiLvlStrRef>
              <c:f>Sheet1!$A$2:$A$6</c:f>
              <c:multiLvlStrCache>
                <c:ptCount val="5"/>
                <c:lvl>
                  <c:pt idx="0">
                    <c:v>Taiwan</c:v>
                  </c:pt>
                  <c:pt idx="1">
                    <c:v>United States</c:v>
                  </c:pt>
                  <c:pt idx="2">
                    <c:v>South Korea</c:v>
                  </c:pt>
                  <c:pt idx="3">
                    <c:v>Europe</c:v>
                  </c:pt>
                  <c:pt idx="4">
                    <c:v>Japan</c:v>
                  </c:pt>
                </c:lvl>
              </c:multiLvlStrCache>
            </c:multiLvlStrRef>
          </c:cat>
          <c:val>
            <c:numRef>
              <c:f>Sheet1!$C$2:$C$6</c:f>
              <c:numCache>
                <c:formatCode>General</c:formatCode>
                <c:ptCount val="5"/>
                <c:pt idx="0">
                  <c:v>47</c:v>
                </c:pt>
                <c:pt idx="1">
                  <c:v>28</c:v>
                </c:pt>
                <c:pt idx="2">
                  <c:v>9</c:v>
                </c:pt>
                <c:pt idx="3">
                  <c:v>6</c:v>
                </c:pt>
                <c:pt idx="4">
                  <c:v>5</c:v>
                </c:pt>
              </c:numCache>
            </c:numRef>
          </c:val>
        </c:ser>
        <c:dLbls>
          <c:numFmt formatCode="0&quot;%&quot;" sourceLinked="0"/>
          <c:txPr>
            <a:bodyPr/>
            <a:lstStyle/>
            <a:p>
              <a:pPr>
                <a:defRPr b="0" i="0" strike="noStrike" sz="1200" u="none">
                  <a:solidFill>
                    <a:srgbClr val="1B2229"/>
                  </a:solidFill>
                  <a:latin typeface="Calibri"/>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D5DBE1"/>
            </a:solidFill>
            <a:prstDash val="solid"/>
            <a:round/>
          </a:ln>
        </c:spPr>
        <c:txPr>
          <a:bodyPr/>
          <a:lstStyle/>
          <a:p>
            <a:pPr>
              <a:defRPr sz="1300" b="0" i="0" u="none" strike="noStrike">
                <a:solidFill>
                  <a:srgbClr val="1B2229"/>
                </a:solidFill>
                <a:latin typeface="Calibri"/>
              </a:defRPr>
            </a:pPr>
            <a:endParaRPr lang="en-US"/>
          </a:p>
        </c:txPr>
        <c:crossAx val="2094734552"/>
        <c:crosses val="autoZero"/>
        <c:auto val="1"/>
        <c:lblAlgn val="ctr"/>
        <c:noMultiLvlLbl val="1"/>
      </c:catAx>
      <c:valAx>
        <c:axId val="2094734552"/>
        <c:scaling>
          <c:orientation val="minMax"/>
          <c:max val="80"/>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t"/>
      <c:overlay val="0"/>
      <c:txPr>
        <a:bodyPr/>
        <a:lstStyle/>
        <a:p>
          <a:pPr>
            <a:defRPr sz="1300">
              <a:solidFill>
                <a:srgbClr val="1B2229"/>
              </a:solidFill>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5A6672"/>
                </a:solidFill>
                <a:latin typeface="Calibri"/>
              </a:defRPr>
            </a:pPr>
            <a:r>
              <a:rPr sz="1400" b="0" i="0" u="none" strike="noStrike">
                <a:solidFill>
                  <a:srgbClr val="5A6672"/>
                </a:solidFill>
                <a:latin typeface="Calibri"/>
              </a:rPr>
              <a:t>Share of supply chain organizations (Gartner surveys, 2025)</a:t>
            </a:r>
          </a:p>
        </c:rich>
      </c:tx>
      <c:layout/>
      <c:overlay val="0"/>
    </c:title>
    <c:autoTitleDeleted val="0"/>
    <c:plotArea>
      <c:layout/>
      <c:barChart>
        <c:barDir val="bar"/>
        <c:grouping val="clustered"/>
        <c:varyColors val="0"/>
        <c:ser>
          <c:idx val="0"/>
          <c:order val="0"/>
          <c:tx>
            <c:strRef>
              <c:f>Sheet1!$B$1</c:f>
              <c:strCache>
                <c:ptCount val="1"/>
                <c:pt idx="0">
                  <c:v>Share of supply chain organizations</c:v>
                </c:pt>
              </c:strCache>
            </c:strRef>
          </c:tx>
          <c:spPr>
            <a:solidFill>
              <a:srgbClr val="2B7FB8"/>
            </a:solidFill>
            <a:effectLst/>
          </c:spPr>
          <c:invertIfNegative val="0"/>
          <c:dLbls>
            <c:numFmt formatCode="0&quot;%&quot;" sourceLinked="0"/>
            <c:txPr>
              <a:bodyPr/>
              <a:lstStyle/>
              <a:p>
                <a:pPr>
                  <a:defRPr b="1" i="0" strike="noStrike" sz="2200" u="none">
                    <a:solidFill>
                      <a:srgbClr val="1B2229"/>
                    </a:solidFill>
                    <a:latin typeface="Calibri"/>
                  </a:defRPr>
                </a:pPr>
              </a:p>
            </c:txPr>
            <c:showLegendKey val="0"/>
            <c:showVal val="1"/>
            <c:showCatName val="0"/>
            <c:showSerName val="0"/>
            <c:showPercent val="0"/>
            <c:showBubbleSize val="0"/>
            <c:showLeaderLines val="0"/>
          </c:dLbls>
          <c:dPt>
            <c:idx val="0"/>
            <c:invertIfNegative val="0"/>
            <c:bubble3D val="0"/>
            <c:spPr>
              <a:solidFill>
                <a:srgbClr val="2B7FB8"/>
              </a:solidFill>
              <a:effectLst/>
            </c:spPr>
          </c:dPt>
          <c:dPt>
            <c:idx val="1"/>
            <c:invertIfNegative val="0"/>
            <c:bubble3D val="0"/>
            <c:spPr>
              <a:solidFill>
                <a:srgbClr val="C46A2B"/>
              </a:solidFill>
              <a:effectLst/>
            </c:spPr>
          </c:dPt>
          <c:cat>
            <c:multiLvlStrRef>
              <c:f>Sheet1!$A$2:$A$3</c:f>
              <c:multiLvlStrCache>
                <c:ptCount val="2"/>
                <c:lvl>
                  <c:pt idx="0">
                    <c:v>Deploying generative AI</c:v>
                  </c:pt>
                  <c:pt idx="1">
                    <c:v>Have a formal supply chain AI strategy</c:v>
                  </c:pt>
                </c:lvl>
              </c:multiLvlStrCache>
            </c:multiLvlStrRef>
          </c:cat>
          <c:val>
            <c:numRef>
              <c:f>Sheet1!$B$2:$B$3</c:f>
              <c:numCache>
                <c:formatCode>General</c:formatCode>
                <c:ptCount val="2"/>
                <c:pt idx="0">
                  <c:v>72</c:v>
                </c:pt>
                <c:pt idx="1">
                  <c:v>23</c:v>
                </c:pt>
              </c:numCache>
            </c:numRef>
          </c:val>
        </c:ser>
        <c:dLbls>
          <c:numFmt formatCode="0&quot;%&quot;" sourceLinked="0"/>
          <c:txPr>
            <a:bodyPr/>
            <a:lstStyle/>
            <a:p>
              <a:pPr>
                <a:defRPr b="1" i="0" strike="noStrike" sz="2200" u="none">
                  <a:solidFill>
                    <a:srgbClr val="1B2229"/>
                  </a:solidFill>
                  <a:latin typeface="Calibri"/>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400" b="0" i="0" u="none" strike="noStrike">
                <a:solidFill>
                  <a:srgbClr val="1B2229"/>
                </a:solidFill>
                <a:latin typeface="Calibri"/>
              </a:defRPr>
            </a:pPr>
            <a:endParaRPr lang="en-US"/>
          </a:p>
        </c:txPr>
        <c:crossAx val="2094734552"/>
        <c:crosses val="autoZero"/>
        <c:auto val="1"/>
        <c:lblAlgn val="ctr"/>
        <c:noMultiLvlLbl val="1"/>
      </c:catAx>
      <c:valAx>
        <c:axId val="2094734552"/>
        <c:scaling>
          <c:orientation val="minMax"/>
          <c:max val="100"/>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 to 0:30] Good morning, everyone. I'm [your name], [your role] at [your company]. My argument today is simple. Good data and AI governance lets you see your bills of materials in close to real time, track your single points of failure, and stay compliant as trade rules split along geopolitical lines. I'll cover where the chain is fragile, why data alone hasn't fixed it, and what governance adds, then leave about five minutes for your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[0:30 to 1:35] Picture a supplier two tiers below you. You don't have a contract with them, and you may not know their name. Their plant goes down. Your tier 1 supplier finds out days later and puts the material on allocation. By the time it reaches your planners, the lead times in the system are already wrong, and the first signal many of us get is a customer ship date we're about to miss. This is an illustrative scenario, but most people in this room have lived some version of it. [Optional: swap in a real disruption you can speak to.] The pattern is what matters. The failure starts where we can see the least, and the delay comes from data we either don't have or don't trust. Keep this picture in mind, because I'll come back to it near the end and show how it plays out differently.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[1:35 to 2:05] Here's the chain at a very high level: design, materials and gases, equipment, the fab, assembly and test, and then our customers. We've optimized each step for cost and performance, and that specialization is why the industry works. It's also why it's fragile. Many inputs have only a few qualified sources, and each hand-off can cross a border. And right now, three pressures are pushing on the weakest points.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[2:05 to 3:00] Three pressures make this urgent now. First, concentration. In 2022, all of the world's sub-10 nanometer logic capacity was in two places. I'll show you the numbers on the next slide. Second, materials. According to the USGS, China produced 99 percent of the world's primary gallium in 2024. It put export licensing on gallium and germanium in 2023, banned exports to the U.S. in December 2024, and suspended that ban about a year later. When one government can switch a material on and off, that's a planning risk, whatever the politics. Third, AI demand. The rush for high-bandwidth memory and AI hardware is stretching lead times and leading-edge capacity, which leaves less slack for everyone else.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[3:00 to 3:40] Here's how concentrated it is. In 2022, all of the world's sub-10 nanometer logic capacity was in two places: Taiwan with 69 percent and South Korea with 31. SIA and BCG project that by 2032 the U.S. reaches 28 percent, with Europe and Japan adding a few points each. That's real progress, but Taiwan still holds almost half, and much of the new capacity arrives late in the decade. So concentration risk isn't going away within the planning horizon most of us work 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[3:40 to 4:25] When I map risk, I group it into six types. Concentration comes first, because it multiplies everything else: sole-source inputs, or one site that feeds many of your products. Then geopolitics and trade, natural hazards and utilities, logistics, demand swings, and cyber and IP risk. None of these is new. What matters is that they pile up on the same few nodes, and each one usually has a different owner, so nobody sees the overlap. A sole-source supplier in a region with trade exposure and seismic risk is a very different problem from any one of those alone.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[4:25 to 5:25] Here's the uncomfortable part. We manage tier 1 well: contracts, purchase orders, scorecards, quarterly reviews. Tier 2 is whatever tier 1 chooses to tell us, and it's usually partial. Tier 3 and below, the raw materials, specialty gases, and sub-components, is mostly dark. And that's often exactly where the sole sources are. You don't need to map the whole tree. You need to decide which sub-tier nodes sit under your most critical parts, and then go get that data on purpose. That's a scoping decision before it's a technology decision. Start with the parts where a shortage would stop a line or break a customer commitment, and work down from there. A short, accurate map beats a complete one that nobody maintains. Which brings me to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[5:25 to 6:35] When I talk to supply chain teams, the problem is rarely a total lack of data. It sits in ERP and MRP, supplier portals, logistics feeds, MES and quality systems, and outside sources like news and trade data. The trouble is joining it up. The same part or supplier has different IDs in different systems. Nobody can say where a lead time came from or when it was last accurate. Master data like planned lead times and approved sources drifts away from reality between reviews. And partners hold back, because nobody ever agreed how shared data would be used, who could see it, or how long it would be kept. Every one of those is a governance problem more than a technology problem. Buying another tool won't fix mismatched IDs or missing agreements. Someone has to decide which ID is the master, who owns it, and what we promise partners about their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[6:35 to 7:20] The industry is adopting AI fast. In separate 2025 surveys, Gartner found 72 percent of supply chain organizations deploying generative AI, but only 23 percent with a formal supply chain AI strategy. That gap is where the risk sits. The payoff is real when it's done well. McKinsey found early adopters of AI-enabled supply chain management improved logistics costs by 15 percent, inventory levels by 35 percent, and service levels by 65 percent compared with slower competitors. Those were the companies that got the data and the decision rights right. Without that, AI scales the errors in data we already don't trust.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[7:20 to 8:15] Here are the AI models most often used for supply chain risk, and each one needs a different control. Forecasting models predict demand, lead times, and allocation, so you backtest them against past disruptions and watch for drift. Graph models map multi-tier bills of materials to find single points of failure, so every link needs lineage and a confidence level. Language models read news, supplier notices, and regulations; ground them in approved sources and log what they produce. Anomaly detection needs owners who tune the thresholds. Optimization and digital twins test scenarios, but a person approves the plan. And agentic AI, which can act on its own, needs the tightest permissions of 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[8:15 to 9:20] So what do I mean by data and AI governance? I think of it as four layers, and you build from the bottom. The data foundation is common IDs for parts and suppliers, lineage so you know where a number came from, quality checks on the fields that drive risk decisions, and an owner for each critical record. On top of that, access and sharing: least-privilege access, data-use agreements with suppliers, and audit trails, because a map of your sole sources is sensitive data in its own right. Then AI model risk, which covers the controls I just described for each model type. And at the top, human oversight: who decides, who gets escalated to, and who owns each action. If you skip a layer, the ones above it don't hold. The work that pays off first is usually at the bottom, in the master data.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[9:20 to 10:45] Governance only earns its keep if you can tie each control to a risk it reduces and a number that shows it's working. For single points of failure, AI tools can now parse a product into a multi-tier bill of materials and trace components down to raw materials. Governance adds an owner for each critical part, and the measure is how many of those parts you can actually trace. For export controls and sanctions, the control is automated screening of items, parties, and end uses against current lists. The measure is how many hours it takes to go from a rule change to a report of what's affected. For an allocation crunch like the one in HBM, machine learning can watch lead-time and capacity signals at known choke points. The measure is how many weeks of warning you get. For AI, validate against past disruptions and monitor drift, then watch how often planners override the model and why. And for suppliers who won't share, data-use agreements and audit logs, measured by how many critical suppliers actually share sub-tier data. [Swap in any metric your organization already tracks.]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[10:45 to 11:20] You don't need to invent a governance model. The NIST AI Risk Management Framework is voluntary and practical, with four functions: Govern, Map, Measure, and Manage. ISO/IEC 42001 is a certifiable management system standard, which matters when customers or regulators want proof rather than a policy. A common pattern is to design the practice with NIST and certify it with ISO. [Mention the framework your organization uses, if any.] Either way, apply it to one real use case first. A supplier risk score is a good candidate.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[11:20 to 12:20] [Replace this with your own case if you can share one. If you keep it, say that it's illustrative.] Here's what this looks like when it works. This is an illustrative example. An outside signal flags an outage at a specialty gas supplier. The model ranks it high and can say why: that site is a sole source for material we use. Because the sub-tier map is governed, we can see within hours which parts, products, and customers depend on that site, and how confident we are in each link. Then a person decides. The part owner checks the evidence with the tier 1 supplier and approves an allocation plan. Buyers start qualifying an alternate source, and account teams warn customers early. A human still makes the call. Governance made it faster and easier to defend, and the first signal wasn't a missed ship date.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[12:20 to 13:15] If you take three things back, make them these. First, pick your single riskiest input, one sole- or single-source material, and trace it as far down the tiers as you can. It's small enough to finish in a quarter, and it will show you exactly where your data gaps are. Second, give every critical part and supplier record an owner, and agree on data-use terms with your key suppliers so they have a reason to share. Third, before you trust an AI risk score, test it against disruptions you've already lived through, and keep a named person in the decision. None of these needs a new budget line to start. They need someone with the authority to say this data matters and this person owns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[13:15 to 13:40, buffer to 15:00, then Q&amp;A to 20:00] The goal is simple: see your risk sooner, and act on it with data you can defend. Our industry is very good at controlling variation inside the fab. I think we can bring that same discipline to the data about our supply chain. Thank you. I'm happy to take questions. [See qa-prep.md for prepared answers. If time runs out, point people to the QR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slide. Use if asked what changes when governance is in place.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Appendix. Not presented; keep it for reference and when sharing the deck.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slideLayout" Target="../slideLayouts/slideLayout1.xml"/><Relationship Id="rId8"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slideLayout" Target="../slideLayouts/slideLayout1.xml"/><Relationship Id="rId8"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slideLayout" Target="../slideLayouts/slideLayout1.xml"/><Relationship Id="rId8"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slideLayout" Target="../slideLayouts/slideLayout1.xml"/><Relationship Id="rId8"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slideLayout" Target="../slideLayouts/slideLayout1.xml"/><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slideLayout" Target="../slideLayouts/slideLayout1.xml"/><Relationship Id="rId7"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slideLayout" Target="../slideLayouts/slideLayout1.xml"/><Relationship Id="rId6"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slideLayout" Target="../slideLayouts/slideLayout1.xml"/><Relationship Id="rId5"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image" Target="../media/image-17-5.png"/><Relationship Id="rId6" Type="http://schemas.openxmlformats.org/officeDocument/2006/relationships/image" Target="../media/image-17-6.png"/><Relationship Id="rId7" Type="http://schemas.openxmlformats.org/officeDocument/2006/relationships/image" Target="../media/image-17-7.png"/><Relationship Id="rId8" Type="http://schemas.openxmlformats.org/officeDocument/2006/relationships/image" Target="../media/image-17-8.png"/><Relationship Id="rId9" Type="http://schemas.openxmlformats.org/officeDocument/2006/relationships/slideLayout" Target="../slideLayouts/slideLayout1.xml"/><Relationship Id="rId10"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hyperlink" Target="https://www.semiconductors.org/emerging-resilience-in-the-semiconductor-supply-chain/" TargetMode="External"/><Relationship Id="rId2" Type="http://schemas.openxmlformats.org/officeDocument/2006/relationships/hyperlink" Target="https://pubs.usgs.gov/publication/mcs2025" TargetMode="External"/><Relationship Id="rId3" Type="http://schemas.openxmlformats.org/officeDocument/2006/relationships/hyperlink" Target="https://www.gartner.com/en/newsroom/press-releases/2025-02-05-gartner-survey-supply-chain-genai-productivity-gains-at-individual-level-while-creating-new-complications-for-organizations" TargetMode="External"/><Relationship Id="rId4" Type="http://schemas.openxmlformats.org/officeDocument/2006/relationships/hyperlink" Target="https://www.gartner.com/en/newsroom/2025-06-11-gartner-survey-shows-just-23-percent-of-supply-chain-organizations-have-a-formal-ai-strategy" TargetMode="External"/><Relationship Id="rId5" Type="http://schemas.openxmlformats.org/officeDocument/2006/relationships/hyperlink" Target="https://www.mckinsey.com/industries/metals-and-mining/our-insights/succeeding-in-the-ai-supply-chain-revolution" TargetMode="External"/><Relationship Id="rId6" Type="http://schemas.openxmlformats.org/officeDocument/2006/relationships/hyperlink" Target="https://synergy-inc.com/blogs/strengthening-the-global-semiconductor-supply-chain-challenges-and-opportunities-in-2025-2" TargetMode="External"/><Relationship Id="rId7" Type="http://schemas.openxmlformats.org/officeDocument/2006/relationships/hyperlink" Target="https://www.exiger.com/perspectives/chip-challenges-semiconductors-and-supply-chain-risks/" TargetMode="External"/><Relationship Id="rId8" Type="http://schemas.openxmlformats.org/officeDocument/2006/relationships/hyperlink" Target="https://onlinelibrary.wiley.com/doi/full/10.1002/app5.70046" TargetMode="External"/><Relationship Id="rId9" Type="http://schemas.openxmlformats.org/officeDocument/2006/relationships/hyperlink" Target="https://resources.altium.com/p/supply-chain-resilience-ai-demand-semiconductor-shortage" TargetMode="External"/><Relationship Id="rId10" Type="http://schemas.openxmlformats.org/officeDocument/2006/relationships/hyperlink" Target="https://www.foxbusiness.com/video/6394872288112" TargetMode="External"/><Relationship Id="rId11" Type="http://schemas.openxmlformats.org/officeDocument/2006/relationships/hyperlink" Target="https://www.nist.gov/itl/ai-risk-management-framework" TargetMode="External"/><Relationship Id="rId12" Type="http://schemas.openxmlformats.org/officeDocument/2006/relationships/hyperlink" Target="https://www.iso.org/standard/81230.html" TargetMode="External"/><Relationship Id="rId13" Type="http://schemas.openxmlformats.org/officeDocument/2006/relationships/slideLayout" Target="../slideLayouts/slideLayout1.xml"/><Relationship Id="rId14"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2229"/>
        </a:solidFill>
      </p:bgPr>
    </p:bg>
    <p:spTree>
      <p:nvGrpSpPr>
        <p:cNvPr id="1" name=""/>
        <p:cNvGrpSpPr/>
        <p:nvPr/>
      </p:nvGrpSpPr>
      <p:grpSpPr>
        <a:xfrm>
          <a:off x="0" y="0"/>
          <a:ext cx="0" cy="0"/>
          <a:chOff x="0" y="0"/>
          <a:chExt cx="0" cy="0"/>
        </a:xfrm>
      </p:grpSpPr>
      <p:sp>
        <p:nvSpPr>
          <p:cNvPr id="2" name="Shape 0"/>
          <p:cNvSpPr/>
          <p:nvPr/>
        </p:nvSpPr>
        <p:spPr>
          <a:xfrm>
            <a:off x="7818120" y="1188720"/>
            <a:ext cx="585216" cy="585216"/>
          </a:xfrm>
          <a:prstGeom prst="roundRect">
            <a:avLst>
              <a:gd name="adj" fmla="val 9375"/>
            </a:avLst>
          </a:prstGeom>
          <a:solidFill>
            <a:srgbClr val="27303A"/>
          </a:solidFill>
          <a:ln w="12700">
            <a:solidFill>
              <a:srgbClr val="3A4552"/>
            </a:solidFill>
            <a:prstDash val="solid"/>
          </a:ln>
        </p:spPr>
      </p:sp>
      <p:sp>
        <p:nvSpPr>
          <p:cNvPr id="3" name="Shape 1"/>
          <p:cNvSpPr/>
          <p:nvPr/>
        </p:nvSpPr>
        <p:spPr>
          <a:xfrm>
            <a:off x="8567928" y="1188720"/>
            <a:ext cx="585216" cy="585216"/>
          </a:xfrm>
          <a:prstGeom prst="roundRect">
            <a:avLst>
              <a:gd name="adj" fmla="val 9375"/>
            </a:avLst>
          </a:prstGeom>
          <a:solidFill>
            <a:srgbClr val="27303A"/>
          </a:solidFill>
          <a:ln w="12700">
            <a:solidFill>
              <a:srgbClr val="3A4552"/>
            </a:solidFill>
            <a:prstDash val="solid"/>
          </a:ln>
        </p:spPr>
      </p:sp>
      <p:sp>
        <p:nvSpPr>
          <p:cNvPr id="4" name="Shape 2"/>
          <p:cNvSpPr/>
          <p:nvPr/>
        </p:nvSpPr>
        <p:spPr>
          <a:xfrm>
            <a:off x="9317736" y="1188720"/>
            <a:ext cx="585216" cy="585216"/>
          </a:xfrm>
          <a:prstGeom prst="roundRect">
            <a:avLst>
              <a:gd name="adj" fmla="val 9375"/>
            </a:avLst>
          </a:prstGeom>
          <a:solidFill>
            <a:srgbClr val="27303A"/>
          </a:solidFill>
          <a:ln w="12700">
            <a:solidFill>
              <a:srgbClr val="3A4552"/>
            </a:solidFill>
            <a:prstDash val="solid"/>
          </a:ln>
        </p:spPr>
      </p:sp>
      <p:sp>
        <p:nvSpPr>
          <p:cNvPr id="5" name="Shape 3"/>
          <p:cNvSpPr/>
          <p:nvPr/>
        </p:nvSpPr>
        <p:spPr>
          <a:xfrm>
            <a:off x="10067544" y="1188720"/>
            <a:ext cx="585216" cy="585216"/>
          </a:xfrm>
          <a:prstGeom prst="roundRect">
            <a:avLst>
              <a:gd name="adj" fmla="val 9375"/>
            </a:avLst>
          </a:prstGeom>
          <a:solidFill>
            <a:srgbClr val="27303A"/>
          </a:solidFill>
          <a:ln w="12700">
            <a:solidFill>
              <a:srgbClr val="3A4552"/>
            </a:solidFill>
            <a:prstDash val="solid"/>
          </a:ln>
        </p:spPr>
      </p:sp>
      <p:sp>
        <p:nvSpPr>
          <p:cNvPr id="6" name="Shape 4"/>
          <p:cNvSpPr/>
          <p:nvPr/>
        </p:nvSpPr>
        <p:spPr>
          <a:xfrm>
            <a:off x="10817352" y="1188720"/>
            <a:ext cx="585216" cy="585216"/>
          </a:xfrm>
          <a:prstGeom prst="roundRect">
            <a:avLst>
              <a:gd name="adj" fmla="val 9375"/>
            </a:avLst>
          </a:prstGeom>
          <a:solidFill>
            <a:srgbClr val="27303A"/>
          </a:solidFill>
          <a:ln w="12700">
            <a:solidFill>
              <a:srgbClr val="3A4552"/>
            </a:solidFill>
            <a:prstDash val="solid"/>
          </a:ln>
        </p:spPr>
      </p:sp>
      <p:sp>
        <p:nvSpPr>
          <p:cNvPr id="7" name="Shape 5"/>
          <p:cNvSpPr/>
          <p:nvPr/>
        </p:nvSpPr>
        <p:spPr>
          <a:xfrm>
            <a:off x="7818120" y="1938528"/>
            <a:ext cx="585216" cy="585216"/>
          </a:xfrm>
          <a:prstGeom prst="roundRect">
            <a:avLst>
              <a:gd name="adj" fmla="val 9375"/>
            </a:avLst>
          </a:prstGeom>
          <a:solidFill>
            <a:srgbClr val="27303A"/>
          </a:solidFill>
          <a:ln w="12700">
            <a:solidFill>
              <a:srgbClr val="3A4552"/>
            </a:solidFill>
            <a:prstDash val="solid"/>
          </a:ln>
        </p:spPr>
      </p:sp>
      <p:sp>
        <p:nvSpPr>
          <p:cNvPr id="8" name="Shape 6"/>
          <p:cNvSpPr/>
          <p:nvPr/>
        </p:nvSpPr>
        <p:spPr>
          <a:xfrm>
            <a:off x="8567928" y="1938528"/>
            <a:ext cx="585216" cy="585216"/>
          </a:xfrm>
          <a:prstGeom prst="roundRect">
            <a:avLst>
              <a:gd name="adj" fmla="val 9375"/>
            </a:avLst>
          </a:prstGeom>
          <a:solidFill>
            <a:srgbClr val="27303A"/>
          </a:solidFill>
          <a:ln w="12700">
            <a:solidFill>
              <a:srgbClr val="3A4552"/>
            </a:solidFill>
            <a:prstDash val="solid"/>
          </a:ln>
        </p:spPr>
      </p:sp>
      <p:sp>
        <p:nvSpPr>
          <p:cNvPr id="9" name="Shape 7"/>
          <p:cNvSpPr/>
          <p:nvPr/>
        </p:nvSpPr>
        <p:spPr>
          <a:xfrm>
            <a:off x="9317736" y="1938528"/>
            <a:ext cx="585216" cy="585216"/>
          </a:xfrm>
          <a:prstGeom prst="roundRect">
            <a:avLst>
              <a:gd name="adj" fmla="val 9375"/>
            </a:avLst>
          </a:prstGeom>
          <a:solidFill>
            <a:srgbClr val="27303A"/>
          </a:solidFill>
          <a:ln w="12700">
            <a:solidFill>
              <a:srgbClr val="3A4552"/>
            </a:solidFill>
            <a:prstDash val="solid"/>
          </a:ln>
        </p:spPr>
      </p:sp>
      <p:sp>
        <p:nvSpPr>
          <p:cNvPr id="10" name="Shape 8"/>
          <p:cNvSpPr/>
          <p:nvPr/>
        </p:nvSpPr>
        <p:spPr>
          <a:xfrm>
            <a:off x="10067544" y="1938528"/>
            <a:ext cx="585216" cy="585216"/>
          </a:xfrm>
          <a:prstGeom prst="roundRect">
            <a:avLst>
              <a:gd name="adj" fmla="val 9375"/>
            </a:avLst>
          </a:prstGeom>
          <a:solidFill>
            <a:srgbClr val="C46A2B"/>
          </a:solidFill>
          <a:ln w="12700">
            <a:solidFill>
              <a:srgbClr val="C46A2B"/>
            </a:solidFill>
            <a:prstDash val="solid"/>
          </a:ln>
        </p:spPr>
      </p:sp>
      <p:sp>
        <p:nvSpPr>
          <p:cNvPr id="11" name="Shape 9"/>
          <p:cNvSpPr/>
          <p:nvPr/>
        </p:nvSpPr>
        <p:spPr>
          <a:xfrm>
            <a:off x="10817352" y="1938528"/>
            <a:ext cx="585216" cy="585216"/>
          </a:xfrm>
          <a:prstGeom prst="roundRect">
            <a:avLst>
              <a:gd name="adj" fmla="val 9375"/>
            </a:avLst>
          </a:prstGeom>
          <a:solidFill>
            <a:srgbClr val="27303A"/>
          </a:solidFill>
          <a:ln w="12700">
            <a:solidFill>
              <a:srgbClr val="3A4552"/>
            </a:solidFill>
            <a:prstDash val="solid"/>
          </a:ln>
        </p:spPr>
      </p:sp>
      <p:sp>
        <p:nvSpPr>
          <p:cNvPr id="12" name="Shape 10"/>
          <p:cNvSpPr/>
          <p:nvPr/>
        </p:nvSpPr>
        <p:spPr>
          <a:xfrm>
            <a:off x="7818120" y="2688336"/>
            <a:ext cx="585216" cy="585216"/>
          </a:xfrm>
          <a:prstGeom prst="roundRect">
            <a:avLst>
              <a:gd name="adj" fmla="val 9375"/>
            </a:avLst>
          </a:prstGeom>
          <a:solidFill>
            <a:srgbClr val="27303A"/>
          </a:solidFill>
          <a:ln w="12700">
            <a:solidFill>
              <a:srgbClr val="3A4552"/>
            </a:solidFill>
            <a:prstDash val="solid"/>
          </a:ln>
        </p:spPr>
      </p:sp>
      <p:sp>
        <p:nvSpPr>
          <p:cNvPr id="13" name="Shape 11"/>
          <p:cNvSpPr/>
          <p:nvPr/>
        </p:nvSpPr>
        <p:spPr>
          <a:xfrm>
            <a:off x="8567928" y="2688336"/>
            <a:ext cx="585216" cy="585216"/>
          </a:xfrm>
          <a:prstGeom prst="roundRect">
            <a:avLst>
              <a:gd name="adj" fmla="val 9375"/>
            </a:avLst>
          </a:prstGeom>
          <a:solidFill>
            <a:srgbClr val="27303A"/>
          </a:solidFill>
          <a:ln w="12700">
            <a:solidFill>
              <a:srgbClr val="3A4552"/>
            </a:solidFill>
            <a:prstDash val="solid"/>
          </a:ln>
        </p:spPr>
      </p:sp>
      <p:sp>
        <p:nvSpPr>
          <p:cNvPr id="14" name="Shape 12"/>
          <p:cNvSpPr/>
          <p:nvPr/>
        </p:nvSpPr>
        <p:spPr>
          <a:xfrm>
            <a:off x="9317736" y="2688336"/>
            <a:ext cx="585216" cy="585216"/>
          </a:xfrm>
          <a:prstGeom prst="roundRect">
            <a:avLst>
              <a:gd name="adj" fmla="val 9375"/>
            </a:avLst>
          </a:prstGeom>
          <a:solidFill>
            <a:srgbClr val="C46A2B"/>
          </a:solidFill>
          <a:ln w="12700">
            <a:solidFill>
              <a:srgbClr val="C46A2B"/>
            </a:solidFill>
            <a:prstDash val="solid"/>
          </a:ln>
        </p:spPr>
      </p:sp>
      <p:sp>
        <p:nvSpPr>
          <p:cNvPr id="15" name="Shape 13"/>
          <p:cNvSpPr/>
          <p:nvPr/>
        </p:nvSpPr>
        <p:spPr>
          <a:xfrm>
            <a:off x="10067544" y="2688336"/>
            <a:ext cx="585216" cy="585216"/>
          </a:xfrm>
          <a:prstGeom prst="roundRect">
            <a:avLst>
              <a:gd name="adj" fmla="val 9375"/>
            </a:avLst>
          </a:prstGeom>
          <a:solidFill>
            <a:srgbClr val="27303A"/>
          </a:solidFill>
          <a:ln w="12700">
            <a:solidFill>
              <a:srgbClr val="3A4552"/>
            </a:solidFill>
            <a:prstDash val="solid"/>
          </a:ln>
        </p:spPr>
      </p:sp>
      <p:sp>
        <p:nvSpPr>
          <p:cNvPr id="16" name="Shape 14"/>
          <p:cNvSpPr/>
          <p:nvPr/>
        </p:nvSpPr>
        <p:spPr>
          <a:xfrm>
            <a:off x="10817352" y="2688336"/>
            <a:ext cx="585216" cy="585216"/>
          </a:xfrm>
          <a:prstGeom prst="roundRect">
            <a:avLst>
              <a:gd name="adj" fmla="val 9375"/>
            </a:avLst>
          </a:prstGeom>
          <a:solidFill>
            <a:srgbClr val="27303A"/>
          </a:solidFill>
          <a:ln w="12700">
            <a:solidFill>
              <a:srgbClr val="3A4552"/>
            </a:solidFill>
            <a:prstDash val="solid"/>
          </a:ln>
        </p:spPr>
      </p:sp>
      <p:sp>
        <p:nvSpPr>
          <p:cNvPr id="17" name="Shape 15"/>
          <p:cNvSpPr/>
          <p:nvPr/>
        </p:nvSpPr>
        <p:spPr>
          <a:xfrm>
            <a:off x="7818120" y="3438144"/>
            <a:ext cx="585216" cy="585216"/>
          </a:xfrm>
          <a:prstGeom prst="roundRect">
            <a:avLst>
              <a:gd name="adj" fmla="val 9375"/>
            </a:avLst>
          </a:prstGeom>
          <a:solidFill>
            <a:srgbClr val="27303A"/>
          </a:solidFill>
          <a:ln w="12700">
            <a:solidFill>
              <a:srgbClr val="3A4552"/>
            </a:solidFill>
            <a:prstDash val="solid"/>
          </a:ln>
        </p:spPr>
      </p:sp>
      <p:sp>
        <p:nvSpPr>
          <p:cNvPr id="18" name="Shape 16"/>
          <p:cNvSpPr/>
          <p:nvPr/>
        </p:nvSpPr>
        <p:spPr>
          <a:xfrm>
            <a:off x="8567928" y="3438144"/>
            <a:ext cx="585216" cy="585216"/>
          </a:xfrm>
          <a:prstGeom prst="roundRect">
            <a:avLst>
              <a:gd name="adj" fmla="val 9375"/>
            </a:avLst>
          </a:prstGeom>
          <a:solidFill>
            <a:srgbClr val="C46A2B"/>
          </a:solidFill>
          <a:ln w="12700">
            <a:solidFill>
              <a:srgbClr val="C46A2B"/>
            </a:solidFill>
            <a:prstDash val="solid"/>
          </a:ln>
        </p:spPr>
      </p:sp>
      <p:sp>
        <p:nvSpPr>
          <p:cNvPr id="19" name="Shape 17"/>
          <p:cNvSpPr/>
          <p:nvPr/>
        </p:nvSpPr>
        <p:spPr>
          <a:xfrm>
            <a:off x="9317736" y="3438144"/>
            <a:ext cx="585216" cy="585216"/>
          </a:xfrm>
          <a:prstGeom prst="roundRect">
            <a:avLst>
              <a:gd name="adj" fmla="val 9375"/>
            </a:avLst>
          </a:prstGeom>
          <a:solidFill>
            <a:srgbClr val="27303A"/>
          </a:solidFill>
          <a:ln w="12700">
            <a:solidFill>
              <a:srgbClr val="3A4552"/>
            </a:solidFill>
            <a:prstDash val="solid"/>
          </a:ln>
        </p:spPr>
      </p:sp>
      <p:sp>
        <p:nvSpPr>
          <p:cNvPr id="20" name="Shape 18"/>
          <p:cNvSpPr/>
          <p:nvPr/>
        </p:nvSpPr>
        <p:spPr>
          <a:xfrm>
            <a:off x="10067544" y="3438144"/>
            <a:ext cx="585216" cy="585216"/>
          </a:xfrm>
          <a:prstGeom prst="roundRect">
            <a:avLst>
              <a:gd name="adj" fmla="val 9375"/>
            </a:avLst>
          </a:prstGeom>
          <a:solidFill>
            <a:srgbClr val="27303A"/>
          </a:solidFill>
          <a:ln w="12700">
            <a:solidFill>
              <a:srgbClr val="3A4552"/>
            </a:solidFill>
            <a:prstDash val="solid"/>
          </a:ln>
        </p:spPr>
      </p:sp>
      <p:sp>
        <p:nvSpPr>
          <p:cNvPr id="21" name="Shape 19"/>
          <p:cNvSpPr/>
          <p:nvPr/>
        </p:nvSpPr>
        <p:spPr>
          <a:xfrm>
            <a:off x="10817352" y="3438144"/>
            <a:ext cx="585216" cy="585216"/>
          </a:xfrm>
          <a:prstGeom prst="roundRect">
            <a:avLst>
              <a:gd name="adj" fmla="val 9375"/>
            </a:avLst>
          </a:prstGeom>
          <a:solidFill>
            <a:srgbClr val="27303A"/>
          </a:solidFill>
          <a:ln w="12700">
            <a:solidFill>
              <a:srgbClr val="3A4552"/>
            </a:solidFill>
            <a:prstDash val="solid"/>
          </a:ln>
        </p:spPr>
      </p:sp>
      <p:sp>
        <p:nvSpPr>
          <p:cNvPr id="22" name="Shape 20"/>
          <p:cNvSpPr/>
          <p:nvPr/>
        </p:nvSpPr>
        <p:spPr>
          <a:xfrm>
            <a:off x="7818120" y="4187952"/>
            <a:ext cx="585216" cy="585216"/>
          </a:xfrm>
          <a:prstGeom prst="roundRect">
            <a:avLst>
              <a:gd name="adj" fmla="val 9375"/>
            </a:avLst>
          </a:prstGeom>
          <a:solidFill>
            <a:srgbClr val="27303A"/>
          </a:solidFill>
          <a:ln w="12700">
            <a:solidFill>
              <a:srgbClr val="3A4552"/>
            </a:solidFill>
            <a:prstDash val="solid"/>
          </a:ln>
        </p:spPr>
      </p:sp>
      <p:sp>
        <p:nvSpPr>
          <p:cNvPr id="23" name="Shape 21"/>
          <p:cNvSpPr/>
          <p:nvPr/>
        </p:nvSpPr>
        <p:spPr>
          <a:xfrm>
            <a:off x="8567928" y="4187952"/>
            <a:ext cx="585216" cy="585216"/>
          </a:xfrm>
          <a:prstGeom prst="roundRect">
            <a:avLst>
              <a:gd name="adj" fmla="val 9375"/>
            </a:avLst>
          </a:prstGeom>
          <a:solidFill>
            <a:srgbClr val="27303A"/>
          </a:solidFill>
          <a:ln w="12700">
            <a:solidFill>
              <a:srgbClr val="3A4552"/>
            </a:solidFill>
            <a:prstDash val="solid"/>
          </a:ln>
        </p:spPr>
      </p:sp>
      <p:sp>
        <p:nvSpPr>
          <p:cNvPr id="24" name="Shape 22"/>
          <p:cNvSpPr/>
          <p:nvPr/>
        </p:nvSpPr>
        <p:spPr>
          <a:xfrm>
            <a:off x="9317736" y="4187952"/>
            <a:ext cx="585216" cy="585216"/>
          </a:xfrm>
          <a:prstGeom prst="roundRect">
            <a:avLst>
              <a:gd name="adj" fmla="val 9375"/>
            </a:avLst>
          </a:prstGeom>
          <a:solidFill>
            <a:srgbClr val="27303A"/>
          </a:solidFill>
          <a:ln w="12700">
            <a:solidFill>
              <a:srgbClr val="3A4552"/>
            </a:solidFill>
            <a:prstDash val="solid"/>
          </a:ln>
        </p:spPr>
      </p:sp>
      <p:sp>
        <p:nvSpPr>
          <p:cNvPr id="25" name="Shape 23"/>
          <p:cNvSpPr/>
          <p:nvPr/>
        </p:nvSpPr>
        <p:spPr>
          <a:xfrm>
            <a:off x="10067544" y="4187952"/>
            <a:ext cx="585216" cy="585216"/>
          </a:xfrm>
          <a:prstGeom prst="roundRect">
            <a:avLst>
              <a:gd name="adj" fmla="val 9375"/>
            </a:avLst>
          </a:prstGeom>
          <a:solidFill>
            <a:srgbClr val="27303A"/>
          </a:solidFill>
          <a:ln w="12700">
            <a:solidFill>
              <a:srgbClr val="3A4552"/>
            </a:solidFill>
            <a:prstDash val="solid"/>
          </a:ln>
        </p:spPr>
      </p:sp>
      <p:sp>
        <p:nvSpPr>
          <p:cNvPr id="26" name="Shape 24"/>
          <p:cNvSpPr/>
          <p:nvPr/>
        </p:nvSpPr>
        <p:spPr>
          <a:xfrm>
            <a:off x="10817352" y="4187952"/>
            <a:ext cx="585216" cy="585216"/>
          </a:xfrm>
          <a:prstGeom prst="roundRect">
            <a:avLst>
              <a:gd name="adj" fmla="val 9375"/>
            </a:avLst>
          </a:prstGeom>
          <a:solidFill>
            <a:srgbClr val="27303A"/>
          </a:solidFill>
          <a:ln w="12700">
            <a:solidFill>
              <a:srgbClr val="3A4552"/>
            </a:solidFill>
            <a:prstDash val="solid"/>
          </a:ln>
        </p:spPr>
      </p:sp>
      <p:sp>
        <p:nvSpPr>
          <p:cNvPr id="27" name="Text 25"/>
          <p:cNvSpPr txBox="1"/>
          <p:nvPr/>
        </p:nvSpPr>
        <p:spPr>
          <a:xfrm>
            <a:off x="548640" y="1188720"/>
            <a:ext cx="6766560" cy="320040"/>
          </a:xfrm>
          <a:prstGeom prst="rect">
            <a:avLst/>
          </a:prstGeom>
          <a:noFill/>
          <a:ln/>
        </p:spPr>
        <p:txBody>
          <a:bodyPr wrap="square" lIns="0" tIns="0" rIns="0" bIns="0" rtlCol="0" anchor="ctr"/>
          <a:lstStyle/>
          <a:p>
            <a:pPr indent="0" marL="0">
              <a:buNone/>
            </a:pPr>
            <a:r>
              <a:rPr lang="en-US" sz="1300" b="1" spc="300" kern="0" dirty="0">
                <a:solidFill>
                  <a:srgbClr val="C46A2B"/>
                </a:solidFill>
                <a:latin typeface="Calibri" pitchFamily="34" charset="0"/>
                <a:ea typeface="Calibri" pitchFamily="34" charset="-122"/>
                <a:cs typeface="Calibri" pitchFamily="34" charset="-120"/>
              </a:rPr>
              <a:t>SEMICON WEST</a:t>
            </a:r>
            <a:endParaRPr lang="en-US" sz="1300" dirty="0"/>
          </a:p>
        </p:txBody>
      </p:sp>
      <p:sp>
        <p:nvSpPr>
          <p:cNvPr id="28" name="Text 26"/>
          <p:cNvSpPr txBox="1"/>
          <p:nvPr/>
        </p:nvSpPr>
        <p:spPr>
          <a:xfrm>
            <a:off x="548640" y="1645920"/>
            <a:ext cx="6858000" cy="2194560"/>
          </a:xfrm>
          <a:prstGeom prst="rect">
            <a:avLst/>
          </a:prstGeom>
          <a:noFill/>
          <a:ln/>
        </p:spPr>
        <p:txBody>
          <a:bodyPr wrap="square" lIns="0" tIns="0" rIns="0" bIns="0" rtlCol="0" anchor="t"/>
          <a:lstStyle/>
          <a:p>
            <a:pPr indent="0" marL="0">
              <a:buNone/>
            </a:pPr>
            <a:r>
              <a:rPr lang="en-US" sz="3800" b="1" dirty="0">
                <a:solidFill>
                  <a:srgbClr val="FFFFFF"/>
                </a:solidFill>
                <a:latin typeface="Calibri" pitchFamily="34" charset="0"/>
                <a:ea typeface="Calibri" pitchFamily="34" charset="-122"/>
                <a:cs typeface="Calibri" pitchFamily="34" charset="-120"/>
              </a:rPr>
              <a:t>Addressing the risks associated with the global semiconductor supply chain</a:t>
            </a:r>
            <a:endParaRPr lang="en-US" sz="3800" dirty="0"/>
          </a:p>
        </p:txBody>
      </p:sp>
      <p:sp>
        <p:nvSpPr>
          <p:cNvPr id="29" name="Text 27"/>
          <p:cNvSpPr txBox="1"/>
          <p:nvPr/>
        </p:nvSpPr>
        <p:spPr>
          <a:xfrm>
            <a:off x="548640" y="3931920"/>
            <a:ext cx="6766560" cy="548640"/>
          </a:xfrm>
          <a:prstGeom prst="rect">
            <a:avLst/>
          </a:prstGeom>
          <a:noFill/>
          <a:ln/>
        </p:spPr>
        <p:txBody>
          <a:bodyPr wrap="square" lIns="0" tIns="0" rIns="0" bIns="0" rtlCol="0" anchor="ctr"/>
          <a:lstStyle/>
          <a:p>
            <a:pPr indent="0" marL="0">
              <a:buNone/>
            </a:pPr>
            <a:r>
              <a:rPr lang="en-US" sz="2400" i="1" dirty="0">
                <a:solidFill>
                  <a:srgbClr val="E8B48F"/>
                </a:solidFill>
                <a:latin typeface="Calibri" pitchFamily="34" charset="0"/>
                <a:ea typeface="Calibri" pitchFamily="34" charset="-122"/>
                <a:cs typeface="Calibri" pitchFamily="34" charset="-120"/>
              </a:rPr>
              <a:t>Leveraging Data and AI Governance</a:t>
            </a:r>
            <a:endParaRPr lang="en-US" sz="2400" dirty="0"/>
          </a:p>
        </p:txBody>
      </p:sp>
      <p:sp>
        <p:nvSpPr>
          <p:cNvPr id="30" name="Text 28"/>
          <p:cNvSpPr txBox="1"/>
          <p:nvPr/>
        </p:nvSpPr>
        <p:spPr>
          <a:xfrm>
            <a:off x="548640" y="5120640"/>
            <a:ext cx="6400800" cy="73152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[Your Name]</a:t>
            </a:r>
            <a:endParaRPr lang="en-US" sz="1600" dirty="0"/>
          </a:p>
          <a:p>
            <a:pPr indent="0" marL="0">
              <a:buNone/>
            </a:pPr>
            <a:r>
              <a:rPr lang="en-US" sz="1600" dirty="0">
                <a:solidFill>
                  <a:srgbClr val="8A96A3"/>
                </a:solidFill>
                <a:latin typeface="Calibri" pitchFamily="34" charset="0"/>
                <a:ea typeface="Calibri" pitchFamily="34" charset="-122"/>
                <a:cs typeface="Calibri" pitchFamily="34" charset="-120"/>
              </a:rPr>
              <a:t>[Title, Company]</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182880"/>
            <a:ext cx="7315200" cy="274320"/>
          </a:xfrm>
          <a:prstGeom prst="rect">
            <a:avLst/>
          </a:prstGeom>
          <a:noFill/>
          <a:ln/>
        </p:spPr>
        <p:txBody>
          <a:bodyPr wrap="square" lIns="0" tIns="0" rIns="0" bIns="0" rtlCol="0" anchor="ctr"/>
          <a:lstStyle/>
          <a:p>
            <a:pPr indent="0" marL="0">
              <a:buNone/>
            </a:pPr>
            <a:r>
              <a:rPr lang="en-US" sz="1100" b="1" spc="200" kern="0" dirty="0">
                <a:solidFill>
                  <a:srgbClr val="C46A2B"/>
                </a:solidFill>
                <a:latin typeface="Calibri" pitchFamily="34" charset="0"/>
                <a:ea typeface="Calibri" pitchFamily="34" charset="-122"/>
                <a:cs typeface="Calibri" pitchFamily="34" charset="-120"/>
              </a:rPr>
              <a:t>ILLUSTRATIVE SCENARIO</a:t>
            </a:r>
            <a:endParaRPr lang="en-US" sz="1100" dirty="0"/>
          </a:p>
        </p:txBody>
      </p:sp>
      <p:sp>
        <p:nvSpPr>
          <p:cNvPr id="3" name="Text 1"/>
          <p:cNvSpPr txBox="1"/>
          <p:nvPr/>
        </p:nvSpPr>
        <p:spPr>
          <a:xfrm>
            <a:off x="548640" y="411480"/>
            <a:ext cx="11094415" cy="914400"/>
          </a:xfrm>
          <a:prstGeom prst="rect">
            <a:avLst/>
          </a:prstGeom>
          <a:noFill/>
          <a:ln/>
        </p:spPr>
        <p:txBody>
          <a:bodyPr wrap="square" lIns="0" tIns="0" rIns="0" bIns="0" rtlCol="0" anchor="t"/>
          <a:lstStyle/>
          <a:p>
            <a:pPr indent="0" marL="0">
              <a:buNone/>
            </a:pPr>
            <a:r>
              <a:rPr lang="en-US" sz="3400" b="1" dirty="0">
                <a:solidFill>
                  <a:srgbClr val="1B2229"/>
                </a:solidFill>
                <a:latin typeface="Calibri" pitchFamily="34" charset="0"/>
                <a:ea typeface="Calibri" pitchFamily="34" charset="-122"/>
                <a:cs typeface="Calibri" pitchFamily="34" charset="-120"/>
              </a:rPr>
              <a:t>One missing input can stall output downstream</a:t>
            </a:r>
            <a:endParaRPr lang="en-US" sz="3400" dirty="0"/>
          </a:p>
        </p:txBody>
      </p:sp>
      <p:sp>
        <p:nvSpPr>
          <p:cNvPr id="4" name="Shape 2"/>
          <p:cNvSpPr/>
          <p:nvPr/>
        </p:nvSpPr>
        <p:spPr>
          <a:xfrm>
            <a:off x="548640" y="1828800"/>
            <a:ext cx="2514600" cy="2926080"/>
          </a:xfrm>
          <a:prstGeom prst="rect">
            <a:avLst/>
          </a:prstGeom>
          <a:solidFill>
            <a:srgbClr val="EEF1F4"/>
          </a:solidFill>
          <a:ln w="12700">
            <a:solidFill>
              <a:srgbClr val="EEF1F4"/>
            </a:solidFill>
            <a:prstDash val="solid"/>
          </a:ln>
          <a:effectLst>
            <a:outerShdw sx="100000" sy="100000" kx="0" ky="0" algn="bl" rotWithShape="0" blurRad="76200" dist="19050" dir="5400000">
              <a:srgbClr val="000000">
                <a:alpha val="12000"/>
              </a:srgbClr>
            </a:outerShdw>
          </a:effectLst>
        </p:spPr>
      </p:sp>
      <p:sp>
        <p:nvSpPr>
          <p:cNvPr id="5" name="Shape 3"/>
          <p:cNvSpPr/>
          <p:nvPr/>
        </p:nvSpPr>
        <p:spPr>
          <a:xfrm>
            <a:off x="822960" y="2148840"/>
            <a:ext cx="640080" cy="640080"/>
          </a:xfrm>
          <a:prstGeom prst="roundRect">
            <a:avLst>
              <a:gd name="adj" fmla="val 11429"/>
            </a:avLst>
          </a:prstGeom>
          <a:solidFill>
            <a:srgbClr val="1B2229"/>
          </a:solidFill>
          <a:ln w="12700">
            <a:solidFill>
              <a:srgbClr val="1B2229"/>
            </a:solidFill>
            <a:prstDash val="solid"/>
          </a:ln>
        </p:spPr>
      </p:sp>
      <p:pic>
        <p:nvPicPr>
          <p:cNvPr id="6" name="Image 0" descr="preencoded.png">    </p:cNvPr>
          <p:cNvPicPr>
            <a:picLocks noChangeAspect="1"/>
          </p:cNvPicPr>
          <p:nvPr/>
        </p:nvPicPr>
        <p:blipFill>
          <a:blip r:embed="rId1"/>
          <a:stretch>
            <a:fillRect/>
          </a:stretch>
        </p:blipFill>
        <p:spPr>
          <a:xfrm>
            <a:off x="963778" y="2289658"/>
            <a:ext cx="358445" cy="358445"/>
          </a:xfrm>
          <a:prstGeom prst="rect">
            <a:avLst/>
          </a:prstGeom>
        </p:spPr>
      </p:pic>
      <p:sp>
        <p:nvSpPr>
          <p:cNvPr id="7" name="Text 4"/>
          <p:cNvSpPr txBox="1"/>
          <p:nvPr/>
        </p:nvSpPr>
        <p:spPr>
          <a:xfrm>
            <a:off x="2331720" y="2148840"/>
            <a:ext cx="457200" cy="640080"/>
          </a:xfrm>
          <a:prstGeom prst="rect">
            <a:avLst/>
          </a:prstGeom>
          <a:noFill/>
          <a:ln/>
        </p:spPr>
        <p:txBody>
          <a:bodyPr wrap="square" lIns="0" tIns="0" rIns="0" bIns="0" rtlCol="0" anchor="ctr"/>
          <a:lstStyle/>
          <a:p>
            <a:pPr algn="r" indent="0" marL="0">
              <a:buNone/>
            </a:pPr>
            <a:r>
              <a:rPr lang="en-US" sz="3000" b="1" dirty="0">
                <a:solidFill>
                  <a:srgbClr val="8A96A3"/>
                </a:solidFill>
                <a:latin typeface="Calibri" pitchFamily="34" charset="0"/>
                <a:ea typeface="Calibri" pitchFamily="34" charset="-122"/>
                <a:cs typeface="Calibri" pitchFamily="34" charset="-120"/>
              </a:rPr>
              <a:t>1</a:t>
            </a:r>
            <a:endParaRPr lang="en-US" sz="3000" dirty="0"/>
          </a:p>
        </p:txBody>
      </p:sp>
      <p:sp>
        <p:nvSpPr>
          <p:cNvPr id="8" name="Text 5"/>
          <p:cNvSpPr txBox="1"/>
          <p:nvPr/>
        </p:nvSpPr>
        <p:spPr>
          <a:xfrm>
            <a:off x="822960" y="3017520"/>
            <a:ext cx="1965960" cy="731520"/>
          </a:xfrm>
          <a:prstGeom prst="rect">
            <a:avLst/>
          </a:prstGeom>
          <a:noFill/>
          <a:ln/>
        </p:spPr>
        <p:txBody>
          <a:bodyPr wrap="square" lIns="0" tIns="0" rIns="0" bIns="0" rtlCol="0" anchor="t"/>
          <a:lstStyle/>
          <a:p>
            <a:pPr indent="0" marL="0">
              <a:buNone/>
            </a:pPr>
            <a:r>
              <a:rPr lang="en-US" sz="1800" b="1" dirty="0">
                <a:solidFill>
                  <a:srgbClr val="1B2229"/>
                </a:solidFill>
                <a:latin typeface="Calibri" pitchFamily="34" charset="0"/>
                <a:ea typeface="Calibri" pitchFamily="34" charset="-122"/>
                <a:cs typeface="Calibri" pitchFamily="34" charset="-120"/>
              </a:rPr>
              <a:t>Sub-tier site goes down</a:t>
            </a:r>
            <a:endParaRPr lang="en-US" sz="1800" dirty="0"/>
          </a:p>
        </p:txBody>
      </p:sp>
      <p:sp>
        <p:nvSpPr>
          <p:cNvPr id="9" name="Text 6"/>
          <p:cNvSpPr txBox="1"/>
          <p:nvPr/>
        </p:nvSpPr>
        <p:spPr>
          <a:xfrm>
            <a:off x="822960" y="3749040"/>
            <a:ext cx="1965960" cy="868680"/>
          </a:xfrm>
          <a:prstGeom prst="rect">
            <a:avLst/>
          </a:prstGeom>
          <a:noFill/>
          <a:ln/>
        </p:spPr>
        <p:txBody>
          <a:bodyPr wrap="square" lIns="0" tIns="0" rIns="0" bIns="0" rtlCol="0" anchor="t"/>
          <a:lstStyle/>
          <a:p>
            <a:pPr indent="0" marL="0">
              <a:buNone/>
            </a:pPr>
            <a:r>
              <a:rPr lang="en-US" sz="1400" dirty="0">
                <a:solidFill>
                  <a:srgbClr val="5A6672"/>
                </a:solidFill>
                <a:latin typeface="Calibri" pitchFamily="34" charset="0"/>
                <a:ea typeface="Calibri" pitchFamily="34" charset="-122"/>
                <a:cs typeface="Calibri" pitchFamily="34" charset="-120"/>
              </a:rPr>
              <a:t>A sole-source supplier two tiers below you loses a plant</a:t>
            </a:r>
            <a:endParaRPr lang="en-US" sz="1400" dirty="0"/>
          </a:p>
        </p:txBody>
      </p:sp>
      <p:sp>
        <p:nvSpPr>
          <p:cNvPr id="10" name="Shape 7"/>
          <p:cNvSpPr/>
          <p:nvPr/>
        </p:nvSpPr>
        <p:spPr>
          <a:xfrm>
            <a:off x="3127248" y="3154680"/>
            <a:ext cx="146304" cy="274320"/>
          </a:xfrm>
          <a:prstGeom prst="chevron">
            <a:avLst/>
          </a:prstGeom>
          <a:solidFill>
            <a:srgbClr val="C46A2B"/>
          </a:solidFill>
          <a:ln w="12700">
            <a:solidFill>
              <a:srgbClr val="C46A2B"/>
            </a:solidFill>
            <a:prstDash val="solid"/>
          </a:ln>
        </p:spPr>
      </p:sp>
      <p:sp>
        <p:nvSpPr>
          <p:cNvPr id="11" name="Shape 8"/>
          <p:cNvSpPr/>
          <p:nvPr/>
        </p:nvSpPr>
        <p:spPr>
          <a:xfrm>
            <a:off x="3337560" y="1828800"/>
            <a:ext cx="2514600" cy="2926080"/>
          </a:xfrm>
          <a:prstGeom prst="rect">
            <a:avLst/>
          </a:prstGeom>
          <a:solidFill>
            <a:srgbClr val="EEF1F4"/>
          </a:solidFill>
          <a:ln w="12700">
            <a:solidFill>
              <a:srgbClr val="EEF1F4"/>
            </a:solidFill>
            <a:prstDash val="solid"/>
          </a:ln>
          <a:effectLst>
            <a:outerShdw sx="100000" sy="100000" kx="0" ky="0" algn="bl" rotWithShape="0" blurRad="76200" dist="19050" dir="5400000">
              <a:srgbClr val="000000">
                <a:alpha val="12000"/>
              </a:srgbClr>
            </a:outerShdw>
          </a:effectLst>
        </p:spPr>
      </p:sp>
      <p:sp>
        <p:nvSpPr>
          <p:cNvPr id="12" name="Shape 9"/>
          <p:cNvSpPr/>
          <p:nvPr/>
        </p:nvSpPr>
        <p:spPr>
          <a:xfrm>
            <a:off x="3611880" y="2148840"/>
            <a:ext cx="640080" cy="640080"/>
          </a:xfrm>
          <a:prstGeom prst="roundRect">
            <a:avLst>
              <a:gd name="adj" fmla="val 11429"/>
            </a:avLst>
          </a:prstGeom>
          <a:solidFill>
            <a:srgbClr val="1B2229"/>
          </a:solidFill>
          <a:ln w="12700">
            <a:solidFill>
              <a:srgbClr val="1B2229"/>
            </a:solidFill>
            <a:prstDash val="solid"/>
          </a:ln>
        </p:spPr>
      </p:sp>
      <p:pic>
        <p:nvPicPr>
          <p:cNvPr id="13" name="Image 1" descr="preencoded.png">    </p:cNvPr>
          <p:cNvPicPr>
            <a:picLocks noChangeAspect="1"/>
          </p:cNvPicPr>
          <p:nvPr/>
        </p:nvPicPr>
        <p:blipFill>
          <a:blip r:embed="rId2"/>
          <a:stretch>
            <a:fillRect/>
          </a:stretch>
        </p:blipFill>
        <p:spPr>
          <a:xfrm>
            <a:off x="3752698" y="2289658"/>
            <a:ext cx="358445" cy="358445"/>
          </a:xfrm>
          <a:prstGeom prst="rect">
            <a:avLst/>
          </a:prstGeom>
        </p:spPr>
      </p:pic>
      <p:sp>
        <p:nvSpPr>
          <p:cNvPr id="14" name="Text 10"/>
          <p:cNvSpPr txBox="1"/>
          <p:nvPr/>
        </p:nvSpPr>
        <p:spPr>
          <a:xfrm>
            <a:off x="5120640" y="2148840"/>
            <a:ext cx="457200" cy="640080"/>
          </a:xfrm>
          <a:prstGeom prst="rect">
            <a:avLst/>
          </a:prstGeom>
          <a:noFill/>
          <a:ln/>
        </p:spPr>
        <p:txBody>
          <a:bodyPr wrap="square" lIns="0" tIns="0" rIns="0" bIns="0" rtlCol="0" anchor="ctr"/>
          <a:lstStyle/>
          <a:p>
            <a:pPr algn="r" indent="0" marL="0">
              <a:buNone/>
            </a:pPr>
            <a:r>
              <a:rPr lang="en-US" sz="3000" b="1" dirty="0">
                <a:solidFill>
                  <a:srgbClr val="8A96A3"/>
                </a:solidFill>
                <a:latin typeface="Calibri" pitchFamily="34" charset="0"/>
                <a:ea typeface="Calibri" pitchFamily="34" charset="-122"/>
                <a:cs typeface="Calibri" pitchFamily="34" charset="-120"/>
              </a:rPr>
              <a:t>2</a:t>
            </a:r>
            <a:endParaRPr lang="en-US" sz="3000" dirty="0"/>
          </a:p>
        </p:txBody>
      </p:sp>
      <p:sp>
        <p:nvSpPr>
          <p:cNvPr id="15" name="Text 11"/>
          <p:cNvSpPr txBox="1"/>
          <p:nvPr/>
        </p:nvSpPr>
        <p:spPr>
          <a:xfrm>
            <a:off x="3611880" y="3017520"/>
            <a:ext cx="1965960" cy="731520"/>
          </a:xfrm>
          <a:prstGeom prst="rect">
            <a:avLst/>
          </a:prstGeom>
          <a:noFill/>
          <a:ln/>
        </p:spPr>
        <p:txBody>
          <a:bodyPr wrap="square" lIns="0" tIns="0" rIns="0" bIns="0" rtlCol="0" anchor="t"/>
          <a:lstStyle/>
          <a:p>
            <a:pPr indent="0" marL="0">
              <a:buNone/>
            </a:pPr>
            <a:r>
              <a:rPr lang="en-US" sz="1800" b="1" dirty="0">
                <a:solidFill>
                  <a:srgbClr val="1B2229"/>
                </a:solidFill>
                <a:latin typeface="Calibri" pitchFamily="34" charset="0"/>
                <a:ea typeface="Calibri" pitchFamily="34" charset="-122"/>
                <a:cs typeface="Calibri" pitchFamily="34" charset="-120"/>
              </a:rPr>
              <a:t>Material goes on allocation</a:t>
            </a:r>
            <a:endParaRPr lang="en-US" sz="1800" dirty="0"/>
          </a:p>
        </p:txBody>
      </p:sp>
      <p:sp>
        <p:nvSpPr>
          <p:cNvPr id="16" name="Text 12"/>
          <p:cNvSpPr txBox="1"/>
          <p:nvPr/>
        </p:nvSpPr>
        <p:spPr>
          <a:xfrm>
            <a:off x="3611880" y="3749040"/>
            <a:ext cx="1965960" cy="868680"/>
          </a:xfrm>
          <a:prstGeom prst="rect">
            <a:avLst/>
          </a:prstGeom>
          <a:noFill/>
          <a:ln/>
        </p:spPr>
        <p:txBody>
          <a:bodyPr wrap="square" lIns="0" tIns="0" rIns="0" bIns="0" rtlCol="0" anchor="t"/>
          <a:lstStyle/>
          <a:p>
            <a:pPr indent="0" marL="0">
              <a:buNone/>
            </a:pPr>
            <a:r>
              <a:rPr lang="en-US" sz="1400" dirty="0">
                <a:solidFill>
                  <a:srgbClr val="5A6672"/>
                </a:solidFill>
                <a:latin typeface="Calibri" pitchFamily="34" charset="0"/>
                <a:ea typeface="Calibri" pitchFamily="34" charset="-122"/>
                <a:cs typeface="Calibri" pitchFamily="34" charset="-120"/>
              </a:rPr>
              <a:t>Your tier 1 learns late and rations what is left</a:t>
            </a:r>
            <a:endParaRPr lang="en-US" sz="1400" dirty="0"/>
          </a:p>
        </p:txBody>
      </p:sp>
      <p:sp>
        <p:nvSpPr>
          <p:cNvPr id="17" name="Shape 13"/>
          <p:cNvSpPr/>
          <p:nvPr/>
        </p:nvSpPr>
        <p:spPr>
          <a:xfrm>
            <a:off x="5916168" y="3154680"/>
            <a:ext cx="146304" cy="274320"/>
          </a:xfrm>
          <a:prstGeom prst="chevron">
            <a:avLst/>
          </a:prstGeom>
          <a:solidFill>
            <a:srgbClr val="C46A2B"/>
          </a:solidFill>
          <a:ln w="12700">
            <a:solidFill>
              <a:srgbClr val="C46A2B"/>
            </a:solidFill>
            <a:prstDash val="solid"/>
          </a:ln>
        </p:spPr>
      </p:sp>
      <p:sp>
        <p:nvSpPr>
          <p:cNvPr id="18" name="Shape 14"/>
          <p:cNvSpPr/>
          <p:nvPr/>
        </p:nvSpPr>
        <p:spPr>
          <a:xfrm>
            <a:off x="6126480" y="1828800"/>
            <a:ext cx="2514600" cy="2926080"/>
          </a:xfrm>
          <a:prstGeom prst="rect">
            <a:avLst/>
          </a:prstGeom>
          <a:solidFill>
            <a:srgbClr val="EEF1F4"/>
          </a:solidFill>
          <a:ln w="12700">
            <a:solidFill>
              <a:srgbClr val="EEF1F4"/>
            </a:solidFill>
            <a:prstDash val="solid"/>
          </a:ln>
          <a:effectLst>
            <a:outerShdw sx="100000" sy="100000" kx="0" ky="0" algn="bl" rotWithShape="0" blurRad="76200" dist="19050" dir="5400000">
              <a:srgbClr val="000000">
                <a:alpha val="12000"/>
              </a:srgbClr>
            </a:outerShdw>
          </a:effectLst>
        </p:spPr>
      </p:sp>
      <p:sp>
        <p:nvSpPr>
          <p:cNvPr id="19" name="Shape 15"/>
          <p:cNvSpPr/>
          <p:nvPr/>
        </p:nvSpPr>
        <p:spPr>
          <a:xfrm>
            <a:off x="6400800" y="2148840"/>
            <a:ext cx="640080" cy="640080"/>
          </a:xfrm>
          <a:prstGeom prst="roundRect">
            <a:avLst>
              <a:gd name="adj" fmla="val 11429"/>
            </a:avLst>
          </a:prstGeom>
          <a:solidFill>
            <a:srgbClr val="1B2229"/>
          </a:solidFill>
          <a:ln w="12700">
            <a:solidFill>
              <a:srgbClr val="1B2229"/>
            </a:solidFill>
            <a:prstDash val="solid"/>
          </a:ln>
        </p:spPr>
      </p:sp>
      <p:pic>
        <p:nvPicPr>
          <p:cNvPr id="20" name="Image 2" descr="preencoded.png">    </p:cNvPr>
          <p:cNvPicPr>
            <a:picLocks noChangeAspect="1"/>
          </p:cNvPicPr>
          <p:nvPr/>
        </p:nvPicPr>
        <p:blipFill>
          <a:blip r:embed="rId3"/>
          <a:stretch>
            <a:fillRect/>
          </a:stretch>
        </p:blipFill>
        <p:spPr>
          <a:xfrm>
            <a:off x="6541618" y="2289658"/>
            <a:ext cx="358445" cy="358445"/>
          </a:xfrm>
          <a:prstGeom prst="rect">
            <a:avLst/>
          </a:prstGeom>
        </p:spPr>
      </p:pic>
      <p:sp>
        <p:nvSpPr>
          <p:cNvPr id="21" name="Text 16"/>
          <p:cNvSpPr txBox="1"/>
          <p:nvPr/>
        </p:nvSpPr>
        <p:spPr>
          <a:xfrm>
            <a:off x="7909560" y="2148840"/>
            <a:ext cx="457200" cy="640080"/>
          </a:xfrm>
          <a:prstGeom prst="rect">
            <a:avLst/>
          </a:prstGeom>
          <a:noFill/>
          <a:ln/>
        </p:spPr>
        <p:txBody>
          <a:bodyPr wrap="square" lIns="0" tIns="0" rIns="0" bIns="0" rtlCol="0" anchor="ctr"/>
          <a:lstStyle/>
          <a:p>
            <a:pPr algn="r" indent="0" marL="0">
              <a:buNone/>
            </a:pPr>
            <a:r>
              <a:rPr lang="en-US" sz="3000" b="1" dirty="0">
                <a:solidFill>
                  <a:srgbClr val="8A96A3"/>
                </a:solidFill>
                <a:latin typeface="Calibri" pitchFamily="34" charset="0"/>
                <a:ea typeface="Calibri" pitchFamily="34" charset="-122"/>
                <a:cs typeface="Calibri" pitchFamily="34" charset="-120"/>
              </a:rPr>
              <a:t>3</a:t>
            </a:r>
            <a:endParaRPr lang="en-US" sz="3000" dirty="0"/>
          </a:p>
        </p:txBody>
      </p:sp>
      <p:sp>
        <p:nvSpPr>
          <p:cNvPr id="22" name="Text 17"/>
          <p:cNvSpPr txBox="1"/>
          <p:nvPr/>
        </p:nvSpPr>
        <p:spPr>
          <a:xfrm>
            <a:off x="6400800" y="3017520"/>
            <a:ext cx="1965960" cy="731520"/>
          </a:xfrm>
          <a:prstGeom prst="rect">
            <a:avLst/>
          </a:prstGeom>
          <a:noFill/>
          <a:ln/>
        </p:spPr>
        <p:txBody>
          <a:bodyPr wrap="square" lIns="0" tIns="0" rIns="0" bIns="0" rtlCol="0" anchor="t"/>
          <a:lstStyle/>
          <a:p>
            <a:pPr indent="0" marL="0">
              <a:buNone/>
            </a:pPr>
            <a:r>
              <a:rPr lang="en-US" sz="1800" b="1" dirty="0">
                <a:solidFill>
                  <a:srgbClr val="1B2229"/>
                </a:solidFill>
                <a:latin typeface="Calibri" pitchFamily="34" charset="0"/>
                <a:ea typeface="Calibri" pitchFamily="34" charset="-122"/>
                <a:cs typeface="Calibri" pitchFamily="34" charset="-120"/>
              </a:rPr>
              <a:t>Production plans get cut</a:t>
            </a:r>
            <a:endParaRPr lang="en-US" sz="1800" dirty="0"/>
          </a:p>
        </p:txBody>
      </p:sp>
      <p:sp>
        <p:nvSpPr>
          <p:cNvPr id="23" name="Text 18"/>
          <p:cNvSpPr txBox="1"/>
          <p:nvPr/>
        </p:nvSpPr>
        <p:spPr>
          <a:xfrm>
            <a:off x="6400800" y="3749040"/>
            <a:ext cx="1965960" cy="868680"/>
          </a:xfrm>
          <a:prstGeom prst="rect">
            <a:avLst/>
          </a:prstGeom>
          <a:noFill/>
          <a:ln/>
        </p:spPr>
        <p:txBody>
          <a:bodyPr wrap="square" lIns="0" tIns="0" rIns="0" bIns="0" rtlCol="0" anchor="t"/>
          <a:lstStyle/>
          <a:p>
            <a:pPr indent="0" marL="0">
              <a:buNone/>
            </a:pPr>
            <a:r>
              <a:rPr lang="en-US" sz="1400" dirty="0">
                <a:solidFill>
                  <a:srgbClr val="5A6672"/>
                </a:solidFill>
                <a:latin typeface="Calibri" pitchFamily="34" charset="0"/>
                <a:ea typeface="Calibri" pitchFamily="34" charset="-122"/>
                <a:cs typeface="Calibri" pitchFamily="34" charset="-120"/>
              </a:rPr>
              <a:t>Planners scramble with lead times that no longer hold</a:t>
            </a:r>
            <a:endParaRPr lang="en-US" sz="1400" dirty="0"/>
          </a:p>
        </p:txBody>
      </p:sp>
      <p:sp>
        <p:nvSpPr>
          <p:cNvPr id="24" name="Shape 19"/>
          <p:cNvSpPr/>
          <p:nvPr/>
        </p:nvSpPr>
        <p:spPr>
          <a:xfrm>
            <a:off x="8705088" y="3154680"/>
            <a:ext cx="146304" cy="274320"/>
          </a:xfrm>
          <a:prstGeom prst="chevron">
            <a:avLst/>
          </a:prstGeom>
          <a:solidFill>
            <a:srgbClr val="C46A2B"/>
          </a:solidFill>
          <a:ln w="12700">
            <a:solidFill>
              <a:srgbClr val="C46A2B"/>
            </a:solidFill>
            <a:prstDash val="solid"/>
          </a:ln>
        </p:spPr>
      </p:sp>
      <p:sp>
        <p:nvSpPr>
          <p:cNvPr id="25" name="Shape 20"/>
          <p:cNvSpPr/>
          <p:nvPr/>
        </p:nvSpPr>
        <p:spPr>
          <a:xfrm>
            <a:off x="8915400" y="1828800"/>
            <a:ext cx="2514600" cy="2926080"/>
          </a:xfrm>
          <a:prstGeom prst="rect">
            <a:avLst/>
          </a:prstGeom>
          <a:solidFill>
            <a:srgbClr val="F6E6DA"/>
          </a:solidFill>
          <a:ln w="12700">
            <a:solidFill>
              <a:srgbClr val="F6E6DA"/>
            </a:solidFill>
            <a:prstDash val="solid"/>
          </a:ln>
          <a:effectLst>
            <a:outerShdw sx="100000" sy="100000" kx="0" ky="0" algn="bl" rotWithShape="0" blurRad="76200" dist="19050" dir="5400000">
              <a:srgbClr val="000000">
                <a:alpha val="12000"/>
              </a:srgbClr>
            </a:outerShdw>
          </a:effectLst>
        </p:spPr>
      </p:sp>
      <p:sp>
        <p:nvSpPr>
          <p:cNvPr id="26" name="Shape 21"/>
          <p:cNvSpPr/>
          <p:nvPr/>
        </p:nvSpPr>
        <p:spPr>
          <a:xfrm>
            <a:off x="9189720" y="2148840"/>
            <a:ext cx="640080" cy="640080"/>
          </a:xfrm>
          <a:prstGeom prst="roundRect">
            <a:avLst>
              <a:gd name="adj" fmla="val 11429"/>
            </a:avLst>
          </a:prstGeom>
          <a:solidFill>
            <a:srgbClr val="C46A2B"/>
          </a:solidFill>
          <a:ln w="12700">
            <a:solidFill>
              <a:srgbClr val="C46A2B"/>
            </a:solidFill>
            <a:prstDash val="solid"/>
          </a:ln>
        </p:spPr>
      </p:sp>
      <p:pic>
        <p:nvPicPr>
          <p:cNvPr id="27" name="Image 3" descr="preencoded.png">    </p:cNvPr>
          <p:cNvPicPr>
            <a:picLocks noChangeAspect="1"/>
          </p:cNvPicPr>
          <p:nvPr/>
        </p:nvPicPr>
        <p:blipFill>
          <a:blip r:embed="rId4"/>
          <a:stretch>
            <a:fillRect/>
          </a:stretch>
        </p:blipFill>
        <p:spPr>
          <a:xfrm>
            <a:off x="9330538" y="2289658"/>
            <a:ext cx="358445" cy="358445"/>
          </a:xfrm>
          <a:prstGeom prst="rect">
            <a:avLst/>
          </a:prstGeom>
        </p:spPr>
      </p:pic>
      <p:sp>
        <p:nvSpPr>
          <p:cNvPr id="28" name="Text 22"/>
          <p:cNvSpPr txBox="1"/>
          <p:nvPr/>
        </p:nvSpPr>
        <p:spPr>
          <a:xfrm>
            <a:off x="10698480" y="2148840"/>
            <a:ext cx="457200" cy="640080"/>
          </a:xfrm>
          <a:prstGeom prst="rect">
            <a:avLst/>
          </a:prstGeom>
          <a:noFill/>
          <a:ln/>
        </p:spPr>
        <p:txBody>
          <a:bodyPr wrap="square" lIns="0" tIns="0" rIns="0" bIns="0" rtlCol="0" anchor="ctr"/>
          <a:lstStyle/>
          <a:p>
            <a:pPr algn="r" indent="0" marL="0">
              <a:buNone/>
            </a:pPr>
            <a:r>
              <a:rPr lang="en-US" sz="3000" b="1" dirty="0">
                <a:solidFill>
                  <a:srgbClr val="8A96A3"/>
                </a:solidFill>
                <a:latin typeface="Calibri" pitchFamily="34" charset="0"/>
                <a:ea typeface="Calibri" pitchFamily="34" charset="-122"/>
                <a:cs typeface="Calibri" pitchFamily="34" charset="-120"/>
              </a:rPr>
              <a:t>4</a:t>
            </a:r>
            <a:endParaRPr lang="en-US" sz="3000" dirty="0"/>
          </a:p>
        </p:txBody>
      </p:sp>
      <p:sp>
        <p:nvSpPr>
          <p:cNvPr id="29" name="Text 23"/>
          <p:cNvSpPr txBox="1"/>
          <p:nvPr/>
        </p:nvSpPr>
        <p:spPr>
          <a:xfrm>
            <a:off x="9189720" y="3017520"/>
            <a:ext cx="1965960" cy="731520"/>
          </a:xfrm>
          <a:prstGeom prst="rect">
            <a:avLst/>
          </a:prstGeom>
          <a:noFill/>
          <a:ln/>
        </p:spPr>
        <p:txBody>
          <a:bodyPr wrap="square" lIns="0" tIns="0" rIns="0" bIns="0" rtlCol="0" anchor="t"/>
          <a:lstStyle/>
          <a:p>
            <a:pPr indent="0" marL="0">
              <a:buNone/>
            </a:pPr>
            <a:r>
              <a:rPr lang="en-US" sz="1800" b="1" dirty="0">
                <a:solidFill>
                  <a:srgbClr val="1B2229"/>
                </a:solidFill>
                <a:latin typeface="Calibri" pitchFamily="34" charset="0"/>
                <a:ea typeface="Calibri" pitchFamily="34" charset="-122"/>
                <a:cs typeface="Calibri" pitchFamily="34" charset="-120"/>
              </a:rPr>
              <a:t>Customer commits slip</a:t>
            </a:r>
            <a:endParaRPr lang="en-US" sz="1800" dirty="0"/>
          </a:p>
        </p:txBody>
      </p:sp>
      <p:sp>
        <p:nvSpPr>
          <p:cNvPr id="30" name="Text 24"/>
          <p:cNvSpPr txBox="1"/>
          <p:nvPr/>
        </p:nvSpPr>
        <p:spPr>
          <a:xfrm>
            <a:off x="9189720" y="3749040"/>
            <a:ext cx="1965960" cy="868680"/>
          </a:xfrm>
          <a:prstGeom prst="rect">
            <a:avLst/>
          </a:prstGeom>
          <a:noFill/>
          <a:ln/>
        </p:spPr>
        <p:txBody>
          <a:bodyPr wrap="square" lIns="0" tIns="0" rIns="0" bIns="0" rtlCol="0" anchor="t"/>
          <a:lstStyle/>
          <a:p>
            <a:pPr indent="0" marL="0">
              <a:buNone/>
            </a:pPr>
            <a:r>
              <a:rPr lang="en-US" sz="1400" dirty="0">
                <a:solidFill>
                  <a:srgbClr val="5A6672"/>
                </a:solidFill>
                <a:latin typeface="Calibri" pitchFamily="34" charset="0"/>
                <a:ea typeface="Calibri" pitchFamily="34" charset="-122"/>
                <a:cs typeface="Calibri" pitchFamily="34" charset="-120"/>
              </a:rPr>
              <a:t>The first you hear of it is a missed ship date</a:t>
            </a:r>
            <a:endParaRPr lang="en-US" sz="1400" dirty="0"/>
          </a:p>
        </p:txBody>
      </p:sp>
      <p:sp>
        <p:nvSpPr>
          <p:cNvPr id="31" name="Text 25"/>
          <p:cNvSpPr txBox="1"/>
          <p:nvPr/>
        </p:nvSpPr>
        <p:spPr>
          <a:xfrm>
            <a:off x="548640" y="5257800"/>
            <a:ext cx="11094415" cy="457200"/>
          </a:xfrm>
          <a:prstGeom prst="rect">
            <a:avLst/>
          </a:prstGeom>
          <a:noFill/>
          <a:ln/>
        </p:spPr>
        <p:txBody>
          <a:bodyPr wrap="square" lIns="0" tIns="0" rIns="0" bIns="0" rtlCol="0" anchor="ctr"/>
          <a:lstStyle/>
          <a:p>
            <a:pPr indent="0" marL="0">
              <a:buNone/>
            </a:pPr>
            <a:r>
              <a:rPr lang="en-US" sz="1800" i="1" dirty="0">
                <a:solidFill>
                  <a:srgbClr val="C46A2B"/>
                </a:solidFill>
                <a:latin typeface="Calibri" pitchFamily="34" charset="0"/>
                <a:ea typeface="Calibri" pitchFamily="34" charset="-122"/>
                <a:cs typeface="Calibri" pitchFamily="34" charset="-120"/>
              </a:rPr>
              <a:t>The failure starts where most of us have the least visibility.</a:t>
            </a:r>
            <a:endParaRPr lang="en-US" sz="1800" dirty="0"/>
          </a:p>
        </p:txBody>
      </p:sp>
      <p:sp>
        <p:nvSpPr>
          <p:cNvPr id="32" name="Text 26"/>
          <p:cNvSpPr txBox="1"/>
          <p:nvPr/>
        </p:nvSpPr>
        <p:spPr>
          <a:xfrm>
            <a:off x="8899855" y="6446520"/>
            <a:ext cx="2743200" cy="228600"/>
          </a:xfrm>
          <a:prstGeom prst="rect">
            <a:avLst/>
          </a:prstGeom>
          <a:noFill/>
          <a:ln/>
        </p:spPr>
        <p:txBody>
          <a:bodyPr wrap="square" lIns="0" tIns="0" rIns="0" bIns="0" rtlCol="0" anchor="ctr"/>
          <a:lstStyle/>
          <a:p>
            <a:pPr algn="r" indent="0" marL="0">
              <a:buNone/>
            </a:pPr>
            <a:r>
              <a:rPr lang="en-US" sz="900" dirty="0">
                <a:solidFill>
                  <a:srgbClr val="8A96A3"/>
                </a:solidFill>
                <a:latin typeface="Calibri" pitchFamily="34" charset="0"/>
                <a:ea typeface="Calibri" pitchFamily="34" charset="-122"/>
                <a:cs typeface="Calibri" pitchFamily="34" charset="-120"/>
              </a:rPr>
              <a:t>SEMICON West  |  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182880"/>
            <a:ext cx="7315200" cy="274320"/>
          </a:xfrm>
          <a:prstGeom prst="rect">
            <a:avLst/>
          </a:prstGeom>
          <a:noFill/>
          <a:ln/>
        </p:spPr>
        <p:txBody>
          <a:bodyPr wrap="square" lIns="0" tIns="0" rIns="0" bIns="0" rtlCol="0" anchor="ctr"/>
          <a:lstStyle/>
          <a:p>
            <a:pPr indent="0" marL="0">
              <a:buNone/>
            </a:pPr>
            <a:r>
              <a:rPr lang="en-US" sz="1100" b="1" spc="200" kern="0" dirty="0">
                <a:solidFill>
                  <a:srgbClr val="C46A2B"/>
                </a:solidFill>
                <a:latin typeface="Calibri" pitchFamily="34" charset="0"/>
                <a:ea typeface="Calibri" pitchFamily="34" charset="-122"/>
                <a:cs typeface="Calibri" pitchFamily="34" charset="-120"/>
              </a:rPr>
              <a:t>THE RISK MAP</a:t>
            </a:r>
            <a:endParaRPr lang="en-US" sz="1100" dirty="0"/>
          </a:p>
        </p:txBody>
      </p:sp>
      <p:sp>
        <p:nvSpPr>
          <p:cNvPr id="3" name="Text 1"/>
          <p:cNvSpPr txBox="1"/>
          <p:nvPr/>
        </p:nvSpPr>
        <p:spPr>
          <a:xfrm>
            <a:off x="548640" y="411480"/>
            <a:ext cx="11094415" cy="914400"/>
          </a:xfrm>
          <a:prstGeom prst="rect">
            <a:avLst/>
          </a:prstGeom>
          <a:noFill/>
          <a:ln/>
        </p:spPr>
        <p:txBody>
          <a:bodyPr wrap="square" lIns="0" tIns="0" rIns="0" bIns="0" rtlCol="0" anchor="t"/>
          <a:lstStyle/>
          <a:p>
            <a:pPr indent="0" marL="0">
              <a:buNone/>
            </a:pPr>
            <a:r>
              <a:rPr lang="en-US" sz="3400" b="1" dirty="0">
                <a:solidFill>
                  <a:srgbClr val="1B2229"/>
                </a:solidFill>
                <a:latin typeface="Calibri" pitchFamily="34" charset="0"/>
                <a:ea typeface="Calibri" pitchFamily="34" charset="-122"/>
                <a:cs typeface="Calibri" pitchFamily="34" charset="-120"/>
              </a:rPr>
              <a:t>Specialization made the chain efficient and fragile</a:t>
            </a:r>
            <a:endParaRPr lang="en-US" sz="3400" dirty="0"/>
          </a:p>
        </p:txBody>
      </p:sp>
      <p:sp>
        <p:nvSpPr>
          <p:cNvPr id="4" name="Shape 2"/>
          <p:cNvSpPr/>
          <p:nvPr/>
        </p:nvSpPr>
        <p:spPr>
          <a:xfrm>
            <a:off x="1348740" y="2606040"/>
            <a:ext cx="9494215" cy="0"/>
          </a:xfrm>
          <a:prstGeom prst="line">
            <a:avLst/>
          </a:prstGeom>
          <a:noFill/>
          <a:ln w="38100">
            <a:solidFill>
              <a:srgbClr val="D5DBE1"/>
            </a:solidFill>
            <a:prstDash val="solid"/>
          </a:ln>
        </p:spPr>
      </p:sp>
      <p:sp>
        <p:nvSpPr>
          <p:cNvPr id="5" name="Shape 3"/>
          <p:cNvSpPr/>
          <p:nvPr/>
        </p:nvSpPr>
        <p:spPr>
          <a:xfrm>
            <a:off x="845820" y="2103120"/>
            <a:ext cx="1005840" cy="1005840"/>
          </a:xfrm>
          <a:prstGeom prst="roundRect">
            <a:avLst>
              <a:gd name="adj" fmla="val 7273"/>
            </a:avLst>
          </a:prstGeom>
          <a:solidFill>
            <a:srgbClr val="1B2229"/>
          </a:solidFill>
          <a:ln w="12700">
            <a:solidFill>
              <a:srgbClr val="1B2229"/>
            </a:solidFill>
            <a:prstDash val="solid"/>
          </a:ln>
        </p:spPr>
      </p:sp>
      <p:pic>
        <p:nvPicPr>
          <p:cNvPr id="6" name="Image 0" descr="preencoded.png">    </p:cNvPr>
          <p:cNvPicPr>
            <a:picLocks noChangeAspect="1"/>
          </p:cNvPicPr>
          <p:nvPr/>
        </p:nvPicPr>
        <p:blipFill>
          <a:blip r:embed="rId1"/>
          <a:stretch>
            <a:fillRect/>
          </a:stretch>
        </p:blipFill>
        <p:spPr>
          <a:xfrm>
            <a:off x="1067105" y="2324405"/>
            <a:ext cx="563270" cy="563270"/>
          </a:xfrm>
          <a:prstGeom prst="rect">
            <a:avLst/>
          </a:prstGeom>
        </p:spPr>
      </p:pic>
      <p:sp>
        <p:nvSpPr>
          <p:cNvPr id="7" name="Text 4"/>
          <p:cNvSpPr txBox="1"/>
          <p:nvPr/>
        </p:nvSpPr>
        <p:spPr>
          <a:xfrm>
            <a:off x="548640" y="3246120"/>
            <a:ext cx="1600200" cy="457200"/>
          </a:xfrm>
          <a:prstGeom prst="rect">
            <a:avLst/>
          </a:prstGeom>
          <a:noFill/>
          <a:ln/>
        </p:spPr>
        <p:txBody>
          <a:bodyPr wrap="square" lIns="0" tIns="0" rIns="0" bIns="0" rtlCol="0" anchor="ctr"/>
          <a:lstStyle/>
          <a:p>
            <a:pPr algn="ctr" indent="0" marL="0">
              <a:buNone/>
            </a:pPr>
            <a:r>
              <a:rPr lang="en-US" sz="1500" b="1" dirty="0">
                <a:solidFill>
                  <a:srgbClr val="1B2229"/>
                </a:solidFill>
                <a:latin typeface="Calibri" pitchFamily="34" charset="0"/>
                <a:ea typeface="Calibri" pitchFamily="34" charset="-122"/>
                <a:cs typeface="Calibri" pitchFamily="34" charset="-120"/>
              </a:rPr>
              <a:t>Design &amp; IP</a:t>
            </a:r>
            <a:endParaRPr lang="en-US" sz="1500" dirty="0"/>
          </a:p>
        </p:txBody>
      </p:sp>
      <p:sp>
        <p:nvSpPr>
          <p:cNvPr id="8" name="Shape 5"/>
          <p:cNvSpPr/>
          <p:nvPr/>
        </p:nvSpPr>
        <p:spPr>
          <a:xfrm>
            <a:off x="2744663" y="2103120"/>
            <a:ext cx="1005840" cy="1005840"/>
          </a:xfrm>
          <a:prstGeom prst="roundRect">
            <a:avLst>
              <a:gd name="adj" fmla="val 7273"/>
            </a:avLst>
          </a:prstGeom>
          <a:solidFill>
            <a:srgbClr val="1B2229"/>
          </a:solidFill>
          <a:ln w="12700">
            <a:solidFill>
              <a:srgbClr val="1B2229"/>
            </a:solidFill>
            <a:prstDash val="solid"/>
          </a:ln>
        </p:spPr>
      </p:sp>
      <p:pic>
        <p:nvPicPr>
          <p:cNvPr id="9" name="Image 1" descr="preencoded.png">    </p:cNvPr>
          <p:cNvPicPr>
            <a:picLocks noChangeAspect="1"/>
          </p:cNvPicPr>
          <p:nvPr/>
        </p:nvPicPr>
        <p:blipFill>
          <a:blip r:embed="rId2"/>
          <a:stretch>
            <a:fillRect/>
          </a:stretch>
        </p:blipFill>
        <p:spPr>
          <a:xfrm>
            <a:off x="2965948" y="2324405"/>
            <a:ext cx="563270" cy="563270"/>
          </a:xfrm>
          <a:prstGeom prst="rect">
            <a:avLst/>
          </a:prstGeom>
        </p:spPr>
      </p:pic>
      <p:sp>
        <p:nvSpPr>
          <p:cNvPr id="10" name="Text 6"/>
          <p:cNvSpPr txBox="1"/>
          <p:nvPr/>
        </p:nvSpPr>
        <p:spPr>
          <a:xfrm>
            <a:off x="2447483" y="3246120"/>
            <a:ext cx="1600200" cy="457200"/>
          </a:xfrm>
          <a:prstGeom prst="rect">
            <a:avLst/>
          </a:prstGeom>
          <a:noFill/>
          <a:ln/>
        </p:spPr>
        <p:txBody>
          <a:bodyPr wrap="square" lIns="0" tIns="0" rIns="0" bIns="0" rtlCol="0" anchor="ctr"/>
          <a:lstStyle/>
          <a:p>
            <a:pPr algn="ctr" indent="0" marL="0">
              <a:buNone/>
            </a:pPr>
            <a:r>
              <a:rPr lang="en-US" sz="1500" b="1" dirty="0">
                <a:solidFill>
                  <a:srgbClr val="1B2229"/>
                </a:solidFill>
                <a:latin typeface="Calibri" pitchFamily="34" charset="0"/>
                <a:ea typeface="Calibri" pitchFamily="34" charset="-122"/>
                <a:cs typeface="Calibri" pitchFamily="34" charset="-120"/>
              </a:rPr>
              <a:t>Materials &amp; gases</a:t>
            </a:r>
            <a:endParaRPr lang="en-US" sz="1500" dirty="0"/>
          </a:p>
        </p:txBody>
      </p:sp>
      <p:sp>
        <p:nvSpPr>
          <p:cNvPr id="11" name="Shape 7"/>
          <p:cNvSpPr/>
          <p:nvPr/>
        </p:nvSpPr>
        <p:spPr>
          <a:xfrm>
            <a:off x="4643506" y="2103120"/>
            <a:ext cx="1005840" cy="1005840"/>
          </a:xfrm>
          <a:prstGeom prst="roundRect">
            <a:avLst>
              <a:gd name="adj" fmla="val 7273"/>
            </a:avLst>
          </a:prstGeom>
          <a:solidFill>
            <a:srgbClr val="1B2229"/>
          </a:solidFill>
          <a:ln w="12700">
            <a:solidFill>
              <a:srgbClr val="1B2229"/>
            </a:solidFill>
            <a:prstDash val="solid"/>
          </a:ln>
        </p:spPr>
      </p:sp>
      <p:pic>
        <p:nvPicPr>
          <p:cNvPr id="12" name="Image 2" descr="preencoded.png">    </p:cNvPr>
          <p:cNvPicPr>
            <a:picLocks noChangeAspect="1"/>
          </p:cNvPicPr>
          <p:nvPr/>
        </p:nvPicPr>
        <p:blipFill>
          <a:blip r:embed="rId3"/>
          <a:stretch>
            <a:fillRect/>
          </a:stretch>
        </p:blipFill>
        <p:spPr>
          <a:xfrm>
            <a:off x="4864791" y="2324405"/>
            <a:ext cx="563270" cy="563270"/>
          </a:xfrm>
          <a:prstGeom prst="rect">
            <a:avLst/>
          </a:prstGeom>
        </p:spPr>
      </p:pic>
      <p:sp>
        <p:nvSpPr>
          <p:cNvPr id="13" name="Text 8"/>
          <p:cNvSpPr txBox="1"/>
          <p:nvPr/>
        </p:nvSpPr>
        <p:spPr>
          <a:xfrm>
            <a:off x="4346326" y="3246120"/>
            <a:ext cx="1600200" cy="457200"/>
          </a:xfrm>
          <a:prstGeom prst="rect">
            <a:avLst/>
          </a:prstGeom>
          <a:noFill/>
          <a:ln/>
        </p:spPr>
        <p:txBody>
          <a:bodyPr wrap="square" lIns="0" tIns="0" rIns="0" bIns="0" rtlCol="0" anchor="ctr"/>
          <a:lstStyle/>
          <a:p>
            <a:pPr algn="ctr" indent="0" marL="0">
              <a:buNone/>
            </a:pPr>
            <a:r>
              <a:rPr lang="en-US" sz="1500" b="1" dirty="0">
                <a:solidFill>
                  <a:srgbClr val="1B2229"/>
                </a:solidFill>
                <a:latin typeface="Calibri" pitchFamily="34" charset="0"/>
                <a:ea typeface="Calibri" pitchFamily="34" charset="-122"/>
                <a:cs typeface="Calibri" pitchFamily="34" charset="-120"/>
              </a:rPr>
              <a:t>Equipment</a:t>
            </a:r>
            <a:endParaRPr lang="en-US" sz="1500" dirty="0"/>
          </a:p>
        </p:txBody>
      </p:sp>
      <p:sp>
        <p:nvSpPr>
          <p:cNvPr id="14" name="Shape 9"/>
          <p:cNvSpPr/>
          <p:nvPr/>
        </p:nvSpPr>
        <p:spPr>
          <a:xfrm>
            <a:off x="6542349" y="2103120"/>
            <a:ext cx="1005840" cy="1005840"/>
          </a:xfrm>
          <a:prstGeom prst="roundRect">
            <a:avLst>
              <a:gd name="adj" fmla="val 7273"/>
            </a:avLst>
          </a:prstGeom>
          <a:solidFill>
            <a:srgbClr val="C46A2B"/>
          </a:solidFill>
          <a:ln w="12700">
            <a:solidFill>
              <a:srgbClr val="C46A2B"/>
            </a:solidFill>
            <a:prstDash val="solid"/>
          </a:ln>
        </p:spPr>
      </p:sp>
      <p:pic>
        <p:nvPicPr>
          <p:cNvPr id="15" name="Image 3" descr="preencoded.png">    </p:cNvPr>
          <p:cNvPicPr>
            <a:picLocks noChangeAspect="1"/>
          </p:cNvPicPr>
          <p:nvPr/>
        </p:nvPicPr>
        <p:blipFill>
          <a:blip r:embed="rId4"/>
          <a:stretch>
            <a:fillRect/>
          </a:stretch>
        </p:blipFill>
        <p:spPr>
          <a:xfrm>
            <a:off x="6763634" y="2324405"/>
            <a:ext cx="563270" cy="563270"/>
          </a:xfrm>
          <a:prstGeom prst="rect">
            <a:avLst/>
          </a:prstGeom>
        </p:spPr>
      </p:pic>
      <p:sp>
        <p:nvSpPr>
          <p:cNvPr id="16" name="Text 10"/>
          <p:cNvSpPr txBox="1"/>
          <p:nvPr/>
        </p:nvSpPr>
        <p:spPr>
          <a:xfrm>
            <a:off x="6245169" y="3246120"/>
            <a:ext cx="1600200" cy="457200"/>
          </a:xfrm>
          <a:prstGeom prst="rect">
            <a:avLst/>
          </a:prstGeom>
          <a:noFill/>
          <a:ln/>
        </p:spPr>
        <p:txBody>
          <a:bodyPr wrap="square" lIns="0" tIns="0" rIns="0" bIns="0" rtlCol="0" anchor="ctr"/>
          <a:lstStyle/>
          <a:p>
            <a:pPr algn="ctr" indent="0" marL="0">
              <a:buNone/>
            </a:pPr>
            <a:r>
              <a:rPr lang="en-US" sz="1500" b="1" dirty="0">
                <a:solidFill>
                  <a:srgbClr val="1B2229"/>
                </a:solidFill>
                <a:latin typeface="Calibri" pitchFamily="34" charset="0"/>
                <a:ea typeface="Calibri" pitchFamily="34" charset="-122"/>
                <a:cs typeface="Calibri" pitchFamily="34" charset="-120"/>
              </a:rPr>
              <a:t>Wafer fab</a:t>
            </a:r>
            <a:endParaRPr lang="en-US" sz="1500" dirty="0"/>
          </a:p>
        </p:txBody>
      </p:sp>
      <p:sp>
        <p:nvSpPr>
          <p:cNvPr id="17" name="Shape 11"/>
          <p:cNvSpPr/>
          <p:nvPr/>
        </p:nvSpPr>
        <p:spPr>
          <a:xfrm>
            <a:off x="8441192" y="2103120"/>
            <a:ext cx="1005840" cy="1005840"/>
          </a:xfrm>
          <a:prstGeom prst="roundRect">
            <a:avLst>
              <a:gd name="adj" fmla="val 7273"/>
            </a:avLst>
          </a:prstGeom>
          <a:solidFill>
            <a:srgbClr val="1B2229"/>
          </a:solidFill>
          <a:ln w="12700">
            <a:solidFill>
              <a:srgbClr val="1B2229"/>
            </a:solidFill>
            <a:prstDash val="solid"/>
          </a:ln>
        </p:spPr>
      </p:sp>
      <p:pic>
        <p:nvPicPr>
          <p:cNvPr id="18" name="Image 4" descr="preencoded.png">    </p:cNvPr>
          <p:cNvPicPr>
            <a:picLocks noChangeAspect="1"/>
          </p:cNvPicPr>
          <p:nvPr/>
        </p:nvPicPr>
        <p:blipFill>
          <a:blip r:embed="rId5"/>
          <a:stretch>
            <a:fillRect/>
          </a:stretch>
        </p:blipFill>
        <p:spPr>
          <a:xfrm>
            <a:off x="8662477" y="2324405"/>
            <a:ext cx="563270" cy="563270"/>
          </a:xfrm>
          <a:prstGeom prst="rect">
            <a:avLst/>
          </a:prstGeom>
        </p:spPr>
      </p:pic>
      <p:sp>
        <p:nvSpPr>
          <p:cNvPr id="19" name="Text 12"/>
          <p:cNvSpPr txBox="1"/>
          <p:nvPr/>
        </p:nvSpPr>
        <p:spPr>
          <a:xfrm>
            <a:off x="8144012" y="3246120"/>
            <a:ext cx="1600200" cy="457200"/>
          </a:xfrm>
          <a:prstGeom prst="rect">
            <a:avLst/>
          </a:prstGeom>
          <a:noFill/>
          <a:ln/>
        </p:spPr>
        <p:txBody>
          <a:bodyPr wrap="square" lIns="0" tIns="0" rIns="0" bIns="0" rtlCol="0" anchor="ctr"/>
          <a:lstStyle/>
          <a:p>
            <a:pPr algn="ctr" indent="0" marL="0">
              <a:buNone/>
            </a:pPr>
            <a:r>
              <a:rPr lang="en-US" sz="1500" b="1" dirty="0">
                <a:solidFill>
                  <a:srgbClr val="1B2229"/>
                </a:solidFill>
                <a:latin typeface="Calibri" pitchFamily="34" charset="0"/>
                <a:ea typeface="Calibri" pitchFamily="34" charset="-122"/>
                <a:cs typeface="Calibri" pitchFamily="34" charset="-120"/>
              </a:rPr>
              <a:t>Assembly &amp; test</a:t>
            </a:r>
            <a:endParaRPr lang="en-US" sz="1500" dirty="0"/>
          </a:p>
        </p:txBody>
      </p:sp>
      <p:sp>
        <p:nvSpPr>
          <p:cNvPr id="20" name="Shape 13"/>
          <p:cNvSpPr/>
          <p:nvPr/>
        </p:nvSpPr>
        <p:spPr>
          <a:xfrm>
            <a:off x="10340035" y="2103120"/>
            <a:ext cx="1005840" cy="1005840"/>
          </a:xfrm>
          <a:prstGeom prst="roundRect">
            <a:avLst>
              <a:gd name="adj" fmla="val 7273"/>
            </a:avLst>
          </a:prstGeom>
          <a:solidFill>
            <a:srgbClr val="1B2229"/>
          </a:solidFill>
          <a:ln w="12700">
            <a:solidFill>
              <a:srgbClr val="1B2229"/>
            </a:solidFill>
            <a:prstDash val="solid"/>
          </a:ln>
        </p:spPr>
      </p:sp>
      <p:pic>
        <p:nvPicPr>
          <p:cNvPr id="21" name="Image 5" descr="preencoded.png">    </p:cNvPr>
          <p:cNvPicPr>
            <a:picLocks noChangeAspect="1"/>
          </p:cNvPicPr>
          <p:nvPr/>
        </p:nvPicPr>
        <p:blipFill>
          <a:blip r:embed="rId6"/>
          <a:stretch>
            <a:fillRect/>
          </a:stretch>
        </p:blipFill>
        <p:spPr>
          <a:xfrm>
            <a:off x="10561320" y="2324405"/>
            <a:ext cx="563270" cy="563270"/>
          </a:xfrm>
          <a:prstGeom prst="rect">
            <a:avLst/>
          </a:prstGeom>
        </p:spPr>
      </p:pic>
      <p:sp>
        <p:nvSpPr>
          <p:cNvPr id="22" name="Text 14"/>
          <p:cNvSpPr txBox="1"/>
          <p:nvPr/>
        </p:nvSpPr>
        <p:spPr>
          <a:xfrm>
            <a:off x="10042855" y="3246120"/>
            <a:ext cx="1600200" cy="457200"/>
          </a:xfrm>
          <a:prstGeom prst="rect">
            <a:avLst/>
          </a:prstGeom>
          <a:noFill/>
          <a:ln/>
        </p:spPr>
        <p:txBody>
          <a:bodyPr wrap="square" lIns="0" tIns="0" rIns="0" bIns="0" rtlCol="0" anchor="ctr"/>
          <a:lstStyle/>
          <a:p>
            <a:pPr algn="ctr" indent="0" marL="0">
              <a:buNone/>
            </a:pPr>
            <a:r>
              <a:rPr lang="en-US" sz="1500" b="1" dirty="0">
                <a:solidFill>
                  <a:srgbClr val="1B2229"/>
                </a:solidFill>
                <a:latin typeface="Calibri" pitchFamily="34" charset="0"/>
                <a:ea typeface="Calibri" pitchFamily="34" charset="-122"/>
                <a:cs typeface="Calibri" pitchFamily="34" charset="-120"/>
              </a:rPr>
              <a:t>Customers</a:t>
            </a:r>
            <a:endParaRPr lang="en-US" sz="1500" dirty="0"/>
          </a:p>
        </p:txBody>
      </p:sp>
      <p:sp>
        <p:nvSpPr>
          <p:cNvPr id="23" name="Shape 15"/>
          <p:cNvSpPr/>
          <p:nvPr/>
        </p:nvSpPr>
        <p:spPr>
          <a:xfrm>
            <a:off x="548640" y="4069080"/>
            <a:ext cx="5394960" cy="1737360"/>
          </a:xfrm>
          <a:prstGeom prst="rect">
            <a:avLst/>
          </a:prstGeom>
          <a:solidFill>
            <a:srgbClr val="EEF1F4"/>
          </a:solidFill>
          <a:ln w="12700">
            <a:solidFill>
              <a:srgbClr val="EEF1F4"/>
            </a:solidFill>
            <a:prstDash val="solid"/>
          </a:ln>
        </p:spPr>
      </p:sp>
      <p:sp>
        <p:nvSpPr>
          <p:cNvPr id="24" name="Text 16"/>
          <p:cNvSpPr txBox="1"/>
          <p:nvPr/>
        </p:nvSpPr>
        <p:spPr>
          <a:xfrm>
            <a:off x="822960" y="4251960"/>
            <a:ext cx="4846320" cy="411480"/>
          </a:xfrm>
          <a:prstGeom prst="rect">
            <a:avLst/>
          </a:prstGeom>
          <a:noFill/>
          <a:ln/>
        </p:spPr>
        <p:txBody>
          <a:bodyPr wrap="square" lIns="0" tIns="0" rIns="0" bIns="0" rtlCol="0" anchor="ctr"/>
          <a:lstStyle/>
          <a:p>
            <a:pPr indent="0" marL="0">
              <a:buNone/>
            </a:pPr>
            <a:r>
              <a:rPr lang="en-US" sz="1800" b="1" dirty="0">
                <a:solidFill>
                  <a:srgbClr val="1B2229"/>
                </a:solidFill>
                <a:latin typeface="Calibri" pitchFamily="34" charset="0"/>
                <a:ea typeface="Calibri" pitchFamily="34" charset="-122"/>
                <a:cs typeface="Calibri" pitchFamily="34" charset="-120"/>
              </a:rPr>
              <a:t>Each step is specialized</a:t>
            </a:r>
            <a:endParaRPr lang="en-US" sz="1800" dirty="0"/>
          </a:p>
        </p:txBody>
      </p:sp>
      <p:sp>
        <p:nvSpPr>
          <p:cNvPr id="25" name="Text 17"/>
          <p:cNvSpPr txBox="1"/>
          <p:nvPr/>
        </p:nvSpPr>
        <p:spPr>
          <a:xfrm>
            <a:off x="822960" y="4709160"/>
            <a:ext cx="4846320" cy="960120"/>
          </a:xfrm>
          <a:prstGeom prst="rect">
            <a:avLst/>
          </a:prstGeom>
          <a:noFill/>
          <a:ln/>
        </p:spPr>
        <p:txBody>
          <a:bodyPr wrap="square" lIns="0" tIns="0" rIns="0" bIns="0" rtlCol="0" anchor="t"/>
          <a:lstStyle/>
          <a:p>
            <a:pPr indent="0" marL="0">
              <a:buNone/>
            </a:pPr>
            <a:r>
              <a:rPr lang="en-US" sz="1500" dirty="0">
                <a:solidFill>
                  <a:srgbClr val="5A6672"/>
                </a:solidFill>
                <a:latin typeface="Calibri" pitchFamily="34" charset="0"/>
                <a:ea typeface="Calibri" pitchFamily="34" charset="-122"/>
                <a:cs typeface="Calibri" pitchFamily="34" charset="-120"/>
              </a:rPr>
              <a:t>Few qualified sources exist for many inputs, and qualifying a new one takes months to years.</a:t>
            </a:r>
            <a:endParaRPr lang="en-US" sz="1500" dirty="0"/>
          </a:p>
        </p:txBody>
      </p:sp>
      <p:sp>
        <p:nvSpPr>
          <p:cNvPr id="26" name="Shape 18"/>
          <p:cNvSpPr/>
          <p:nvPr/>
        </p:nvSpPr>
        <p:spPr>
          <a:xfrm>
            <a:off x="6217920" y="4069080"/>
            <a:ext cx="5394960" cy="1737360"/>
          </a:xfrm>
          <a:prstGeom prst="rect">
            <a:avLst/>
          </a:prstGeom>
          <a:solidFill>
            <a:srgbClr val="EEF1F4"/>
          </a:solidFill>
          <a:ln w="12700">
            <a:solidFill>
              <a:srgbClr val="EEF1F4"/>
            </a:solidFill>
            <a:prstDash val="solid"/>
          </a:ln>
        </p:spPr>
      </p:sp>
      <p:sp>
        <p:nvSpPr>
          <p:cNvPr id="27" name="Text 19"/>
          <p:cNvSpPr txBox="1"/>
          <p:nvPr/>
        </p:nvSpPr>
        <p:spPr>
          <a:xfrm>
            <a:off x="6492240" y="4251960"/>
            <a:ext cx="4846320" cy="411480"/>
          </a:xfrm>
          <a:prstGeom prst="rect">
            <a:avLst/>
          </a:prstGeom>
          <a:noFill/>
          <a:ln/>
        </p:spPr>
        <p:txBody>
          <a:bodyPr wrap="square" lIns="0" tIns="0" rIns="0" bIns="0" rtlCol="0" anchor="ctr"/>
          <a:lstStyle/>
          <a:p>
            <a:pPr indent="0" marL="0">
              <a:buNone/>
            </a:pPr>
            <a:r>
              <a:rPr lang="en-US" sz="1800" b="1" dirty="0">
                <a:solidFill>
                  <a:srgbClr val="1B2229"/>
                </a:solidFill>
                <a:latin typeface="Calibri" pitchFamily="34" charset="0"/>
                <a:ea typeface="Calibri" pitchFamily="34" charset="-122"/>
                <a:cs typeface="Calibri" pitchFamily="34" charset="-120"/>
              </a:rPr>
              <a:t>Each hand-off can cross a border</a:t>
            </a:r>
            <a:endParaRPr lang="en-US" sz="1800" dirty="0"/>
          </a:p>
        </p:txBody>
      </p:sp>
      <p:sp>
        <p:nvSpPr>
          <p:cNvPr id="28" name="Text 20"/>
          <p:cNvSpPr txBox="1"/>
          <p:nvPr/>
        </p:nvSpPr>
        <p:spPr>
          <a:xfrm>
            <a:off x="6492240" y="4709160"/>
            <a:ext cx="4846320" cy="960120"/>
          </a:xfrm>
          <a:prstGeom prst="rect">
            <a:avLst/>
          </a:prstGeom>
          <a:noFill/>
          <a:ln/>
        </p:spPr>
        <p:txBody>
          <a:bodyPr wrap="square" lIns="0" tIns="0" rIns="0" bIns="0" rtlCol="0" anchor="t"/>
          <a:lstStyle/>
          <a:p>
            <a:pPr indent="0" marL="0">
              <a:buNone/>
            </a:pPr>
            <a:r>
              <a:rPr lang="en-US" sz="1500" dirty="0">
                <a:solidFill>
                  <a:srgbClr val="5A6672"/>
                </a:solidFill>
                <a:latin typeface="Calibri" pitchFamily="34" charset="0"/>
                <a:ea typeface="Calibri" pitchFamily="34" charset="-122"/>
                <a:cs typeface="Calibri" pitchFamily="34" charset="-120"/>
              </a:rPr>
              <a:t>Parts and materials often move through several countries before a finished chip ships, so trade policy, logistics, and local events all add risk.</a:t>
            </a:r>
            <a:endParaRPr lang="en-US" sz="1500" dirty="0"/>
          </a:p>
        </p:txBody>
      </p:sp>
      <p:sp>
        <p:nvSpPr>
          <p:cNvPr id="29" name="Text 21"/>
          <p:cNvSpPr txBox="1"/>
          <p:nvPr/>
        </p:nvSpPr>
        <p:spPr>
          <a:xfrm>
            <a:off x="8899855" y="6446520"/>
            <a:ext cx="2743200" cy="228600"/>
          </a:xfrm>
          <a:prstGeom prst="rect">
            <a:avLst/>
          </a:prstGeom>
          <a:noFill/>
          <a:ln/>
        </p:spPr>
        <p:txBody>
          <a:bodyPr wrap="square" lIns="0" tIns="0" rIns="0" bIns="0" rtlCol="0" anchor="ctr"/>
          <a:lstStyle/>
          <a:p>
            <a:pPr algn="r" indent="0" marL="0">
              <a:buNone/>
            </a:pPr>
            <a:r>
              <a:rPr lang="en-US" sz="900" dirty="0">
                <a:solidFill>
                  <a:srgbClr val="8A96A3"/>
                </a:solidFill>
                <a:latin typeface="Calibri" pitchFamily="34" charset="0"/>
                <a:ea typeface="Calibri" pitchFamily="34" charset="-122"/>
                <a:cs typeface="Calibri" pitchFamily="34" charset="-120"/>
              </a:rPr>
              <a:t>SEMICON West  |  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182880"/>
            <a:ext cx="7315200" cy="274320"/>
          </a:xfrm>
          <a:prstGeom prst="rect">
            <a:avLst/>
          </a:prstGeom>
          <a:noFill/>
          <a:ln/>
        </p:spPr>
        <p:txBody>
          <a:bodyPr wrap="square" lIns="0" tIns="0" rIns="0" bIns="0" rtlCol="0" anchor="ctr"/>
          <a:lstStyle/>
          <a:p>
            <a:pPr indent="0" marL="0">
              <a:buNone/>
            </a:pPr>
            <a:r>
              <a:rPr lang="en-US" sz="1100" b="1" spc="200" kern="0" dirty="0">
                <a:solidFill>
                  <a:srgbClr val="C46A2B"/>
                </a:solidFill>
                <a:latin typeface="Calibri" pitchFamily="34" charset="0"/>
                <a:ea typeface="Calibri" pitchFamily="34" charset="-122"/>
                <a:cs typeface="Calibri" pitchFamily="34" charset="-120"/>
              </a:rPr>
              <a:t>THE RISK MAP</a:t>
            </a:r>
            <a:endParaRPr lang="en-US" sz="1100" dirty="0"/>
          </a:p>
        </p:txBody>
      </p:sp>
      <p:sp>
        <p:nvSpPr>
          <p:cNvPr id="3" name="Text 1"/>
          <p:cNvSpPr txBox="1"/>
          <p:nvPr/>
        </p:nvSpPr>
        <p:spPr>
          <a:xfrm>
            <a:off x="548640" y="411480"/>
            <a:ext cx="11094415" cy="914400"/>
          </a:xfrm>
          <a:prstGeom prst="rect">
            <a:avLst/>
          </a:prstGeom>
          <a:noFill/>
          <a:ln/>
        </p:spPr>
        <p:txBody>
          <a:bodyPr wrap="square" lIns="0" tIns="0" rIns="0" bIns="0" rtlCol="0" anchor="t"/>
          <a:lstStyle/>
          <a:p>
            <a:pPr indent="0" marL="0">
              <a:buNone/>
            </a:pPr>
            <a:r>
              <a:rPr lang="en-US" sz="3400" b="1" dirty="0">
                <a:solidFill>
                  <a:srgbClr val="1B2229"/>
                </a:solidFill>
                <a:latin typeface="Calibri" pitchFamily="34" charset="0"/>
                <a:ea typeface="Calibri" pitchFamily="34" charset="-122"/>
                <a:cs typeface="Calibri" pitchFamily="34" charset="-120"/>
              </a:rPr>
              <a:t>Three pressures are tightening the chain right now</a:t>
            </a:r>
            <a:endParaRPr lang="en-US" sz="3400" dirty="0"/>
          </a:p>
        </p:txBody>
      </p:sp>
      <p:sp>
        <p:nvSpPr>
          <p:cNvPr id="4" name="Shape 2"/>
          <p:cNvSpPr/>
          <p:nvPr/>
        </p:nvSpPr>
        <p:spPr>
          <a:xfrm>
            <a:off x="548640" y="1645920"/>
            <a:ext cx="3520440" cy="3840480"/>
          </a:xfrm>
          <a:prstGeom prst="rect">
            <a:avLst/>
          </a:prstGeom>
          <a:solidFill>
            <a:srgbClr val="1B2229"/>
          </a:solidFill>
          <a:ln w="12700">
            <a:solidFill>
              <a:srgbClr val="1B2229"/>
            </a:solidFill>
            <a:prstDash val="solid"/>
          </a:ln>
        </p:spPr>
      </p:sp>
      <p:sp>
        <p:nvSpPr>
          <p:cNvPr id="5" name="Text 3"/>
          <p:cNvSpPr txBox="1"/>
          <p:nvPr/>
        </p:nvSpPr>
        <p:spPr>
          <a:xfrm>
            <a:off x="868680" y="1920240"/>
            <a:ext cx="2880360" cy="1005840"/>
          </a:xfrm>
          <a:prstGeom prst="rect">
            <a:avLst/>
          </a:prstGeom>
          <a:noFill/>
          <a:ln/>
        </p:spPr>
        <p:txBody>
          <a:bodyPr wrap="square" lIns="0" tIns="0" rIns="0" bIns="0" rtlCol="0" anchor="ctr"/>
          <a:lstStyle/>
          <a:p>
            <a:pPr indent="0" marL="0">
              <a:buNone/>
            </a:pPr>
            <a:r>
              <a:rPr lang="en-US" sz="5400" b="1" dirty="0">
                <a:solidFill>
                  <a:srgbClr val="C46A2B"/>
                </a:solidFill>
                <a:latin typeface="Calibri" pitchFamily="34" charset="0"/>
                <a:ea typeface="Calibri" pitchFamily="34" charset="-122"/>
                <a:cs typeface="Calibri" pitchFamily="34" charset="-120"/>
              </a:rPr>
              <a:t>100%</a:t>
            </a:r>
            <a:endParaRPr lang="en-US" sz="5400" dirty="0"/>
          </a:p>
        </p:txBody>
      </p:sp>
      <p:sp>
        <p:nvSpPr>
          <p:cNvPr id="6" name="Text 4"/>
          <p:cNvSpPr txBox="1"/>
          <p:nvPr/>
        </p:nvSpPr>
        <p:spPr>
          <a:xfrm>
            <a:off x="868680" y="3017520"/>
            <a:ext cx="2880360" cy="45720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Advanced logic in two places</a:t>
            </a:r>
            <a:endParaRPr lang="en-US" sz="1800" dirty="0"/>
          </a:p>
        </p:txBody>
      </p:sp>
      <p:sp>
        <p:nvSpPr>
          <p:cNvPr id="7" name="Text 5"/>
          <p:cNvSpPr txBox="1"/>
          <p:nvPr/>
        </p:nvSpPr>
        <p:spPr>
          <a:xfrm>
            <a:off x="868680" y="3520440"/>
            <a:ext cx="2880360" cy="1417320"/>
          </a:xfrm>
          <a:prstGeom prst="rect">
            <a:avLst/>
          </a:prstGeom>
          <a:noFill/>
          <a:ln/>
        </p:spPr>
        <p:txBody>
          <a:bodyPr wrap="square" lIns="0" tIns="0" rIns="0" bIns="0" rtlCol="0" anchor="t"/>
          <a:lstStyle/>
          <a:p>
            <a:pPr indent="0" marL="0">
              <a:buNone/>
            </a:pPr>
            <a:r>
              <a:rPr lang="en-US" sz="1400" dirty="0">
                <a:solidFill>
                  <a:srgbClr val="D5DBE1"/>
                </a:solidFill>
                <a:latin typeface="Calibri" pitchFamily="34" charset="0"/>
                <a:ea typeface="Calibri" pitchFamily="34" charset="-122"/>
                <a:cs typeface="Calibri" pitchFamily="34" charset="-120"/>
              </a:rPr>
              <a:t>In 2022, all sub-10 nm logic capacity was in Taiwan (69%) and South Korea (31%). A regional conflict or blockade would hit nearly every advanced product.</a:t>
            </a:r>
            <a:endParaRPr lang="en-US" sz="1400" dirty="0"/>
          </a:p>
        </p:txBody>
      </p:sp>
      <p:sp>
        <p:nvSpPr>
          <p:cNvPr id="8" name="Text 6"/>
          <p:cNvSpPr txBox="1"/>
          <p:nvPr/>
        </p:nvSpPr>
        <p:spPr>
          <a:xfrm>
            <a:off x="868680" y="5029200"/>
            <a:ext cx="2880360" cy="274320"/>
          </a:xfrm>
          <a:prstGeom prst="rect">
            <a:avLst/>
          </a:prstGeom>
          <a:noFill/>
          <a:ln/>
        </p:spPr>
        <p:txBody>
          <a:bodyPr wrap="square" lIns="0" tIns="0" rIns="0" bIns="0" rtlCol="0" anchor="ctr"/>
          <a:lstStyle/>
          <a:p>
            <a:pPr indent="0" marL="0">
              <a:buNone/>
            </a:pPr>
            <a:r>
              <a:rPr lang="en-US" sz="1000" i="1" dirty="0">
                <a:solidFill>
                  <a:srgbClr val="8A96A3"/>
                </a:solidFill>
                <a:latin typeface="Calibri" pitchFamily="34" charset="0"/>
                <a:ea typeface="Calibri" pitchFamily="34" charset="-122"/>
                <a:cs typeface="Calibri" pitchFamily="34" charset="-120"/>
              </a:rPr>
              <a:t>Source: SIA &amp; BCG (2024)</a:t>
            </a:r>
            <a:endParaRPr lang="en-US" sz="1000" dirty="0"/>
          </a:p>
        </p:txBody>
      </p:sp>
      <p:sp>
        <p:nvSpPr>
          <p:cNvPr id="9" name="Shape 7"/>
          <p:cNvSpPr/>
          <p:nvPr/>
        </p:nvSpPr>
        <p:spPr>
          <a:xfrm>
            <a:off x="4343400" y="1645920"/>
            <a:ext cx="3520440" cy="3840480"/>
          </a:xfrm>
          <a:prstGeom prst="rect">
            <a:avLst/>
          </a:prstGeom>
          <a:solidFill>
            <a:srgbClr val="EEF1F4"/>
          </a:solidFill>
          <a:ln w="12700">
            <a:solidFill>
              <a:srgbClr val="EEF1F4"/>
            </a:solidFill>
            <a:prstDash val="solid"/>
          </a:ln>
        </p:spPr>
      </p:sp>
      <p:sp>
        <p:nvSpPr>
          <p:cNvPr id="10" name="Text 8"/>
          <p:cNvSpPr txBox="1"/>
          <p:nvPr/>
        </p:nvSpPr>
        <p:spPr>
          <a:xfrm>
            <a:off x="4663440" y="1920240"/>
            <a:ext cx="2880360" cy="1005840"/>
          </a:xfrm>
          <a:prstGeom prst="rect">
            <a:avLst/>
          </a:prstGeom>
          <a:noFill/>
          <a:ln/>
        </p:spPr>
        <p:txBody>
          <a:bodyPr wrap="square" lIns="0" tIns="0" rIns="0" bIns="0" rtlCol="0" anchor="ctr"/>
          <a:lstStyle/>
          <a:p>
            <a:pPr indent="0" marL="0">
              <a:buNone/>
            </a:pPr>
            <a:r>
              <a:rPr lang="en-US" sz="5400" b="1" dirty="0">
                <a:solidFill>
                  <a:srgbClr val="C46A2B"/>
                </a:solidFill>
                <a:latin typeface="Calibri" pitchFamily="34" charset="0"/>
                <a:ea typeface="Calibri" pitchFamily="34" charset="-122"/>
                <a:cs typeface="Calibri" pitchFamily="34" charset="-120"/>
              </a:rPr>
              <a:t>99%</a:t>
            </a:r>
            <a:endParaRPr lang="en-US" sz="5400" dirty="0"/>
          </a:p>
        </p:txBody>
      </p:sp>
      <p:sp>
        <p:nvSpPr>
          <p:cNvPr id="11" name="Text 9"/>
          <p:cNvSpPr txBox="1"/>
          <p:nvPr/>
        </p:nvSpPr>
        <p:spPr>
          <a:xfrm>
            <a:off x="4663440" y="3017520"/>
            <a:ext cx="2880360" cy="457200"/>
          </a:xfrm>
          <a:prstGeom prst="rect">
            <a:avLst/>
          </a:prstGeom>
          <a:noFill/>
          <a:ln/>
        </p:spPr>
        <p:txBody>
          <a:bodyPr wrap="square" lIns="0" tIns="0" rIns="0" bIns="0" rtlCol="0" anchor="ctr"/>
          <a:lstStyle/>
          <a:p>
            <a:pPr indent="0" marL="0">
              <a:buNone/>
            </a:pPr>
            <a:r>
              <a:rPr lang="en-US" sz="1800" b="1" dirty="0">
                <a:solidFill>
                  <a:srgbClr val="1B2229"/>
                </a:solidFill>
                <a:latin typeface="Calibri" pitchFamily="34" charset="0"/>
                <a:ea typeface="Calibri" pitchFamily="34" charset="-122"/>
                <a:cs typeface="Calibri" pitchFamily="34" charset="-120"/>
              </a:rPr>
              <a:t>Gallium from one country</a:t>
            </a:r>
            <a:endParaRPr lang="en-US" sz="1800" dirty="0"/>
          </a:p>
        </p:txBody>
      </p:sp>
      <p:sp>
        <p:nvSpPr>
          <p:cNvPr id="12" name="Text 10"/>
          <p:cNvSpPr txBox="1"/>
          <p:nvPr/>
        </p:nvSpPr>
        <p:spPr>
          <a:xfrm>
            <a:off x="4663440" y="3520440"/>
            <a:ext cx="2880360" cy="1417320"/>
          </a:xfrm>
          <a:prstGeom prst="rect">
            <a:avLst/>
          </a:prstGeom>
          <a:noFill/>
          <a:ln/>
        </p:spPr>
        <p:txBody>
          <a:bodyPr wrap="square" lIns="0" tIns="0" rIns="0" bIns="0" rtlCol="0" anchor="t"/>
          <a:lstStyle/>
          <a:p>
            <a:pPr indent="0" marL="0">
              <a:buNone/>
            </a:pPr>
            <a:r>
              <a:rPr lang="en-US" sz="1400" dirty="0">
                <a:solidFill>
                  <a:srgbClr val="5A6672"/>
                </a:solidFill>
                <a:latin typeface="Calibri" pitchFamily="34" charset="0"/>
                <a:ea typeface="Calibri" pitchFamily="34" charset="-122"/>
                <a:cs typeface="Calibri" pitchFamily="34" charset="-120"/>
              </a:rPr>
              <a:t>China produced 99% of the world's primary gallium in 2024, and has put export licensing and bans on gallium and germanium since 2023.</a:t>
            </a:r>
            <a:endParaRPr lang="en-US" sz="1400" dirty="0"/>
          </a:p>
        </p:txBody>
      </p:sp>
      <p:sp>
        <p:nvSpPr>
          <p:cNvPr id="13" name="Text 11"/>
          <p:cNvSpPr txBox="1"/>
          <p:nvPr/>
        </p:nvSpPr>
        <p:spPr>
          <a:xfrm>
            <a:off x="4663440" y="5029200"/>
            <a:ext cx="2880360" cy="274320"/>
          </a:xfrm>
          <a:prstGeom prst="rect">
            <a:avLst/>
          </a:prstGeom>
          <a:noFill/>
          <a:ln/>
        </p:spPr>
        <p:txBody>
          <a:bodyPr wrap="square" lIns="0" tIns="0" rIns="0" bIns="0" rtlCol="0" anchor="ctr"/>
          <a:lstStyle/>
          <a:p>
            <a:pPr indent="0" marL="0">
              <a:buNone/>
            </a:pPr>
            <a:r>
              <a:rPr lang="en-US" sz="1000" i="1" dirty="0">
                <a:solidFill>
                  <a:srgbClr val="8A96A3"/>
                </a:solidFill>
                <a:latin typeface="Calibri" pitchFamily="34" charset="0"/>
                <a:ea typeface="Calibri" pitchFamily="34" charset="-122"/>
                <a:cs typeface="Calibri" pitchFamily="34" charset="-120"/>
              </a:rPr>
              <a:t>Source: USGS Mineral Commodity Summaries 2025</a:t>
            </a:r>
            <a:endParaRPr lang="en-US" sz="1000" dirty="0"/>
          </a:p>
        </p:txBody>
      </p:sp>
      <p:sp>
        <p:nvSpPr>
          <p:cNvPr id="14" name="Shape 12"/>
          <p:cNvSpPr/>
          <p:nvPr/>
        </p:nvSpPr>
        <p:spPr>
          <a:xfrm>
            <a:off x="8138160" y="1645920"/>
            <a:ext cx="3520440" cy="3840480"/>
          </a:xfrm>
          <a:prstGeom prst="rect">
            <a:avLst/>
          </a:prstGeom>
          <a:solidFill>
            <a:srgbClr val="EEF1F4"/>
          </a:solidFill>
          <a:ln w="12700">
            <a:solidFill>
              <a:srgbClr val="EEF1F4"/>
            </a:solidFill>
            <a:prstDash val="solid"/>
          </a:ln>
        </p:spPr>
      </p:sp>
      <p:sp>
        <p:nvSpPr>
          <p:cNvPr id="15" name="Text 13"/>
          <p:cNvSpPr txBox="1"/>
          <p:nvPr/>
        </p:nvSpPr>
        <p:spPr>
          <a:xfrm>
            <a:off x="8458200" y="1920240"/>
            <a:ext cx="2880360" cy="1005840"/>
          </a:xfrm>
          <a:prstGeom prst="rect">
            <a:avLst/>
          </a:prstGeom>
          <a:noFill/>
          <a:ln/>
        </p:spPr>
        <p:txBody>
          <a:bodyPr wrap="square" lIns="0" tIns="0" rIns="0" bIns="0" rtlCol="0" anchor="ctr"/>
          <a:lstStyle/>
          <a:p>
            <a:pPr indent="0" marL="0">
              <a:buNone/>
            </a:pPr>
            <a:r>
              <a:rPr lang="en-US" sz="5400" b="1" dirty="0">
                <a:solidFill>
                  <a:srgbClr val="C46A2B"/>
                </a:solidFill>
                <a:latin typeface="Calibri" pitchFamily="34" charset="0"/>
                <a:ea typeface="Calibri" pitchFamily="34" charset="-122"/>
                <a:cs typeface="Calibri" pitchFamily="34" charset="-120"/>
              </a:rPr>
              <a:t>HBM</a:t>
            </a:r>
            <a:endParaRPr lang="en-US" sz="5400" dirty="0"/>
          </a:p>
        </p:txBody>
      </p:sp>
      <p:sp>
        <p:nvSpPr>
          <p:cNvPr id="16" name="Text 14"/>
          <p:cNvSpPr txBox="1"/>
          <p:nvPr/>
        </p:nvSpPr>
        <p:spPr>
          <a:xfrm>
            <a:off x="8458200" y="3017520"/>
            <a:ext cx="2880360" cy="457200"/>
          </a:xfrm>
          <a:prstGeom prst="rect">
            <a:avLst/>
          </a:prstGeom>
          <a:noFill/>
          <a:ln/>
        </p:spPr>
        <p:txBody>
          <a:bodyPr wrap="square" lIns="0" tIns="0" rIns="0" bIns="0" rtlCol="0" anchor="ctr"/>
          <a:lstStyle/>
          <a:p>
            <a:pPr indent="0" marL="0">
              <a:buNone/>
            </a:pPr>
            <a:r>
              <a:rPr lang="en-US" sz="1800" b="1" dirty="0">
                <a:solidFill>
                  <a:srgbClr val="1B2229"/>
                </a:solidFill>
                <a:latin typeface="Calibri" pitchFamily="34" charset="0"/>
                <a:ea typeface="Calibri" pitchFamily="34" charset="-122"/>
                <a:cs typeface="Calibri" pitchFamily="34" charset="-120"/>
              </a:rPr>
              <a:t>AI demand absorbs capacity</a:t>
            </a:r>
            <a:endParaRPr lang="en-US" sz="1800" dirty="0"/>
          </a:p>
        </p:txBody>
      </p:sp>
      <p:sp>
        <p:nvSpPr>
          <p:cNvPr id="17" name="Text 15"/>
          <p:cNvSpPr txBox="1"/>
          <p:nvPr/>
        </p:nvSpPr>
        <p:spPr>
          <a:xfrm>
            <a:off x="8458200" y="3520440"/>
            <a:ext cx="2880360" cy="1417320"/>
          </a:xfrm>
          <a:prstGeom prst="rect">
            <a:avLst/>
          </a:prstGeom>
          <a:noFill/>
          <a:ln/>
        </p:spPr>
        <p:txBody>
          <a:bodyPr wrap="square" lIns="0" tIns="0" rIns="0" bIns="0" rtlCol="0" anchor="t"/>
          <a:lstStyle/>
          <a:p>
            <a:pPr indent="0" marL="0">
              <a:buNone/>
            </a:pPr>
            <a:r>
              <a:rPr lang="en-US" sz="1400" dirty="0">
                <a:solidFill>
                  <a:srgbClr val="5A6672"/>
                </a:solidFill>
                <a:latin typeface="Calibri" pitchFamily="34" charset="0"/>
                <a:ea typeface="Calibri" pitchFamily="34" charset="-122"/>
                <a:cs typeface="Calibri" pitchFamily="34" charset="-120"/>
              </a:rPr>
              <a:t>Demand for high-bandwidth memory and AI hardware has stretched lead times and strained sub-10 nm fab capacity.</a:t>
            </a:r>
            <a:endParaRPr lang="en-US" sz="1400" dirty="0"/>
          </a:p>
        </p:txBody>
      </p:sp>
      <p:sp>
        <p:nvSpPr>
          <p:cNvPr id="18" name="Text 16"/>
          <p:cNvSpPr txBox="1"/>
          <p:nvPr/>
        </p:nvSpPr>
        <p:spPr>
          <a:xfrm>
            <a:off x="8458200" y="5029200"/>
            <a:ext cx="2880360" cy="274320"/>
          </a:xfrm>
          <a:prstGeom prst="rect">
            <a:avLst/>
          </a:prstGeom>
          <a:noFill/>
          <a:ln/>
        </p:spPr>
        <p:txBody>
          <a:bodyPr wrap="square" lIns="0" tIns="0" rIns="0" bIns="0" rtlCol="0" anchor="ctr"/>
          <a:lstStyle/>
          <a:p>
            <a:pPr indent="0" marL="0">
              <a:buNone/>
            </a:pPr>
            <a:r>
              <a:rPr lang="en-US" sz="1000" i="1" dirty="0">
                <a:solidFill>
                  <a:srgbClr val="8A96A3"/>
                </a:solidFill>
                <a:latin typeface="Calibri" pitchFamily="34" charset="0"/>
                <a:ea typeface="Calibri" pitchFamily="34" charset="-122"/>
                <a:cs typeface="Calibri" pitchFamily="34" charset="-120"/>
              </a:rPr>
              <a:t>Source: Altium</a:t>
            </a:r>
            <a:endParaRPr lang="en-US" sz="1000" dirty="0"/>
          </a:p>
        </p:txBody>
      </p:sp>
      <p:sp>
        <p:nvSpPr>
          <p:cNvPr id="19" name="Text 17"/>
          <p:cNvSpPr txBox="1"/>
          <p:nvPr/>
        </p:nvSpPr>
        <p:spPr>
          <a:xfrm>
            <a:off x="548640" y="5760720"/>
            <a:ext cx="11094415" cy="411480"/>
          </a:xfrm>
          <a:prstGeom prst="rect">
            <a:avLst/>
          </a:prstGeom>
          <a:noFill/>
          <a:ln/>
        </p:spPr>
        <p:txBody>
          <a:bodyPr wrap="square" lIns="0" tIns="0" rIns="0" bIns="0" rtlCol="0" anchor="ctr"/>
          <a:lstStyle/>
          <a:p>
            <a:pPr indent="0" marL="0">
              <a:buNone/>
            </a:pPr>
            <a:r>
              <a:rPr lang="en-US" sz="1600" i="1" dirty="0">
                <a:solidFill>
                  <a:srgbClr val="C46A2B"/>
                </a:solidFill>
                <a:latin typeface="Calibri" pitchFamily="34" charset="0"/>
                <a:ea typeface="Calibri" pitchFamily="34" charset="-122"/>
                <a:cs typeface="Calibri" pitchFamily="34" charset="-120"/>
              </a:rPr>
              <a:t>Each one lands on a node most companies can't see well today.</a:t>
            </a:r>
            <a:endParaRPr lang="en-US" sz="1600" dirty="0"/>
          </a:p>
        </p:txBody>
      </p:sp>
      <p:sp>
        <p:nvSpPr>
          <p:cNvPr id="20" name="Text 18"/>
          <p:cNvSpPr txBox="1"/>
          <p:nvPr/>
        </p:nvSpPr>
        <p:spPr>
          <a:xfrm>
            <a:off x="8899855" y="6446520"/>
            <a:ext cx="2743200" cy="228600"/>
          </a:xfrm>
          <a:prstGeom prst="rect">
            <a:avLst/>
          </a:prstGeom>
          <a:noFill/>
          <a:ln/>
        </p:spPr>
        <p:txBody>
          <a:bodyPr wrap="square" lIns="0" tIns="0" rIns="0" bIns="0" rtlCol="0" anchor="ctr"/>
          <a:lstStyle/>
          <a:p>
            <a:pPr algn="r" indent="0" marL="0">
              <a:buNone/>
            </a:pPr>
            <a:r>
              <a:rPr lang="en-US" sz="900" dirty="0">
                <a:solidFill>
                  <a:srgbClr val="8A96A3"/>
                </a:solidFill>
                <a:latin typeface="Calibri" pitchFamily="34" charset="0"/>
                <a:ea typeface="Calibri" pitchFamily="34" charset="-122"/>
                <a:cs typeface="Calibri" pitchFamily="34" charset="-120"/>
              </a:rPr>
              <a:t>SEMICON West  |  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182880"/>
            <a:ext cx="7315200" cy="274320"/>
          </a:xfrm>
          <a:prstGeom prst="rect">
            <a:avLst/>
          </a:prstGeom>
          <a:noFill/>
          <a:ln/>
        </p:spPr>
        <p:txBody>
          <a:bodyPr wrap="square" lIns="0" tIns="0" rIns="0" bIns="0" rtlCol="0" anchor="ctr"/>
          <a:lstStyle/>
          <a:p>
            <a:pPr indent="0" marL="0">
              <a:buNone/>
            </a:pPr>
            <a:r>
              <a:rPr lang="en-US" sz="1100" b="1" spc="200" kern="0" dirty="0">
                <a:solidFill>
                  <a:srgbClr val="C46A2B"/>
                </a:solidFill>
                <a:latin typeface="Calibri" pitchFamily="34" charset="0"/>
                <a:ea typeface="Calibri" pitchFamily="34" charset="-122"/>
                <a:cs typeface="Calibri" pitchFamily="34" charset="-120"/>
              </a:rPr>
              <a:t>THE RISK MAP</a:t>
            </a:r>
            <a:endParaRPr lang="en-US" sz="1100" dirty="0"/>
          </a:p>
        </p:txBody>
      </p:sp>
      <p:sp>
        <p:nvSpPr>
          <p:cNvPr id="3" name="Text 1"/>
          <p:cNvSpPr txBox="1"/>
          <p:nvPr/>
        </p:nvSpPr>
        <p:spPr>
          <a:xfrm>
            <a:off x="548640" y="411480"/>
            <a:ext cx="11094415" cy="914400"/>
          </a:xfrm>
          <a:prstGeom prst="rect">
            <a:avLst/>
          </a:prstGeom>
          <a:noFill/>
          <a:ln/>
        </p:spPr>
        <p:txBody>
          <a:bodyPr wrap="square" lIns="0" tIns="0" rIns="0" bIns="0" rtlCol="0" anchor="t"/>
          <a:lstStyle/>
          <a:p>
            <a:pPr indent="0" marL="0">
              <a:buNone/>
            </a:pPr>
            <a:r>
              <a:rPr lang="en-US" sz="3400" b="1" dirty="0">
                <a:solidFill>
                  <a:srgbClr val="1B2229"/>
                </a:solidFill>
                <a:latin typeface="Calibri" pitchFamily="34" charset="0"/>
                <a:ea typeface="Calibri" pitchFamily="34" charset="-122"/>
                <a:cs typeface="Calibri" pitchFamily="34" charset="-120"/>
              </a:rPr>
              <a:t>Advanced logic stays concentrated as new fabs arrive</a:t>
            </a:r>
            <a:endParaRPr lang="en-US" sz="3400" dirty="0"/>
          </a:p>
        </p:txBody>
      </p:sp>
      <p:graphicFrame>
        <p:nvGraphicFramePr>
          <p:cNvPr id="4" name="Chart 0" descr=""/>
          <p:cNvGraphicFramePr/>
          <p:nvPr/>
        </p:nvGraphicFramePr>
        <p:xfrm>
          <a:off x="548640" y="1508760"/>
          <a:ext cx="7406640" cy="443484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8321040" y="1600200"/>
            <a:ext cx="3322015" cy="1234440"/>
          </a:xfrm>
          <a:prstGeom prst="rect">
            <a:avLst/>
          </a:prstGeom>
          <a:solidFill>
            <a:srgbClr val="F6E6DA"/>
          </a:solidFill>
          <a:ln w="12700">
            <a:solidFill>
              <a:srgbClr val="F6E6DA"/>
            </a:solidFill>
            <a:prstDash val="solid"/>
          </a:ln>
        </p:spPr>
      </p:sp>
      <p:sp>
        <p:nvSpPr>
          <p:cNvPr id="6" name="Text 3"/>
          <p:cNvSpPr txBox="1"/>
          <p:nvPr/>
        </p:nvSpPr>
        <p:spPr>
          <a:xfrm>
            <a:off x="8549640" y="1709928"/>
            <a:ext cx="2864815" cy="566928"/>
          </a:xfrm>
          <a:prstGeom prst="rect">
            <a:avLst/>
          </a:prstGeom>
          <a:noFill/>
          <a:ln/>
        </p:spPr>
        <p:txBody>
          <a:bodyPr wrap="square" lIns="0" tIns="0" rIns="0" bIns="0" rtlCol="0" anchor="ctr"/>
          <a:lstStyle/>
          <a:p>
            <a:pPr indent="0" marL="0">
              <a:buNone/>
            </a:pPr>
            <a:r>
              <a:rPr lang="en-US" sz="3000" b="1" dirty="0">
                <a:solidFill>
                  <a:srgbClr val="1B2229"/>
                </a:solidFill>
                <a:latin typeface="Calibri" pitchFamily="34" charset="0"/>
                <a:ea typeface="Calibri" pitchFamily="34" charset="-122"/>
                <a:cs typeface="Calibri" pitchFamily="34" charset="-120"/>
              </a:rPr>
              <a:t>2 places</a:t>
            </a:r>
            <a:endParaRPr lang="en-US" sz="3000" dirty="0"/>
          </a:p>
        </p:txBody>
      </p:sp>
      <p:sp>
        <p:nvSpPr>
          <p:cNvPr id="7" name="Text 4"/>
          <p:cNvSpPr txBox="1"/>
          <p:nvPr/>
        </p:nvSpPr>
        <p:spPr>
          <a:xfrm>
            <a:off x="8549640" y="2276856"/>
            <a:ext cx="2864815" cy="457200"/>
          </a:xfrm>
          <a:prstGeom prst="rect">
            <a:avLst/>
          </a:prstGeom>
          <a:noFill/>
          <a:ln/>
        </p:spPr>
        <p:txBody>
          <a:bodyPr wrap="square" lIns="0" tIns="0" rIns="0" bIns="0" rtlCol="0" anchor="t"/>
          <a:lstStyle/>
          <a:p>
            <a:pPr indent="0" marL="0">
              <a:buNone/>
            </a:pPr>
            <a:r>
              <a:rPr lang="en-US" sz="1300" dirty="0">
                <a:solidFill>
                  <a:srgbClr val="5A6672"/>
                </a:solidFill>
                <a:latin typeface="Calibri" pitchFamily="34" charset="0"/>
                <a:ea typeface="Calibri" pitchFamily="34" charset="-122"/>
                <a:cs typeface="Calibri" pitchFamily="34" charset="-120"/>
              </a:rPr>
              <a:t>held all sub-10 nm logic capacity in 2022</a:t>
            </a:r>
            <a:endParaRPr lang="en-US" sz="1300" dirty="0"/>
          </a:p>
        </p:txBody>
      </p:sp>
      <p:sp>
        <p:nvSpPr>
          <p:cNvPr id="8" name="Shape 5"/>
          <p:cNvSpPr/>
          <p:nvPr/>
        </p:nvSpPr>
        <p:spPr>
          <a:xfrm>
            <a:off x="8321040" y="3017520"/>
            <a:ext cx="3322015" cy="1234440"/>
          </a:xfrm>
          <a:prstGeom prst="rect">
            <a:avLst/>
          </a:prstGeom>
          <a:solidFill>
            <a:srgbClr val="EEF1F4"/>
          </a:solidFill>
          <a:ln w="12700">
            <a:solidFill>
              <a:srgbClr val="EEF1F4"/>
            </a:solidFill>
            <a:prstDash val="solid"/>
          </a:ln>
        </p:spPr>
      </p:sp>
      <p:sp>
        <p:nvSpPr>
          <p:cNvPr id="9" name="Text 6"/>
          <p:cNvSpPr txBox="1"/>
          <p:nvPr/>
        </p:nvSpPr>
        <p:spPr>
          <a:xfrm>
            <a:off x="8549640" y="3127248"/>
            <a:ext cx="2864815" cy="566928"/>
          </a:xfrm>
          <a:prstGeom prst="rect">
            <a:avLst/>
          </a:prstGeom>
          <a:noFill/>
          <a:ln/>
        </p:spPr>
        <p:txBody>
          <a:bodyPr wrap="square" lIns="0" tIns="0" rIns="0" bIns="0" rtlCol="0" anchor="ctr"/>
          <a:lstStyle/>
          <a:p>
            <a:pPr indent="0" marL="0">
              <a:buNone/>
            </a:pPr>
            <a:r>
              <a:rPr lang="en-US" sz="3000" b="1" dirty="0">
                <a:solidFill>
                  <a:srgbClr val="1B2229"/>
                </a:solidFill>
                <a:latin typeface="Calibri" pitchFamily="34" charset="0"/>
                <a:ea typeface="Calibri" pitchFamily="34" charset="-122"/>
                <a:cs typeface="Calibri" pitchFamily="34" charset="-120"/>
              </a:rPr>
              <a:t>47%</a:t>
            </a:r>
            <a:endParaRPr lang="en-US" sz="3000" dirty="0"/>
          </a:p>
        </p:txBody>
      </p:sp>
      <p:sp>
        <p:nvSpPr>
          <p:cNvPr id="10" name="Text 7"/>
          <p:cNvSpPr txBox="1"/>
          <p:nvPr/>
        </p:nvSpPr>
        <p:spPr>
          <a:xfrm>
            <a:off x="8549640" y="3694176"/>
            <a:ext cx="2864815" cy="457200"/>
          </a:xfrm>
          <a:prstGeom prst="rect">
            <a:avLst/>
          </a:prstGeom>
          <a:noFill/>
          <a:ln/>
        </p:spPr>
        <p:txBody>
          <a:bodyPr wrap="square" lIns="0" tIns="0" rIns="0" bIns="0" rtlCol="0" anchor="t"/>
          <a:lstStyle/>
          <a:p>
            <a:pPr indent="0" marL="0">
              <a:buNone/>
            </a:pPr>
            <a:r>
              <a:rPr lang="en-US" sz="1300" dirty="0">
                <a:solidFill>
                  <a:srgbClr val="5A6672"/>
                </a:solidFill>
                <a:latin typeface="Calibri" pitchFamily="34" charset="0"/>
                <a:ea typeface="Calibri" pitchFamily="34" charset="-122"/>
                <a:cs typeface="Calibri" pitchFamily="34" charset="-120"/>
              </a:rPr>
              <a:t>Taiwan's projected share in 2032, still the largest</a:t>
            </a:r>
            <a:endParaRPr lang="en-US" sz="1300" dirty="0"/>
          </a:p>
        </p:txBody>
      </p:sp>
      <p:sp>
        <p:nvSpPr>
          <p:cNvPr id="11" name="Shape 8"/>
          <p:cNvSpPr/>
          <p:nvPr/>
        </p:nvSpPr>
        <p:spPr>
          <a:xfrm>
            <a:off x="8321040" y="4434840"/>
            <a:ext cx="3322015" cy="1234440"/>
          </a:xfrm>
          <a:prstGeom prst="rect">
            <a:avLst/>
          </a:prstGeom>
          <a:solidFill>
            <a:srgbClr val="EEF1F4"/>
          </a:solidFill>
          <a:ln w="12700">
            <a:solidFill>
              <a:srgbClr val="EEF1F4"/>
            </a:solidFill>
            <a:prstDash val="solid"/>
          </a:ln>
        </p:spPr>
      </p:sp>
      <p:sp>
        <p:nvSpPr>
          <p:cNvPr id="12" name="Text 9"/>
          <p:cNvSpPr txBox="1"/>
          <p:nvPr/>
        </p:nvSpPr>
        <p:spPr>
          <a:xfrm>
            <a:off x="8549640" y="4544568"/>
            <a:ext cx="2864815" cy="566928"/>
          </a:xfrm>
          <a:prstGeom prst="rect">
            <a:avLst/>
          </a:prstGeom>
          <a:noFill/>
          <a:ln/>
        </p:spPr>
        <p:txBody>
          <a:bodyPr wrap="square" lIns="0" tIns="0" rIns="0" bIns="0" rtlCol="0" anchor="ctr"/>
          <a:lstStyle/>
          <a:p>
            <a:pPr indent="0" marL="0">
              <a:buNone/>
            </a:pPr>
            <a:r>
              <a:rPr lang="en-US" sz="3000" b="1" dirty="0">
                <a:solidFill>
                  <a:srgbClr val="1B2229"/>
                </a:solidFill>
                <a:latin typeface="Calibri" pitchFamily="34" charset="0"/>
                <a:ea typeface="Calibri" pitchFamily="34" charset="-122"/>
                <a:cs typeface="Calibri" pitchFamily="34" charset="-120"/>
              </a:rPr>
              <a:t>28%</a:t>
            </a:r>
            <a:endParaRPr lang="en-US" sz="3000" dirty="0"/>
          </a:p>
        </p:txBody>
      </p:sp>
      <p:sp>
        <p:nvSpPr>
          <p:cNvPr id="13" name="Text 10"/>
          <p:cNvSpPr txBox="1"/>
          <p:nvPr/>
        </p:nvSpPr>
        <p:spPr>
          <a:xfrm>
            <a:off x="8549640" y="5111496"/>
            <a:ext cx="2864815" cy="457200"/>
          </a:xfrm>
          <a:prstGeom prst="rect">
            <a:avLst/>
          </a:prstGeom>
          <a:noFill/>
          <a:ln/>
        </p:spPr>
        <p:txBody>
          <a:bodyPr wrap="square" lIns="0" tIns="0" rIns="0" bIns="0" rtlCol="0" anchor="t"/>
          <a:lstStyle/>
          <a:p>
            <a:pPr indent="0" marL="0">
              <a:buNone/>
            </a:pPr>
            <a:r>
              <a:rPr lang="en-US" sz="1300" dirty="0">
                <a:solidFill>
                  <a:srgbClr val="5A6672"/>
                </a:solidFill>
                <a:latin typeface="Calibri" pitchFamily="34" charset="0"/>
                <a:ea typeface="Calibri" pitchFamily="34" charset="-122"/>
                <a:cs typeface="Calibri" pitchFamily="34" charset="-120"/>
              </a:rPr>
              <a:t>projected U.S. share by 2032, up from 0%</a:t>
            </a:r>
            <a:endParaRPr lang="en-US" sz="1300" dirty="0"/>
          </a:p>
        </p:txBody>
      </p:sp>
      <p:sp>
        <p:nvSpPr>
          <p:cNvPr id="14" name="Text 11"/>
          <p:cNvSpPr txBox="1"/>
          <p:nvPr/>
        </p:nvSpPr>
        <p:spPr>
          <a:xfrm>
            <a:off x="548640" y="6035040"/>
            <a:ext cx="11094415" cy="320040"/>
          </a:xfrm>
          <a:prstGeom prst="rect">
            <a:avLst/>
          </a:prstGeom>
          <a:noFill/>
          <a:ln/>
        </p:spPr>
        <p:txBody>
          <a:bodyPr wrap="square" lIns="0" tIns="0" rIns="0" bIns="0" rtlCol="0" anchor="ctr"/>
          <a:lstStyle/>
          <a:p>
            <a:pPr indent="0" marL="0">
              <a:buNone/>
            </a:pPr>
            <a:r>
              <a:rPr lang="en-US" sz="1000" i="1" dirty="0">
                <a:solidFill>
                  <a:srgbClr val="8A96A3"/>
                </a:solidFill>
                <a:latin typeface="Calibri" pitchFamily="34" charset="0"/>
                <a:ea typeface="Calibri" pitchFamily="34" charset="-122"/>
                <a:cs typeface="Calibri" pitchFamily="34" charset="-120"/>
              </a:rPr>
              <a:t>Source: SIA &amp; BCG, Emerging Resilience in the Semiconductor Supply Chain (May 2024). 2032 values are projections; the remaining ~5% in 2032 includes China and other regions.</a:t>
            </a:r>
            <a:endParaRPr lang="en-US" sz="1000" dirty="0"/>
          </a:p>
        </p:txBody>
      </p:sp>
      <p:sp>
        <p:nvSpPr>
          <p:cNvPr id="15" name="Text 12"/>
          <p:cNvSpPr txBox="1"/>
          <p:nvPr/>
        </p:nvSpPr>
        <p:spPr>
          <a:xfrm>
            <a:off x="8899855" y="6446520"/>
            <a:ext cx="2743200" cy="228600"/>
          </a:xfrm>
          <a:prstGeom prst="rect">
            <a:avLst/>
          </a:prstGeom>
          <a:noFill/>
          <a:ln/>
        </p:spPr>
        <p:txBody>
          <a:bodyPr wrap="square" lIns="0" tIns="0" rIns="0" bIns="0" rtlCol="0" anchor="ctr"/>
          <a:lstStyle/>
          <a:p>
            <a:pPr algn="r" indent="0" marL="0">
              <a:buNone/>
            </a:pPr>
            <a:r>
              <a:rPr lang="en-US" sz="900" dirty="0">
                <a:solidFill>
                  <a:srgbClr val="8A96A3"/>
                </a:solidFill>
                <a:latin typeface="Calibri" pitchFamily="34" charset="0"/>
                <a:ea typeface="Calibri" pitchFamily="34" charset="-122"/>
                <a:cs typeface="Calibri" pitchFamily="34" charset="-120"/>
              </a:rPr>
              <a:t>SEMICON West  |  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182880"/>
            <a:ext cx="7315200" cy="274320"/>
          </a:xfrm>
          <a:prstGeom prst="rect">
            <a:avLst/>
          </a:prstGeom>
          <a:noFill/>
          <a:ln/>
        </p:spPr>
        <p:txBody>
          <a:bodyPr wrap="square" lIns="0" tIns="0" rIns="0" bIns="0" rtlCol="0" anchor="ctr"/>
          <a:lstStyle/>
          <a:p>
            <a:pPr indent="0" marL="0">
              <a:buNone/>
            </a:pPr>
            <a:r>
              <a:rPr lang="en-US" sz="1100" b="1" spc="200" kern="0" dirty="0">
                <a:solidFill>
                  <a:srgbClr val="C46A2B"/>
                </a:solidFill>
                <a:latin typeface="Calibri" pitchFamily="34" charset="0"/>
                <a:ea typeface="Calibri" pitchFamily="34" charset="-122"/>
                <a:cs typeface="Calibri" pitchFamily="34" charset="-120"/>
              </a:rPr>
              <a:t>THE RISK MAP</a:t>
            </a:r>
            <a:endParaRPr lang="en-US" sz="1100" dirty="0"/>
          </a:p>
        </p:txBody>
      </p:sp>
      <p:sp>
        <p:nvSpPr>
          <p:cNvPr id="3" name="Text 1"/>
          <p:cNvSpPr txBox="1"/>
          <p:nvPr/>
        </p:nvSpPr>
        <p:spPr>
          <a:xfrm>
            <a:off x="548640" y="411480"/>
            <a:ext cx="11094415" cy="914400"/>
          </a:xfrm>
          <a:prstGeom prst="rect">
            <a:avLst/>
          </a:prstGeom>
          <a:noFill/>
          <a:ln/>
        </p:spPr>
        <p:txBody>
          <a:bodyPr wrap="square" lIns="0" tIns="0" rIns="0" bIns="0" rtlCol="0" anchor="t"/>
          <a:lstStyle/>
          <a:p>
            <a:pPr indent="0" marL="0">
              <a:buNone/>
            </a:pPr>
            <a:r>
              <a:rPr lang="en-US" sz="3400" b="1" dirty="0">
                <a:solidFill>
                  <a:srgbClr val="1B2229"/>
                </a:solidFill>
                <a:latin typeface="Calibri" pitchFamily="34" charset="0"/>
                <a:ea typeface="Calibri" pitchFamily="34" charset="-122"/>
                <a:cs typeface="Calibri" pitchFamily="34" charset="-120"/>
              </a:rPr>
              <a:t>Six kinds of risk tend to hit the same few nodes</a:t>
            </a:r>
            <a:endParaRPr lang="en-US" sz="3400" dirty="0"/>
          </a:p>
        </p:txBody>
      </p:sp>
      <p:sp>
        <p:nvSpPr>
          <p:cNvPr id="4" name="Shape 2"/>
          <p:cNvSpPr/>
          <p:nvPr/>
        </p:nvSpPr>
        <p:spPr>
          <a:xfrm>
            <a:off x="548640" y="1645920"/>
            <a:ext cx="3520440" cy="1920240"/>
          </a:xfrm>
          <a:prstGeom prst="rect">
            <a:avLst/>
          </a:prstGeom>
          <a:solidFill>
            <a:srgbClr val="F6E6DA"/>
          </a:solidFill>
          <a:ln w="12700">
            <a:solidFill>
              <a:srgbClr val="F6E6DA"/>
            </a:solidFill>
            <a:prstDash val="solid"/>
          </a:ln>
        </p:spPr>
      </p:sp>
      <p:sp>
        <p:nvSpPr>
          <p:cNvPr id="5" name="Shape 3"/>
          <p:cNvSpPr/>
          <p:nvPr/>
        </p:nvSpPr>
        <p:spPr>
          <a:xfrm>
            <a:off x="822960" y="1920240"/>
            <a:ext cx="548640" cy="548640"/>
          </a:xfrm>
          <a:prstGeom prst="roundRect">
            <a:avLst>
              <a:gd name="adj" fmla="val 13333"/>
            </a:avLst>
          </a:prstGeom>
          <a:solidFill>
            <a:srgbClr val="C46A2B"/>
          </a:solidFill>
          <a:ln w="12700">
            <a:solidFill>
              <a:srgbClr val="C46A2B"/>
            </a:solidFill>
            <a:prstDash val="solid"/>
          </a:ln>
        </p:spPr>
      </p:sp>
      <p:pic>
        <p:nvPicPr>
          <p:cNvPr id="6" name="Image 0" descr="preencoded.png">    </p:cNvPr>
          <p:cNvPicPr>
            <a:picLocks noChangeAspect="1"/>
          </p:cNvPicPr>
          <p:nvPr/>
        </p:nvPicPr>
        <p:blipFill>
          <a:blip r:embed="rId1"/>
          <a:stretch>
            <a:fillRect/>
          </a:stretch>
        </p:blipFill>
        <p:spPr>
          <a:xfrm>
            <a:off x="943661" y="2040941"/>
            <a:ext cx="307238" cy="307238"/>
          </a:xfrm>
          <a:prstGeom prst="rect">
            <a:avLst/>
          </a:prstGeom>
        </p:spPr>
      </p:pic>
      <p:sp>
        <p:nvSpPr>
          <p:cNvPr id="7" name="Text 4"/>
          <p:cNvSpPr txBox="1"/>
          <p:nvPr/>
        </p:nvSpPr>
        <p:spPr>
          <a:xfrm>
            <a:off x="1554480" y="1920240"/>
            <a:ext cx="2331720" cy="548640"/>
          </a:xfrm>
          <a:prstGeom prst="rect">
            <a:avLst/>
          </a:prstGeom>
          <a:noFill/>
          <a:ln/>
        </p:spPr>
        <p:txBody>
          <a:bodyPr wrap="square" lIns="0" tIns="0" rIns="0" bIns="0" rtlCol="0" anchor="ctr"/>
          <a:lstStyle/>
          <a:p>
            <a:pPr indent="0" marL="0">
              <a:buNone/>
            </a:pPr>
            <a:r>
              <a:rPr lang="en-US" sz="1800" b="1" dirty="0">
                <a:solidFill>
                  <a:srgbClr val="1B2229"/>
                </a:solidFill>
                <a:latin typeface="Calibri" pitchFamily="34" charset="0"/>
                <a:ea typeface="Calibri" pitchFamily="34" charset="-122"/>
                <a:cs typeface="Calibri" pitchFamily="34" charset="-120"/>
              </a:rPr>
              <a:t>Concentration</a:t>
            </a:r>
            <a:endParaRPr lang="en-US" sz="1800" dirty="0"/>
          </a:p>
        </p:txBody>
      </p:sp>
      <p:sp>
        <p:nvSpPr>
          <p:cNvPr id="8" name="Text 5"/>
          <p:cNvSpPr txBox="1"/>
          <p:nvPr/>
        </p:nvSpPr>
        <p:spPr>
          <a:xfrm>
            <a:off x="822960" y="2606040"/>
            <a:ext cx="2971800" cy="822960"/>
          </a:xfrm>
          <a:prstGeom prst="rect">
            <a:avLst/>
          </a:prstGeom>
          <a:noFill/>
          <a:ln/>
        </p:spPr>
        <p:txBody>
          <a:bodyPr wrap="square" lIns="0" tIns="0" rIns="0" bIns="0" rtlCol="0" anchor="t"/>
          <a:lstStyle/>
          <a:p>
            <a:pPr indent="0" marL="0">
              <a:buNone/>
            </a:pPr>
            <a:r>
              <a:rPr lang="en-US" sz="1400" dirty="0">
                <a:solidFill>
                  <a:srgbClr val="5A6672"/>
                </a:solidFill>
                <a:latin typeface="Calibri" pitchFamily="34" charset="0"/>
                <a:ea typeface="Calibri" pitchFamily="34" charset="-122"/>
                <a:cs typeface="Calibri" pitchFamily="34" charset="-120"/>
              </a:rPr>
              <a:t>Sole- and single-source inputs, and sites that serve many products at once</a:t>
            </a:r>
            <a:endParaRPr lang="en-US" sz="1400" dirty="0"/>
          </a:p>
        </p:txBody>
      </p:sp>
      <p:sp>
        <p:nvSpPr>
          <p:cNvPr id="9" name="Shape 6"/>
          <p:cNvSpPr/>
          <p:nvPr/>
        </p:nvSpPr>
        <p:spPr>
          <a:xfrm>
            <a:off x="4343400" y="1645920"/>
            <a:ext cx="3520440" cy="1920240"/>
          </a:xfrm>
          <a:prstGeom prst="rect">
            <a:avLst/>
          </a:prstGeom>
          <a:solidFill>
            <a:srgbClr val="EEF1F4"/>
          </a:solidFill>
          <a:ln w="12700">
            <a:solidFill>
              <a:srgbClr val="EEF1F4"/>
            </a:solidFill>
            <a:prstDash val="solid"/>
          </a:ln>
        </p:spPr>
      </p:sp>
      <p:sp>
        <p:nvSpPr>
          <p:cNvPr id="10" name="Shape 7"/>
          <p:cNvSpPr/>
          <p:nvPr/>
        </p:nvSpPr>
        <p:spPr>
          <a:xfrm>
            <a:off x="4617720" y="1920240"/>
            <a:ext cx="548640" cy="548640"/>
          </a:xfrm>
          <a:prstGeom prst="roundRect">
            <a:avLst>
              <a:gd name="adj" fmla="val 13333"/>
            </a:avLst>
          </a:prstGeom>
          <a:solidFill>
            <a:srgbClr val="1B2229"/>
          </a:solidFill>
          <a:ln w="12700">
            <a:solidFill>
              <a:srgbClr val="1B2229"/>
            </a:solidFill>
            <a:prstDash val="solid"/>
          </a:ln>
        </p:spPr>
      </p:sp>
      <p:pic>
        <p:nvPicPr>
          <p:cNvPr id="11" name="Image 1" descr="preencoded.png">    </p:cNvPr>
          <p:cNvPicPr>
            <a:picLocks noChangeAspect="1"/>
          </p:cNvPicPr>
          <p:nvPr/>
        </p:nvPicPr>
        <p:blipFill>
          <a:blip r:embed="rId2"/>
          <a:stretch>
            <a:fillRect/>
          </a:stretch>
        </p:blipFill>
        <p:spPr>
          <a:xfrm>
            <a:off x="4738421" y="2040941"/>
            <a:ext cx="307238" cy="307238"/>
          </a:xfrm>
          <a:prstGeom prst="rect">
            <a:avLst/>
          </a:prstGeom>
        </p:spPr>
      </p:pic>
      <p:sp>
        <p:nvSpPr>
          <p:cNvPr id="12" name="Text 8"/>
          <p:cNvSpPr txBox="1"/>
          <p:nvPr/>
        </p:nvSpPr>
        <p:spPr>
          <a:xfrm>
            <a:off x="5349240" y="1920240"/>
            <a:ext cx="2331720" cy="548640"/>
          </a:xfrm>
          <a:prstGeom prst="rect">
            <a:avLst/>
          </a:prstGeom>
          <a:noFill/>
          <a:ln/>
        </p:spPr>
        <p:txBody>
          <a:bodyPr wrap="square" lIns="0" tIns="0" rIns="0" bIns="0" rtlCol="0" anchor="ctr"/>
          <a:lstStyle/>
          <a:p>
            <a:pPr indent="0" marL="0">
              <a:buNone/>
            </a:pPr>
            <a:r>
              <a:rPr lang="en-US" sz="1800" b="1" dirty="0">
                <a:solidFill>
                  <a:srgbClr val="1B2229"/>
                </a:solidFill>
                <a:latin typeface="Calibri" pitchFamily="34" charset="0"/>
                <a:ea typeface="Calibri" pitchFamily="34" charset="-122"/>
                <a:cs typeface="Calibri" pitchFamily="34" charset="-120"/>
              </a:rPr>
              <a:t>Geopolitics &amp; trade</a:t>
            </a:r>
            <a:endParaRPr lang="en-US" sz="1800" dirty="0"/>
          </a:p>
        </p:txBody>
      </p:sp>
      <p:sp>
        <p:nvSpPr>
          <p:cNvPr id="13" name="Text 9"/>
          <p:cNvSpPr txBox="1"/>
          <p:nvPr/>
        </p:nvSpPr>
        <p:spPr>
          <a:xfrm>
            <a:off x="4617720" y="2606040"/>
            <a:ext cx="2971800" cy="822960"/>
          </a:xfrm>
          <a:prstGeom prst="rect">
            <a:avLst/>
          </a:prstGeom>
          <a:noFill/>
          <a:ln/>
        </p:spPr>
        <p:txBody>
          <a:bodyPr wrap="square" lIns="0" tIns="0" rIns="0" bIns="0" rtlCol="0" anchor="t"/>
          <a:lstStyle/>
          <a:p>
            <a:pPr indent="0" marL="0">
              <a:buNone/>
            </a:pPr>
            <a:r>
              <a:rPr lang="en-US" sz="1400" dirty="0">
                <a:solidFill>
                  <a:srgbClr val="5A6672"/>
                </a:solidFill>
                <a:latin typeface="Calibri" pitchFamily="34" charset="0"/>
                <a:ea typeface="Calibri" pitchFamily="34" charset="-122"/>
                <a:cs typeface="Calibri" pitchFamily="34" charset="-120"/>
              </a:rPr>
              <a:t>Export controls, entity lists, tariffs, and shifting rules of origin</a:t>
            </a:r>
            <a:endParaRPr lang="en-US" sz="1400" dirty="0"/>
          </a:p>
        </p:txBody>
      </p:sp>
      <p:sp>
        <p:nvSpPr>
          <p:cNvPr id="14" name="Shape 10"/>
          <p:cNvSpPr/>
          <p:nvPr/>
        </p:nvSpPr>
        <p:spPr>
          <a:xfrm>
            <a:off x="8138160" y="1645920"/>
            <a:ext cx="3520440" cy="1920240"/>
          </a:xfrm>
          <a:prstGeom prst="rect">
            <a:avLst/>
          </a:prstGeom>
          <a:solidFill>
            <a:srgbClr val="EEF1F4"/>
          </a:solidFill>
          <a:ln w="12700">
            <a:solidFill>
              <a:srgbClr val="EEF1F4"/>
            </a:solidFill>
            <a:prstDash val="solid"/>
          </a:ln>
        </p:spPr>
      </p:sp>
      <p:sp>
        <p:nvSpPr>
          <p:cNvPr id="15" name="Shape 11"/>
          <p:cNvSpPr/>
          <p:nvPr/>
        </p:nvSpPr>
        <p:spPr>
          <a:xfrm>
            <a:off x="8412480" y="1920240"/>
            <a:ext cx="548640" cy="548640"/>
          </a:xfrm>
          <a:prstGeom prst="roundRect">
            <a:avLst>
              <a:gd name="adj" fmla="val 13333"/>
            </a:avLst>
          </a:prstGeom>
          <a:solidFill>
            <a:srgbClr val="1B2229"/>
          </a:solidFill>
          <a:ln w="12700">
            <a:solidFill>
              <a:srgbClr val="1B2229"/>
            </a:solidFill>
            <a:prstDash val="solid"/>
          </a:ln>
        </p:spPr>
      </p:sp>
      <p:pic>
        <p:nvPicPr>
          <p:cNvPr id="16" name="Image 2" descr="preencoded.png">    </p:cNvPr>
          <p:cNvPicPr>
            <a:picLocks noChangeAspect="1"/>
          </p:cNvPicPr>
          <p:nvPr/>
        </p:nvPicPr>
        <p:blipFill>
          <a:blip r:embed="rId3"/>
          <a:stretch>
            <a:fillRect/>
          </a:stretch>
        </p:blipFill>
        <p:spPr>
          <a:xfrm>
            <a:off x="8533181" y="2040941"/>
            <a:ext cx="307238" cy="307238"/>
          </a:xfrm>
          <a:prstGeom prst="rect">
            <a:avLst/>
          </a:prstGeom>
        </p:spPr>
      </p:pic>
      <p:sp>
        <p:nvSpPr>
          <p:cNvPr id="17" name="Text 12"/>
          <p:cNvSpPr txBox="1"/>
          <p:nvPr/>
        </p:nvSpPr>
        <p:spPr>
          <a:xfrm>
            <a:off x="9144000" y="1920240"/>
            <a:ext cx="2331720" cy="548640"/>
          </a:xfrm>
          <a:prstGeom prst="rect">
            <a:avLst/>
          </a:prstGeom>
          <a:noFill/>
          <a:ln/>
        </p:spPr>
        <p:txBody>
          <a:bodyPr wrap="square" lIns="0" tIns="0" rIns="0" bIns="0" rtlCol="0" anchor="ctr"/>
          <a:lstStyle/>
          <a:p>
            <a:pPr indent="0" marL="0">
              <a:buNone/>
            </a:pPr>
            <a:r>
              <a:rPr lang="en-US" sz="1800" b="1" dirty="0">
                <a:solidFill>
                  <a:srgbClr val="1B2229"/>
                </a:solidFill>
                <a:latin typeface="Calibri" pitchFamily="34" charset="0"/>
                <a:ea typeface="Calibri" pitchFamily="34" charset="-122"/>
                <a:cs typeface="Calibri" pitchFamily="34" charset="-120"/>
              </a:rPr>
              <a:t>Natural hazards &amp; utilities</a:t>
            </a:r>
            <a:endParaRPr lang="en-US" sz="1800" dirty="0"/>
          </a:p>
        </p:txBody>
      </p:sp>
      <p:sp>
        <p:nvSpPr>
          <p:cNvPr id="18" name="Text 13"/>
          <p:cNvSpPr txBox="1"/>
          <p:nvPr/>
        </p:nvSpPr>
        <p:spPr>
          <a:xfrm>
            <a:off x="8412480" y="2606040"/>
            <a:ext cx="2971800" cy="822960"/>
          </a:xfrm>
          <a:prstGeom prst="rect">
            <a:avLst/>
          </a:prstGeom>
          <a:noFill/>
          <a:ln/>
        </p:spPr>
        <p:txBody>
          <a:bodyPr wrap="square" lIns="0" tIns="0" rIns="0" bIns="0" rtlCol="0" anchor="t"/>
          <a:lstStyle/>
          <a:p>
            <a:pPr indent="0" marL="0">
              <a:buNone/>
            </a:pPr>
            <a:r>
              <a:rPr lang="en-US" sz="1400" dirty="0">
                <a:solidFill>
                  <a:srgbClr val="5A6672"/>
                </a:solidFill>
                <a:latin typeface="Calibri" pitchFamily="34" charset="0"/>
                <a:ea typeface="Calibri" pitchFamily="34" charset="-122"/>
                <a:cs typeface="Calibri" pitchFamily="34" charset="-120"/>
              </a:rPr>
              <a:t>Earthquakes, storms, drought, and power or water outages at key sites</a:t>
            </a:r>
            <a:endParaRPr lang="en-US" sz="1400" dirty="0"/>
          </a:p>
        </p:txBody>
      </p:sp>
      <p:sp>
        <p:nvSpPr>
          <p:cNvPr id="19" name="Shape 14"/>
          <p:cNvSpPr/>
          <p:nvPr/>
        </p:nvSpPr>
        <p:spPr>
          <a:xfrm>
            <a:off x="548640" y="3840480"/>
            <a:ext cx="3520440" cy="1920240"/>
          </a:xfrm>
          <a:prstGeom prst="rect">
            <a:avLst/>
          </a:prstGeom>
          <a:solidFill>
            <a:srgbClr val="EEF1F4"/>
          </a:solidFill>
          <a:ln w="12700">
            <a:solidFill>
              <a:srgbClr val="EEF1F4"/>
            </a:solidFill>
            <a:prstDash val="solid"/>
          </a:ln>
        </p:spPr>
      </p:sp>
      <p:sp>
        <p:nvSpPr>
          <p:cNvPr id="20" name="Shape 15"/>
          <p:cNvSpPr/>
          <p:nvPr/>
        </p:nvSpPr>
        <p:spPr>
          <a:xfrm>
            <a:off x="822960" y="4114800"/>
            <a:ext cx="548640" cy="548640"/>
          </a:xfrm>
          <a:prstGeom prst="roundRect">
            <a:avLst>
              <a:gd name="adj" fmla="val 13333"/>
            </a:avLst>
          </a:prstGeom>
          <a:solidFill>
            <a:srgbClr val="1B2229"/>
          </a:solidFill>
          <a:ln w="12700">
            <a:solidFill>
              <a:srgbClr val="1B2229"/>
            </a:solidFill>
            <a:prstDash val="solid"/>
          </a:ln>
        </p:spPr>
      </p:sp>
      <p:pic>
        <p:nvPicPr>
          <p:cNvPr id="21" name="Image 3" descr="preencoded.png">    </p:cNvPr>
          <p:cNvPicPr>
            <a:picLocks noChangeAspect="1"/>
          </p:cNvPicPr>
          <p:nvPr/>
        </p:nvPicPr>
        <p:blipFill>
          <a:blip r:embed="rId4"/>
          <a:stretch>
            <a:fillRect/>
          </a:stretch>
        </p:blipFill>
        <p:spPr>
          <a:xfrm>
            <a:off x="943661" y="4235501"/>
            <a:ext cx="307238" cy="307238"/>
          </a:xfrm>
          <a:prstGeom prst="rect">
            <a:avLst/>
          </a:prstGeom>
        </p:spPr>
      </p:pic>
      <p:sp>
        <p:nvSpPr>
          <p:cNvPr id="22" name="Text 16"/>
          <p:cNvSpPr txBox="1"/>
          <p:nvPr/>
        </p:nvSpPr>
        <p:spPr>
          <a:xfrm>
            <a:off x="1554480" y="4114800"/>
            <a:ext cx="2331720" cy="548640"/>
          </a:xfrm>
          <a:prstGeom prst="rect">
            <a:avLst/>
          </a:prstGeom>
          <a:noFill/>
          <a:ln/>
        </p:spPr>
        <p:txBody>
          <a:bodyPr wrap="square" lIns="0" tIns="0" rIns="0" bIns="0" rtlCol="0" anchor="ctr"/>
          <a:lstStyle/>
          <a:p>
            <a:pPr indent="0" marL="0">
              <a:buNone/>
            </a:pPr>
            <a:r>
              <a:rPr lang="en-US" sz="1800" b="1" dirty="0">
                <a:solidFill>
                  <a:srgbClr val="1B2229"/>
                </a:solidFill>
                <a:latin typeface="Calibri" pitchFamily="34" charset="0"/>
                <a:ea typeface="Calibri" pitchFamily="34" charset="-122"/>
                <a:cs typeface="Calibri" pitchFamily="34" charset="-120"/>
              </a:rPr>
              <a:t>Logistics</a:t>
            </a:r>
            <a:endParaRPr lang="en-US" sz="1800" dirty="0"/>
          </a:p>
        </p:txBody>
      </p:sp>
      <p:sp>
        <p:nvSpPr>
          <p:cNvPr id="23" name="Text 17"/>
          <p:cNvSpPr txBox="1"/>
          <p:nvPr/>
        </p:nvSpPr>
        <p:spPr>
          <a:xfrm>
            <a:off x="822960" y="4800600"/>
            <a:ext cx="2971800" cy="822960"/>
          </a:xfrm>
          <a:prstGeom prst="rect">
            <a:avLst/>
          </a:prstGeom>
          <a:noFill/>
          <a:ln/>
        </p:spPr>
        <p:txBody>
          <a:bodyPr wrap="square" lIns="0" tIns="0" rIns="0" bIns="0" rtlCol="0" anchor="t"/>
          <a:lstStyle/>
          <a:p>
            <a:pPr indent="0" marL="0">
              <a:buNone/>
            </a:pPr>
            <a:r>
              <a:rPr lang="en-US" sz="1400" dirty="0">
                <a:solidFill>
                  <a:srgbClr val="5A6672"/>
                </a:solidFill>
                <a:latin typeface="Calibri" pitchFamily="34" charset="0"/>
                <a:ea typeface="Calibri" pitchFamily="34" charset="-122"/>
                <a:cs typeface="Calibri" pitchFamily="34" charset="-120"/>
              </a:rPr>
              <a:t>Port, air freight, and customs delays for time-critical materials</a:t>
            </a:r>
            <a:endParaRPr lang="en-US" sz="1400" dirty="0"/>
          </a:p>
        </p:txBody>
      </p:sp>
      <p:sp>
        <p:nvSpPr>
          <p:cNvPr id="24" name="Shape 18"/>
          <p:cNvSpPr/>
          <p:nvPr/>
        </p:nvSpPr>
        <p:spPr>
          <a:xfrm>
            <a:off x="4343400" y="3840480"/>
            <a:ext cx="3520440" cy="1920240"/>
          </a:xfrm>
          <a:prstGeom prst="rect">
            <a:avLst/>
          </a:prstGeom>
          <a:solidFill>
            <a:srgbClr val="EEF1F4"/>
          </a:solidFill>
          <a:ln w="12700">
            <a:solidFill>
              <a:srgbClr val="EEF1F4"/>
            </a:solidFill>
            <a:prstDash val="solid"/>
          </a:ln>
        </p:spPr>
      </p:sp>
      <p:sp>
        <p:nvSpPr>
          <p:cNvPr id="25" name="Shape 19"/>
          <p:cNvSpPr/>
          <p:nvPr/>
        </p:nvSpPr>
        <p:spPr>
          <a:xfrm>
            <a:off x="4617720" y="4114800"/>
            <a:ext cx="548640" cy="548640"/>
          </a:xfrm>
          <a:prstGeom prst="roundRect">
            <a:avLst>
              <a:gd name="adj" fmla="val 13333"/>
            </a:avLst>
          </a:prstGeom>
          <a:solidFill>
            <a:srgbClr val="1B2229"/>
          </a:solidFill>
          <a:ln w="12700">
            <a:solidFill>
              <a:srgbClr val="1B2229"/>
            </a:solidFill>
            <a:prstDash val="solid"/>
          </a:ln>
        </p:spPr>
      </p:sp>
      <p:pic>
        <p:nvPicPr>
          <p:cNvPr id="26" name="Image 4" descr="preencoded.png">    </p:cNvPr>
          <p:cNvPicPr>
            <a:picLocks noChangeAspect="1"/>
          </p:cNvPicPr>
          <p:nvPr/>
        </p:nvPicPr>
        <p:blipFill>
          <a:blip r:embed="rId5"/>
          <a:stretch>
            <a:fillRect/>
          </a:stretch>
        </p:blipFill>
        <p:spPr>
          <a:xfrm>
            <a:off x="4738421" y="4235501"/>
            <a:ext cx="307238" cy="307238"/>
          </a:xfrm>
          <a:prstGeom prst="rect">
            <a:avLst/>
          </a:prstGeom>
        </p:spPr>
      </p:pic>
      <p:sp>
        <p:nvSpPr>
          <p:cNvPr id="27" name="Text 20"/>
          <p:cNvSpPr txBox="1"/>
          <p:nvPr/>
        </p:nvSpPr>
        <p:spPr>
          <a:xfrm>
            <a:off x="5349240" y="4114800"/>
            <a:ext cx="2331720" cy="548640"/>
          </a:xfrm>
          <a:prstGeom prst="rect">
            <a:avLst/>
          </a:prstGeom>
          <a:noFill/>
          <a:ln/>
        </p:spPr>
        <p:txBody>
          <a:bodyPr wrap="square" lIns="0" tIns="0" rIns="0" bIns="0" rtlCol="0" anchor="ctr"/>
          <a:lstStyle/>
          <a:p>
            <a:pPr indent="0" marL="0">
              <a:buNone/>
            </a:pPr>
            <a:r>
              <a:rPr lang="en-US" sz="1800" b="1" dirty="0">
                <a:solidFill>
                  <a:srgbClr val="1B2229"/>
                </a:solidFill>
                <a:latin typeface="Calibri" pitchFamily="34" charset="0"/>
                <a:ea typeface="Calibri" pitchFamily="34" charset="-122"/>
                <a:cs typeface="Calibri" pitchFamily="34" charset="-120"/>
              </a:rPr>
              <a:t>Demand swings</a:t>
            </a:r>
            <a:endParaRPr lang="en-US" sz="1800" dirty="0"/>
          </a:p>
        </p:txBody>
      </p:sp>
      <p:sp>
        <p:nvSpPr>
          <p:cNvPr id="28" name="Text 21"/>
          <p:cNvSpPr txBox="1"/>
          <p:nvPr/>
        </p:nvSpPr>
        <p:spPr>
          <a:xfrm>
            <a:off x="4617720" y="4800600"/>
            <a:ext cx="2971800" cy="822960"/>
          </a:xfrm>
          <a:prstGeom prst="rect">
            <a:avLst/>
          </a:prstGeom>
          <a:noFill/>
          <a:ln/>
        </p:spPr>
        <p:txBody>
          <a:bodyPr wrap="square" lIns="0" tIns="0" rIns="0" bIns="0" rtlCol="0" anchor="t"/>
          <a:lstStyle/>
          <a:p>
            <a:pPr indent="0" marL="0">
              <a:buNone/>
            </a:pPr>
            <a:r>
              <a:rPr lang="en-US" sz="1400" dirty="0">
                <a:solidFill>
                  <a:srgbClr val="5A6672"/>
                </a:solidFill>
                <a:latin typeface="Calibri" pitchFamily="34" charset="0"/>
                <a:ea typeface="Calibri" pitchFamily="34" charset="-122"/>
                <a:cs typeface="Calibri" pitchFamily="34" charset="-120"/>
              </a:rPr>
              <a:t>Forecast whiplash that turns into over-ordering, then shortages</a:t>
            </a:r>
            <a:endParaRPr lang="en-US" sz="1400" dirty="0"/>
          </a:p>
        </p:txBody>
      </p:sp>
      <p:sp>
        <p:nvSpPr>
          <p:cNvPr id="29" name="Shape 22"/>
          <p:cNvSpPr/>
          <p:nvPr/>
        </p:nvSpPr>
        <p:spPr>
          <a:xfrm>
            <a:off x="8138160" y="3840480"/>
            <a:ext cx="3520440" cy="1920240"/>
          </a:xfrm>
          <a:prstGeom prst="rect">
            <a:avLst/>
          </a:prstGeom>
          <a:solidFill>
            <a:srgbClr val="EEF1F4"/>
          </a:solidFill>
          <a:ln w="12700">
            <a:solidFill>
              <a:srgbClr val="EEF1F4"/>
            </a:solidFill>
            <a:prstDash val="solid"/>
          </a:ln>
        </p:spPr>
      </p:sp>
      <p:sp>
        <p:nvSpPr>
          <p:cNvPr id="30" name="Shape 23"/>
          <p:cNvSpPr/>
          <p:nvPr/>
        </p:nvSpPr>
        <p:spPr>
          <a:xfrm>
            <a:off x="8412480" y="4114800"/>
            <a:ext cx="548640" cy="548640"/>
          </a:xfrm>
          <a:prstGeom prst="roundRect">
            <a:avLst>
              <a:gd name="adj" fmla="val 13333"/>
            </a:avLst>
          </a:prstGeom>
          <a:solidFill>
            <a:srgbClr val="1B2229"/>
          </a:solidFill>
          <a:ln w="12700">
            <a:solidFill>
              <a:srgbClr val="1B2229"/>
            </a:solidFill>
            <a:prstDash val="solid"/>
          </a:ln>
        </p:spPr>
      </p:sp>
      <p:pic>
        <p:nvPicPr>
          <p:cNvPr id="31" name="Image 5" descr="preencoded.png">    </p:cNvPr>
          <p:cNvPicPr>
            <a:picLocks noChangeAspect="1"/>
          </p:cNvPicPr>
          <p:nvPr/>
        </p:nvPicPr>
        <p:blipFill>
          <a:blip r:embed="rId6"/>
          <a:stretch>
            <a:fillRect/>
          </a:stretch>
        </p:blipFill>
        <p:spPr>
          <a:xfrm>
            <a:off x="8533181" y="4235501"/>
            <a:ext cx="307238" cy="307238"/>
          </a:xfrm>
          <a:prstGeom prst="rect">
            <a:avLst/>
          </a:prstGeom>
        </p:spPr>
      </p:pic>
      <p:sp>
        <p:nvSpPr>
          <p:cNvPr id="32" name="Text 24"/>
          <p:cNvSpPr txBox="1"/>
          <p:nvPr/>
        </p:nvSpPr>
        <p:spPr>
          <a:xfrm>
            <a:off x="9144000" y="4114800"/>
            <a:ext cx="2331720" cy="548640"/>
          </a:xfrm>
          <a:prstGeom prst="rect">
            <a:avLst/>
          </a:prstGeom>
          <a:noFill/>
          <a:ln/>
        </p:spPr>
        <p:txBody>
          <a:bodyPr wrap="square" lIns="0" tIns="0" rIns="0" bIns="0" rtlCol="0" anchor="ctr"/>
          <a:lstStyle/>
          <a:p>
            <a:pPr indent="0" marL="0">
              <a:buNone/>
            </a:pPr>
            <a:r>
              <a:rPr lang="en-US" sz="1800" b="1" dirty="0">
                <a:solidFill>
                  <a:srgbClr val="1B2229"/>
                </a:solidFill>
                <a:latin typeface="Calibri" pitchFamily="34" charset="0"/>
                <a:ea typeface="Calibri" pitchFamily="34" charset="-122"/>
                <a:cs typeface="Calibri" pitchFamily="34" charset="-120"/>
              </a:rPr>
              <a:t>Cyber &amp; IP</a:t>
            </a:r>
            <a:endParaRPr lang="en-US" sz="1800" dirty="0"/>
          </a:p>
        </p:txBody>
      </p:sp>
      <p:sp>
        <p:nvSpPr>
          <p:cNvPr id="33" name="Text 25"/>
          <p:cNvSpPr txBox="1"/>
          <p:nvPr/>
        </p:nvSpPr>
        <p:spPr>
          <a:xfrm>
            <a:off x="8412480" y="4800600"/>
            <a:ext cx="2971800" cy="822960"/>
          </a:xfrm>
          <a:prstGeom prst="rect">
            <a:avLst/>
          </a:prstGeom>
          <a:noFill/>
          <a:ln/>
        </p:spPr>
        <p:txBody>
          <a:bodyPr wrap="square" lIns="0" tIns="0" rIns="0" bIns="0" rtlCol="0" anchor="t"/>
          <a:lstStyle/>
          <a:p>
            <a:pPr indent="0" marL="0">
              <a:buNone/>
            </a:pPr>
            <a:r>
              <a:rPr lang="en-US" sz="1400" dirty="0">
                <a:solidFill>
                  <a:srgbClr val="5A6672"/>
                </a:solidFill>
                <a:latin typeface="Calibri" pitchFamily="34" charset="0"/>
                <a:ea typeface="Calibri" pitchFamily="34" charset="-122"/>
                <a:cs typeface="Calibri" pitchFamily="34" charset="-120"/>
              </a:rPr>
              <a:t>Attacks on suppliers and leaks of sensitive design or process data</a:t>
            </a:r>
            <a:endParaRPr lang="en-US" sz="1400" dirty="0"/>
          </a:p>
        </p:txBody>
      </p:sp>
      <p:sp>
        <p:nvSpPr>
          <p:cNvPr id="34" name="Text 26"/>
          <p:cNvSpPr txBox="1"/>
          <p:nvPr/>
        </p:nvSpPr>
        <p:spPr>
          <a:xfrm>
            <a:off x="548640" y="5989320"/>
            <a:ext cx="11094415" cy="365760"/>
          </a:xfrm>
          <a:prstGeom prst="rect">
            <a:avLst/>
          </a:prstGeom>
          <a:noFill/>
          <a:ln/>
        </p:spPr>
        <p:txBody>
          <a:bodyPr wrap="square" lIns="0" tIns="0" rIns="0" bIns="0" rtlCol="0" anchor="ctr"/>
          <a:lstStyle/>
          <a:p>
            <a:pPr indent="0" marL="0">
              <a:buNone/>
            </a:pPr>
            <a:r>
              <a:rPr lang="en-US" sz="1600" i="1" dirty="0">
                <a:solidFill>
                  <a:srgbClr val="C46A2B"/>
                </a:solidFill>
                <a:latin typeface="Calibri" pitchFamily="34" charset="0"/>
                <a:ea typeface="Calibri" pitchFamily="34" charset="-122"/>
                <a:cs typeface="Calibri" pitchFamily="34" charset="-120"/>
              </a:rPr>
              <a:t>When several of these overlap at one node, that node is where to look first.</a:t>
            </a:r>
            <a:endParaRPr lang="en-US" sz="1600" dirty="0"/>
          </a:p>
        </p:txBody>
      </p:sp>
      <p:sp>
        <p:nvSpPr>
          <p:cNvPr id="35" name="Text 27"/>
          <p:cNvSpPr txBox="1"/>
          <p:nvPr/>
        </p:nvSpPr>
        <p:spPr>
          <a:xfrm>
            <a:off x="8899855" y="6446520"/>
            <a:ext cx="2743200" cy="228600"/>
          </a:xfrm>
          <a:prstGeom prst="rect">
            <a:avLst/>
          </a:prstGeom>
          <a:noFill/>
          <a:ln/>
        </p:spPr>
        <p:txBody>
          <a:bodyPr wrap="square" lIns="0" tIns="0" rIns="0" bIns="0" rtlCol="0" anchor="ctr"/>
          <a:lstStyle/>
          <a:p>
            <a:pPr algn="r" indent="0" marL="0">
              <a:buNone/>
            </a:pPr>
            <a:r>
              <a:rPr lang="en-US" sz="900" dirty="0">
                <a:solidFill>
                  <a:srgbClr val="8A96A3"/>
                </a:solidFill>
                <a:latin typeface="Calibri" pitchFamily="34" charset="0"/>
                <a:ea typeface="Calibri" pitchFamily="34" charset="-122"/>
                <a:cs typeface="Calibri" pitchFamily="34" charset="-120"/>
              </a:rPr>
              <a:t>SEMICON West  |  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182880"/>
            <a:ext cx="7315200" cy="274320"/>
          </a:xfrm>
          <a:prstGeom prst="rect">
            <a:avLst/>
          </a:prstGeom>
          <a:noFill/>
          <a:ln/>
        </p:spPr>
        <p:txBody>
          <a:bodyPr wrap="square" lIns="0" tIns="0" rIns="0" bIns="0" rtlCol="0" anchor="ctr"/>
          <a:lstStyle/>
          <a:p>
            <a:pPr indent="0" marL="0">
              <a:buNone/>
            </a:pPr>
            <a:r>
              <a:rPr lang="en-US" sz="1100" b="1" spc="200" kern="0" dirty="0">
                <a:solidFill>
                  <a:srgbClr val="C46A2B"/>
                </a:solidFill>
                <a:latin typeface="Calibri" pitchFamily="34" charset="0"/>
                <a:ea typeface="Calibri" pitchFamily="34" charset="-122"/>
                <a:cs typeface="Calibri" pitchFamily="34" charset="-120"/>
              </a:rPr>
              <a:t>THE RISK MAP</a:t>
            </a:r>
            <a:endParaRPr lang="en-US" sz="1100" dirty="0"/>
          </a:p>
        </p:txBody>
      </p:sp>
      <p:sp>
        <p:nvSpPr>
          <p:cNvPr id="3" name="Text 1"/>
          <p:cNvSpPr txBox="1"/>
          <p:nvPr/>
        </p:nvSpPr>
        <p:spPr>
          <a:xfrm>
            <a:off x="548640" y="411480"/>
            <a:ext cx="11094415" cy="914400"/>
          </a:xfrm>
          <a:prstGeom prst="rect">
            <a:avLst/>
          </a:prstGeom>
          <a:noFill/>
          <a:ln/>
        </p:spPr>
        <p:txBody>
          <a:bodyPr wrap="square" lIns="0" tIns="0" rIns="0" bIns="0" rtlCol="0" anchor="t"/>
          <a:lstStyle/>
          <a:p>
            <a:pPr indent="0" marL="0">
              <a:buNone/>
            </a:pPr>
            <a:r>
              <a:rPr lang="en-US" sz="3400" b="1" dirty="0">
                <a:solidFill>
                  <a:srgbClr val="1B2229"/>
                </a:solidFill>
                <a:latin typeface="Calibri" pitchFamily="34" charset="0"/>
                <a:ea typeface="Calibri" pitchFamily="34" charset="-122"/>
                <a:cs typeface="Calibri" pitchFamily="34" charset="-120"/>
              </a:rPr>
              <a:t>Most exposure sits below tier 1, where visibility drops off</a:t>
            </a:r>
            <a:endParaRPr lang="en-US" sz="3400" dirty="0"/>
          </a:p>
        </p:txBody>
      </p:sp>
      <p:sp>
        <p:nvSpPr>
          <p:cNvPr id="4" name="Shape 2"/>
          <p:cNvSpPr/>
          <p:nvPr/>
        </p:nvSpPr>
        <p:spPr>
          <a:xfrm>
            <a:off x="731520" y="1737360"/>
            <a:ext cx="10881360" cy="1143000"/>
          </a:xfrm>
          <a:prstGeom prst="rect">
            <a:avLst/>
          </a:prstGeom>
          <a:solidFill>
            <a:srgbClr val="1B2229"/>
          </a:solidFill>
          <a:ln w="12700">
            <a:solidFill>
              <a:srgbClr val="1B2229"/>
            </a:solidFill>
            <a:prstDash val="solid"/>
          </a:ln>
        </p:spPr>
      </p:sp>
      <p:sp>
        <p:nvSpPr>
          <p:cNvPr id="5" name="Text 3"/>
          <p:cNvSpPr txBox="1"/>
          <p:nvPr/>
        </p:nvSpPr>
        <p:spPr>
          <a:xfrm>
            <a:off x="1005840" y="1737360"/>
            <a:ext cx="1280160" cy="114300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Tier 1</a:t>
            </a:r>
            <a:endParaRPr lang="en-US" sz="2200" dirty="0"/>
          </a:p>
        </p:txBody>
      </p:sp>
      <p:sp>
        <p:nvSpPr>
          <p:cNvPr id="6" name="Text 4"/>
          <p:cNvSpPr txBox="1"/>
          <p:nvPr/>
        </p:nvSpPr>
        <p:spPr>
          <a:xfrm>
            <a:off x="2377440" y="1737360"/>
            <a:ext cx="7132320" cy="114300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Direct suppliers</a:t>
            </a:r>
            <a:endParaRPr lang="en-US" sz="1400" dirty="0"/>
          </a:p>
          <a:p>
            <a:pPr indent="0" marL="0">
              <a:buNone/>
            </a:pPr>
            <a:r>
              <a:rPr lang="en-US" sz="1400" dirty="0">
                <a:solidFill>
                  <a:srgbClr val="FFFFFF"/>
                </a:solidFill>
                <a:latin typeface="Calibri" pitchFamily="34" charset="0"/>
                <a:ea typeface="Calibri" pitchFamily="34" charset="-122"/>
                <a:cs typeface="Calibri" pitchFamily="34" charset="-120"/>
              </a:rPr>
              <a:t>Contracts, POs, scorecards, regular reviews</a:t>
            </a:r>
            <a:endParaRPr lang="en-US" sz="1400" dirty="0"/>
          </a:p>
        </p:txBody>
      </p:sp>
      <p:sp>
        <p:nvSpPr>
          <p:cNvPr id="7" name="Text 5"/>
          <p:cNvSpPr txBox="1"/>
          <p:nvPr/>
        </p:nvSpPr>
        <p:spPr>
          <a:xfrm>
            <a:off x="9601200" y="1737360"/>
            <a:ext cx="1828800" cy="1143000"/>
          </a:xfrm>
          <a:prstGeom prst="rect">
            <a:avLst/>
          </a:prstGeom>
          <a:noFill/>
          <a:ln/>
        </p:spPr>
        <p:txBody>
          <a:bodyPr wrap="square" lIns="0" tIns="0" rIns="0" bIns="0" rtlCol="0" anchor="ctr"/>
          <a:lstStyle/>
          <a:p>
            <a:pPr algn="r" indent="0" marL="0">
              <a:buNone/>
            </a:pPr>
            <a:r>
              <a:rPr lang="en-US" sz="1500" i="1" dirty="0">
                <a:solidFill>
                  <a:srgbClr val="FFFFFF"/>
                </a:solidFill>
                <a:latin typeface="Calibri" pitchFamily="34" charset="0"/>
                <a:ea typeface="Calibri" pitchFamily="34" charset="-122"/>
                <a:cs typeface="Calibri" pitchFamily="34" charset="-120"/>
              </a:rPr>
              <a:t>Good visibility</a:t>
            </a:r>
            <a:endParaRPr lang="en-US" sz="1500" dirty="0"/>
          </a:p>
        </p:txBody>
      </p:sp>
      <p:sp>
        <p:nvSpPr>
          <p:cNvPr id="8" name="Shape 6"/>
          <p:cNvSpPr/>
          <p:nvPr/>
        </p:nvSpPr>
        <p:spPr>
          <a:xfrm>
            <a:off x="1783080" y="3108960"/>
            <a:ext cx="8778240" cy="1143000"/>
          </a:xfrm>
          <a:prstGeom prst="rect">
            <a:avLst/>
          </a:prstGeom>
          <a:solidFill>
            <a:srgbClr val="5A6672"/>
          </a:solidFill>
          <a:ln w="12700">
            <a:solidFill>
              <a:srgbClr val="5A6672"/>
            </a:solidFill>
            <a:prstDash val="solid"/>
          </a:ln>
        </p:spPr>
      </p:sp>
      <p:sp>
        <p:nvSpPr>
          <p:cNvPr id="9" name="Text 7"/>
          <p:cNvSpPr txBox="1"/>
          <p:nvPr/>
        </p:nvSpPr>
        <p:spPr>
          <a:xfrm>
            <a:off x="2057400" y="3108960"/>
            <a:ext cx="1280160" cy="114300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Tier 2</a:t>
            </a:r>
            <a:endParaRPr lang="en-US" sz="2200" dirty="0"/>
          </a:p>
        </p:txBody>
      </p:sp>
      <p:sp>
        <p:nvSpPr>
          <p:cNvPr id="10" name="Text 8"/>
          <p:cNvSpPr txBox="1"/>
          <p:nvPr/>
        </p:nvSpPr>
        <p:spPr>
          <a:xfrm>
            <a:off x="3429000" y="3108960"/>
            <a:ext cx="5029200" cy="114300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Their suppliers</a:t>
            </a:r>
            <a:endParaRPr lang="en-US" sz="1400" dirty="0"/>
          </a:p>
          <a:p>
            <a:pPr indent="0" marL="0">
              <a:buNone/>
            </a:pPr>
            <a:r>
              <a:rPr lang="en-US" sz="1400" dirty="0">
                <a:solidFill>
                  <a:srgbClr val="FFFFFF"/>
                </a:solidFill>
                <a:latin typeface="Calibri" pitchFamily="34" charset="0"/>
                <a:ea typeface="Calibri" pitchFamily="34" charset="-122"/>
                <a:cs typeface="Calibri" pitchFamily="34" charset="-120"/>
              </a:rPr>
              <a:t>What tier 1 chooses to disclose, often partial</a:t>
            </a:r>
            <a:endParaRPr lang="en-US" sz="1400" dirty="0"/>
          </a:p>
        </p:txBody>
      </p:sp>
      <p:sp>
        <p:nvSpPr>
          <p:cNvPr id="11" name="Text 9"/>
          <p:cNvSpPr txBox="1"/>
          <p:nvPr/>
        </p:nvSpPr>
        <p:spPr>
          <a:xfrm>
            <a:off x="8549640" y="3108960"/>
            <a:ext cx="1828800" cy="1143000"/>
          </a:xfrm>
          <a:prstGeom prst="rect">
            <a:avLst/>
          </a:prstGeom>
          <a:noFill/>
          <a:ln/>
        </p:spPr>
        <p:txBody>
          <a:bodyPr wrap="square" lIns="0" tIns="0" rIns="0" bIns="0" rtlCol="0" anchor="ctr"/>
          <a:lstStyle/>
          <a:p>
            <a:pPr algn="r" indent="0" marL="0">
              <a:buNone/>
            </a:pPr>
            <a:r>
              <a:rPr lang="en-US" sz="1500" i="1" dirty="0">
                <a:solidFill>
                  <a:srgbClr val="FFFFFF"/>
                </a:solidFill>
                <a:latin typeface="Calibri" pitchFamily="34" charset="0"/>
                <a:ea typeface="Calibri" pitchFamily="34" charset="-122"/>
                <a:cs typeface="Calibri" pitchFamily="34" charset="-120"/>
              </a:rPr>
              <a:t>Partial visibility</a:t>
            </a:r>
            <a:endParaRPr lang="en-US" sz="1500" dirty="0"/>
          </a:p>
        </p:txBody>
      </p:sp>
      <p:sp>
        <p:nvSpPr>
          <p:cNvPr id="12" name="Shape 10"/>
          <p:cNvSpPr/>
          <p:nvPr/>
        </p:nvSpPr>
        <p:spPr>
          <a:xfrm>
            <a:off x="2834640" y="4480560"/>
            <a:ext cx="6675120" cy="1143000"/>
          </a:xfrm>
          <a:prstGeom prst="rect">
            <a:avLst/>
          </a:prstGeom>
          <a:solidFill>
            <a:srgbClr val="C46A2B"/>
          </a:solidFill>
          <a:ln w="12700">
            <a:solidFill>
              <a:srgbClr val="C46A2B"/>
            </a:solidFill>
            <a:prstDash val="solid"/>
          </a:ln>
        </p:spPr>
      </p:sp>
      <p:sp>
        <p:nvSpPr>
          <p:cNvPr id="13" name="Text 11"/>
          <p:cNvSpPr txBox="1"/>
          <p:nvPr/>
        </p:nvSpPr>
        <p:spPr>
          <a:xfrm>
            <a:off x="3108960" y="4480560"/>
            <a:ext cx="1280160" cy="114300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Tier 3+</a:t>
            </a:r>
            <a:endParaRPr lang="en-US" sz="2200" dirty="0"/>
          </a:p>
        </p:txBody>
      </p:sp>
      <p:sp>
        <p:nvSpPr>
          <p:cNvPr id="14" name="Text 12"/>
          <p:cNvSpPr txBox="1"/>
          <p:nvPr/>
        </p:nvSpPr>
        <p:spPr>
          <a:xfrm>
            <a:off x="4480560" y="4480560"/>
            <a:ext cx="2926080" cy="114300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Raw materials, gases, sub-components</a:t>
            </a:r>
            <a:endParaRPr lang="en-US" sz="1400" dirty="0"/>
          </a:p>
          <a:p>
            <a:pPr indent="0" marL="0">
              <a:buNone/>
            </a:pPr>
            <a:r>
              <a:rPr lang="en-US" sz="1400" dirty="0">
                <a:solidFill>
                  <a:srgbClr val="FFFFFF"/>
                </a:solidFill>
                <a:latin typeface="Calibri" pitchFamily="34" charset="0"/>
                <a:ea typeface="Calibri" pitchFamily="34" charset="-122"/>
                <a:cs typeface="Calibri" pitchFamily="34" charset="-120"/>
              </a:rPr>
              <a:t>Little or no direct data. Often where sole sources hide</a:t>
            </a:r>
            <a:endParaRPr lang="en-US" sz="1400" dirty="0"/>
          </a:p>
        </p:txBody>
      </p:sp>
      <p:sp>
        <p:nvSpPr>
          <p:cNvPr id="15" name="Text 13"/>
          <p:cNvSpPr txBox="1"/>
          <p:nvPr/>
        </p:nvSpPr>
        <p:spPr>
          <a:xfrm>
            <a:off x="7498080" y="4480560"/>
            <a:ext cx="1828800" cy="1143000"/>
          </a:xfrm>
          <a:prstGeom prst="rect">
            <a:avLst/>
          </a:prstGeom>
          <a:noFill/>
          <a:ln/>
        </p:spPr>
        <p:txBody>
          <a:bodyPr wrap="square" lIns="0" tIns="0" rIns="0" bIns="0" rtlCol="0" anchor="ctr"/>
          <a:lstStyle/>
          <a:p>
            <a:pPr algn="r" indent="0" marL="0">
              <a:buNone/>
            </a:pPr>
            <a:r>
              <a:rPr lang="en-US" sz="1500" i="1" dirty="0">
                <a:solidFill>
                  <a:srgbClr val="FFFFFF"/>
                </a:solidFill>
                <a:latin typeface="Calibri" pitchFamily="34" charset="0"/>
                <a:ea typeface="Calibri" pitchFamily="34" charset="-122"/>
                <a:cs typeface="Calibri" pitchFamily="34" charset="-120"/>
              </a:rPr>
              <a:t>Mostly dark</a:t>
            </a:r>
            <a:endParaRPr lang="en-US" sz="1500" dirty="0"/>
          </a:p>
        </p:txBody>
      </p:sp>
      <p:sp>
        <p:nvSpPr>
          <p:cNvPr id="16" name="Text 14"/>
          <p:cNvSpPr txBox="1"/>
          <p:nvPr/>
        </p:nvSpPr>
        <p:spPr>
          <a:xfrm>
            <a:off x="548640" y="5852160"/>
            <a:ext cx="11094415" cy="457200"/>
          </a:xfrm>
          <a:prstGeom prst="rect">
            <a:avLst/>
          </a:prstGeom>
          <a:noFill/>
          <a:ln/>
        </p:spPr>
        <p:txBody>
          <a:bodyPr wrap="square" lIns="0" tIns="0" rIns="0" bIns="0" rtlCol="0" anchor="ctr"/>
          <a:lstStyle/>
          <a:p>
            <a:pPr indent="0" marL="0">
              <a:buNone/>
            </a:pPr>
            <a:r>
              <a:rPr lang="en-US" sz="1600" i="1" dirty="0">
                <a:solidFill>
                  <a:srgbClr val="C46A2B"/>
                </a:solidFill>
                <a:latin typeface="Calibri" pitchFamily="34" charset="0"/>
                <a:ea typeface="Calibri" pitchFamily="34" charset="-122"/>
                <a:cs typeface="Calibri" pitchFamily="34" charset="-120"/>
              </a:rPr>
              <a:t>You can't govern data you never collect. The first job is deciding which sub-tier nodes you need to see.</a:t>
            </a:r>
            <a:endParaRPr lang="en-US" sz="1600" dirty="0"/>
          </a:p>
        </p:txBody>
      </p:sp>
      <p:sp>
        <p:nvSpPr>
          <p:cNvPr id="17" name="Text 15"/>
          <p:cNvSpPr txBox="1"/>
          <p:nvPr/>
        </p:nvSpPr>
        <p:spPr>
          <a:xfrm>
            <a:off x="8899855" y="6446520"/>
            <a:ext cx="2743200" cy="228600"/>
          </a:xfrm>
          <a:prstGeom prst="rect">
            <a:avLst/>
          </a:prstGeom>
          <a:noFill/>
          <a:ln/>
        </p:spPr>
        <p:txBody>
          <a:bodyPr wrap="square" lIns="0" tIns="0" rIns="0" bIns="0" rtlCol="0" anchor="ctr"/>
          <a:lstStyle/>
          <a:p>
            <a:pPr algn="r" indent="0" marL="0">
              <a:buNone/>
            </a:pPr>
            <a:r>
              <a:rPr lang="en-US" sz="900" dirty="0">
                <a:solidFill>
                  <a:srgbClr val="8A96A3"/>
                </a:solidFill>
                <a:latin typeface="Calibri" pitchFamily="34" charset="0"/>
                <a:ea typeface="Calibri" pitchFamily="34" charset="-122"/>
                <a:cs typeface="Calibri" pitchFamily="34" charset="-120"/>
              </a:rPr>
              <a:t>SEMICON West  |  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182880"/>
            <a:ext cx="7315200" cy="274320"/>
          </a:xfrm>
          <a:prstGeom prst="rect">
            <a:avLst/>
          </a:prstGeom>
          <a:noFill/>
          <a:ln/>
        </p:spPr>
        <p:txBody>
          <a:bodyPr wrap="square" lIns="0" tIns="0" rIns="0" bIns="0" rtlCol="0" anchor="ctr"/>
          <a:lstStyle/>
          <a:p>
            <a:pPr indent="0" marL="0">
              <a:buNone/>
            </a:pPr>
            <a:r>
              <a:rPr lang="en-US" sz="1100" b="1" spc="200" kern="0" dirty="0">
                <a:solidFill>
                  <a:srgbClr val="C46A2B"/>
                </a:solidFill>
                <a:latin typeface="Calibri" pitchFamily="34" charset="0"/>
                <a:ea typeface="Calibri" pitchFamily="34" charset="-122"/>
                <a:cs typeface="Calibri" pitchFamily="34" charset="-120"/>
              </a:rPr>
              <a:t>WHY DATA IS THE GAP</a:t>
            </a:r>
            <a:endParaRPr lang="en-US" sz="1100" dirty="0"/>
          </a:p>
        </p:txBody>
      </p:sp>
      <p:sp>
        <p:nvSpPr>
          <p:cNvPr id="3" name="Text 1"/>
          <p:cNvSpPr txBox="1"/>
          <p:nvPr/>
        </p:nvSpPr>
        <p:spPr>
          <a:xfrm>
            <a:off x="548640" y="411480"/>
            <a:ext cx="11094415" cy="914400"/>
          </a:xfrm>
          <a:prstGeom prst="rect">
            <a:avLst/>
          </a:prstGeom>
          <a:noFill/>
          <a:ln/>
        </p:spPr>
        <p:txBody>
          <a:bodyPr wrap="square" lIns="0" tIns="0" rIns="0" bIns="0" rtlCol="0" anchor="t"/>
          <a:lstStyle/>
          <a:p>
            <a:pPr indent="0" marL="0">
              <a:buNone/>
            </a:pPr>
            <a:r>
              <a:rPr lang="en-US" sz="3400" b="1" dirty="0">
                <a:solidFill>
                  <a:srgbClr val="1B2229"/>
                </a:solidFill>
                <a:latin typeface="Calibri" pitchFamily="34" charset="0"/>
                <a:ea typeface="Calibri" pitchFamily="34" charset="-122"/>
                <a:cs typeface="Calibri" pitchFamily="34" charset="-120"/>
              </a:rPr>
              <a:t>Risk data exists, but it's scattered across systems</a:t>
            </a:r>
            <a:endParaRPr lang="en-US" sz="3400" dirty="0"/>
          </a:p>
        </p:txBody>
      </p:sp>
      <p:sp>
        <p:nvSpPr>
          <p:cNvPr id="4" name="Shape 2"/>
          <p:cNvSpPr/>
          <p:nvPr/>
        </p:nvSpPr>
        <p:spPr>
          <a:xfrm>
            <a:off x="548640" y="1691640"/>
            <a:ext cx="3931920" cy="685800"/>
          </a:xfrm>
          <a:prstGeom prst="rect">
            <a:avLst/>
          </a:prstGeom>
          <a:solidFill>
            <a:srgbClr val="EEF1F4"/>
          </a:solidFill>
          <a:ln w="12700">
            <a:solidFill>
              <a:srgbClr val="EEF1F4"/>
            </a:solidFill>
            <a:prstDash val="solid"/>
          </a:ln>
        </p:spPr>
      </p:sp>
      <p:sp>
        <p:nvSpPr>
          <p:cNvPr id="5" name="Shape 3"/>
          <p:cNvSpPr/>
          <p:nvPr/>
        </p:nvSpPr>
        <p:spPr>
          <a:xfrm>
            <a:off x="685800" y="1801368"/>
            <a:ext cx="457200" cy="457200"/>
          </a:xfrm>
          <a:prstGeom prst="roundRect">
            <a:avLst>
              <a:gd name="adj" fmla="val 16000"/>
            </a:avLst>
          </a:prstGeom>
          <a:solidFill>
            <a:srgbClr val="1B2229"/>
          </a:solidFill>
          <a:ln w="12700">
            <a:solidFill>
              <a:srgbClr val="1B2229"/>
            </a:solidFill>
            <a:prstDash val="solid"/>
          </a:ln>
        </p:spPr>
      </p:sp>
      <p:pic>
        <p:nvPicPr>
          <p:cNvPr id="6" name="Image 0" descr="preencoded.png">    </p:cNvPr>
          <p:cNvPicPr>
            <a:picLocks noChangeAspect="1"/>
          </p:cNvPicPr>
          <p:nvPr/>
        </p:nvPicPr>
        <p:blipFill>
          <a:blip r:embed="rId1"/>
          <a:stretch>
            <a:fillRect/>
          </a:stretch>
        </p:blipFill>
        <p:spPr>
          <a:xfrm>
            <a:off x="786384" y="1901952"/>
            <a:ext cx="256032" cy="256032"/>
          </a:xfrm>
          <a:prstGeom prst="rect">
            <a:avLst/>
          </a:prstGeom>
        </p:spPr>
      </p:pic>
      <p:sp>
        <p:nvSpPr>
          <p:cNvPr id="7" name="Text 4"/>
          <p:cNvSpPr txBox="1"/>
          <p:nvPr/>
        </p:nvSpPr>
        <p:spPr>
          <a:xfrm>
            <a:off x="1325880" y="1691640"/>
            <a:ext cx="3017520" cy="685800"/>
          </a:xfrm>
          <a:prstGeom prst="rect">
            <a:avLst/>
          </a:prstGeom>
          <a:noFill/>
          <a:ln/>
        </p:spPr>
        <p:txBody>
          <a:bodyPr wrap="square" lIns="0" tIns="0" rIns="0" bIns="0" rtlCol="0" anchor="ctr"/>
          <a:lstStyle/>
          <a:p>
            <a:pPr indent="0" marL="0">
              <a:buNone/>
            </a:pPr>
            <a:r>
              <a:rPr lang="en-US" sz="1600" b="1" dirty="0">
                <a:solidFill>
                  <a:srgbClr val="1B2229"/>
                </a:solidFill>
                <a:latin typeface="Calibri" pitchFamily="34" charset="0"/>
                <a:ea typeface="Calibri" pitchFamily="34" charset="-122"/>
                <a:cs typeface="Calibri" pitchFamily="34" charset="-120"/>
              </a:rPr>
              <a:t>ERP / MRP</a:t>
            </a:r>
            <a:endParaRPr lang="en-US" sz="1600" dirty="0"/>
          </a:p>
        </p:txBody>
      </p:sp>
      <p:sp>
        <p:nvSpPr>
          <p:cNvPr id="8" name="Shape 5"/>
          <p:cNvSpPr/>
          <p:nvPr/>
        </p:nvSpPr>
        <p:spPr>
          <a:xfrm>
            <a:off x="548640" y="2560320"/>
            <a:ext cx="3931920" cy="685800"/>
          </a:xfrm>
          <a:prstGeom prst="rect">
            <a:avLst/>
          </a:prstGeom>
          <a:solidFill>
            <a:srgbClr val="EEF1F4"/>
          </a:solidFill>
          <a:ln w="12700">
            <a:solidFill>
              <a:srgbClr val="EEF1F4"/>
            </a:solidFill>
            <a:prstDash val="solid"/>
          </a:ln>
        </p:spPr>
      </p:sp>
      <p:sp>
        <p:nvSpPr>
          <p:cNvPr id="9" name="Shape 6"/>
          <p:cNvSpPr/>
          <p:nvPr/>
        </p:nvSpPr>
        <p:spPr>
          <a:xfrm>
            <a:off x="685800" y="2670048"/>
            <a:ext cx="457200" cy="457200"/>
          </a:xfrm>
          <a:prstGeom prst="roundRect">
            <a:avLst>
              <a:gd name="adj" fmla="val 16000"/>
            </a:avLst>
          </a:prstGeom>
          <a:solidFill>
            <a:srgbClr val="1B2229"/>
          </a:solidFill>
          <a:ln w="12700">
            <a:solidFill>
              <a:srgbClr val="1B2229"/>
            </a:solidFill>
            <a:prstDash val="solid"/>
          </a:ln>
        </p:spPr>
      </p:sp>
      <p:pic>
        <p:nvPicPr>
          <p:cNvPr id="10" name="Image 1" descr="preencoded.png">    </p:cNvPr>
          <p:cNvPicPr>
            <a:picLocks noChangeAspect="1"/>
          </p:cNvPicPr>
          <p:nvPr/>
        </p:nvPicPr>
        <p:blipFill>
          <a:blip r:embed="rId2"/>
          <a:stretch>
            <a:fillRect/>
          </a:stretch>
        </p:blipFill>
        <p:spPr>
          <a:xfrm>
            <a:off x="786384" y="2770632"/>
            <a:ext cx="256032" cy="256032"/>
          </a:xfrm>
          <a:prstGeom prst="rect">
            <a:avLst/>
          </a:prstGeom>
        </p:spPr>
      </p:pic>
      <p:sp>
        <p:nvSpPr>
          <p:cNvPr id="11" name="Text 7"/>
          <p:cNvSpPr txBox="1"/>
          <p:nvPr/>
        </p:nvSpPr>
        <p:spPr>
          <a:xfrm>
            <a:off x="1325880" y="2560320"/>
            <a:ext cx="3017520" cy="685800"/>
          </a:xfrm>
          <a:prstGeom prst="rect">
            <a:avLst/>
          </a:prstGeom>
          <a:noFill/>
          <a:ln/>
        </p:spPr>
        <p:txBody>
          <a:bodyPr wrap="square" lIns="0" tIns="0" rIns="0" bIns="0" rtlCol="0" anchor="ctr"/>
          <a:lstStyle/>
          <a:p>
            <a:pPr indent="0" marL="0">
              <a:buNone/>
            </a:pPr>
            <a:r>
              <a:rPr lang="en-US" sz="1600" b="1" dirty="0">
                <a:solidFill>
                  <a:srgbClr val="1B2229"/>
                </a:solidFill>
                <a:latin typeface="Calibri" pitchFamily="34" charset="0"/>
                <a:ea typeface="Calibri" pitchFamily="34" charset="-122"/>
                <a:cs typeface="Calibri" pitchFamily="34" charset="-120"/>
              </a:rPr>
              <a:t>Supplier portals</a:t>
            </a:r>
            <a:endParaRPr lang="en-US" sz="1600" dirty="0"/>
          </a:p>
        </p:txBody>
      </p:sp>
      <p:sp>
        <p:nvSpPr>
          <p:cNvPr id="12" name="Shape 8"/>
          <p:cNvSpPr/>
          <p:nvPr/>
        </p:nvSpPr>
        <p:spPr>
          <a:xfrm>
            <a:off x="548640" y="3429000"/>
            <a:ext cx="3931920" cy="685800"/>
          </a:xfrm>
          <a:prstGeom prst="rect">
            <a:avLst/>
          </a:prstGeom>
          <a:solidFill>
            <a:srgbClr val="EEF1F4"/>
          </a:solidFill>
          <a:ln w="12700">
            <a:solidFill>
              <a:srgbClr val="EEF1F4"/>
            </a:solidFill>
            <a:prstDash val="solid"/>
          </a:ln>
        </p:spPr>
      </p:sp>
      <p:sp>
        <p:nvSpPr>
          <p:cNvPr id="13" name="Shape 9"/>
          <p:cNvSpPr/>
          <p:nvPr/>
        </p:nvSpPr>
        <p:spPr>
          <a:xfrm>
            <a:off x="685800" y="3538728"/>
            <a:ext cx="457200" cy="457200"/>
          </a:xfrm>
          <a:prstGeom prst="roundRect">
            <a:avLst>
              <a:gd name="adj" fmla="val 16000"/>
            </a:avLst>
          </a:prstGeom>
          <a:solidFill>
            <a:srgbClr val="1B2229"/>
          </a:solidFill>
          <a:ln w="12700">
            <a:solidFill>
              <a:srgbClr val="1B2229"/>
            </a:solidFill>
            <a:prstDash val="solid"/>
          </a:ln>
        </p:spPr>
      </p:sp>
      <p:pic>
        <p:nvPicPr>
          <p:cNvPr id="14" name="Image 2" descr="preencoded.png">    </p:cNvPr>
          <p:cNvPicPr>
            <a:picLocks noChangeAspect="1"/>
          </p:cNvPicPr>
          <p:nvPr/>
        </p:nvPicPr>
        <p:blipFill>
          <a:blip r:embed="rId3"/>
          <a:stretch>
            <a:fillRect/>
          </a:stretch>
        </p:blipFill>
        <p:spPr>
          <a:xfrm>
            <a:off x="786384" y="3639312"/>
            <a:ext cx="256032" cy="256032"/>
          </a:xfrm>
          <a:prstGeom prst="rect">
            <a:avLst/>
          </a:prstGeom>
        </p:spPr>
      </p:pic>
      <p:sp>
        <p:nvSpPr>
          <p:cNvPr id="15" name="Text 10"/>
          <p:cNvSpPr txBox="1"/>
          <p:nvPr/>
        </p:nvSpPr>
        <p:spPr>
          <a:xfrm>
            <a:off x="1325880" y="3429000"/>
            <a:ext cx="3017520" cy="685800"/>
          </a:xfrm>
          <a:prstGeom prst="rect">
            <a:avLst/>
          </a:prstGeom>
          <a:noFill/>
          <a:ln/>
        </p:spPr>
        <p:txBody>
          <a:bodyPr wrap="square" lIns="0" tIns="0" rIns="0" bIns="0" rtlCol="0" anchor="ctr"/>
          <a:lstStyle/>
          <a:p>
            <a:pPr indent="0" marL="0">
              <a:buNone/>
            </a:pPr>
            <a:r>
              <a:rPr lang="en-US" sz="1600" b="1" dirty="0">
                <a:solidFill>
                  <a:srgbClr val="1B2229"/>
                </a:solidFill>
                <a:latin typeface="Calibri" pitchFamily="34" charset="0"/>
                <a:ea typeface="Calibri" pitchFamily="34" charset="-122"/>
                <a:cs typeface="Calibri" pitchFamily="34" charset="-120"/>
              </a:rPr>
              <a:t>Logistics feeds</a:t>
            </a:r>
            <a:endParaRPr lang="en-US" sz="1600" dirty="0"/>
          </a:p>
        </p:txBody>
      </p:sp>
      <p:sp>
        <p:nvSpPr>
          <p:cNvPr id="16" name="Shape 11"/>
          <p:cNvSpPr/>
          <p:nvPr/>
        </p:nvSpPr>
        <p:spPr>
          <a:xfrm>
            <a:off x="548640" y="4297680"/>
            <a:ext cx="3931920" cy="685800"/>
          </a:xfrm>
          <a:prstGeom prst="rect">
            <a:avLst/>
          </a:prstGeom>
          <a:solidFill>
            <a:srgbClr val="EEF1F4"/>
          </a:solidFill>
          <a:ln w="12700">
            <a:solidFill>
              <a:srgbClr val="EEF1F4"/>
            </a:solidFill>
            <a:prstDash val="solid"/>
          </a:ln>
        </p:spPr>
      </p:sp>
      <p:sp>
        <p:nvSpPr>
          <p:cNvPr id="17" name="Shape 12"/>
          <p:cNvSpPr/>
          <p:nvPr/>
        </p:nvSpPr>
        <p:spPr>
          <a:xfrm>
            <a:off x="685800" y="4407408"/>
            <a:ext cx="457200" cy="457200"/>
          </a:xfrm>
          <a:prstGeom prst="roundRect">
            <a:avLst>
              <a:gd name="adj" fmla="val 16000"/>
            </a:avLst>
          </a:prstGeom>
          <a:solidFill>
            <a:srgbClr val="1B2229"/>
          </a:solidFill>
          <a:ln w="12700">
            <a:solidFill>
              <a:srgbClr val="1B2229"/>
            </a:solidFill>
            <a:prstDash val="solid"/>
          </a:ln>
        </p:spPr>
      </p:sp>
      <p:pic>
        <p:nvPicPr>
          <p:cNvPr id="18" name="Image 3" descr="preencoded.png">    </p:cNvPr>
          <p:cNvPicPr>
            <a:picLocks noChangeAspect="1"/>
          </p:cNvPicPr>
          <p:nvPr/>
        </p:nvPicPr>
        <p:blipFill>
          <a:blip r:embed="rId4"/>
          <a:stretch>
            <a:fillRect/>
          </a:stretch>
        </p:blipFill>
        <p:spPr>
          <a:xfrm>
            <a:off x="786384" y="4507992"/>
            <a:ext cx="256032" cy="256032"/>
          </a:xfrm>
          <a:prstGeom prst="rect">
            <a:avLst/>
          </a:prstGeom>
        </p:spPr>
      </p:pic>
      <p:sp>
        <p:nvSpPr>
          <p:cNvPr id="19" name="Text 13"/>
          <p:cNvSpPr txBox="1"/>
          <p:nvPr/>
        </p:nvSpPr>
        <p:spPr>
          <a:xfrm>
            <a:off x="1325880" y="4297680"/>
            <a:ext cx="3017520" cy="685800"/>
          </a:xfrm>
          <a:prstGeom prst="rect">
            <a:avLst/>
          </a:prstGeom>
          <a:noFill/>
          <a:ln/>
        </p:spPr>
        <p:txBody>
          <a:bodyPr wrap="square" lIns="0" tIns="0" rIns="0" bIns="0" rtlCol="0" anchor="ctr"/>
          <a:lstStyle/>
          <a:p>
            <a:pPr indent="0" marL="0">
              <a:buNone/>
            </a:pPr>
            <a:r>
              <a:rPr lang="en-US" sz="1600" b="1" dirty="0">
                <a:solidFill>
                  <a:srgbClr val="1B2229"/>
                </a:solidFill>
                <a:latin typeface="Calibri" pitchFamily="34" charset="0"/>
                <a:ea typeface="Calibri" pitchFamily="34" charset="-122"/>
                <a:cs typeface="Calibri" pitchFamily="34" charset="-120"/>
              </a:rPr>
              <a:t>MES &amp; quality</a:t>
            </a:r>
            <a:endParaRPr lang="en-US" sz="1600" dirty="0"/>
          </a:p>
        </p:txBody>
      </p:sp>
      <p:sp>
        <p:nvSpPr>
          <p:cNvPr id="20" name="Shape 14"/>
          <p:cNvSpPr/>
          <p:nvPr/>
        </p:nvSpPr>
        <p:spPr>
          <a:xfrm>
            <a:off x="548640" y="5166360"/>
            <a:ext cx="3931920" cy="685800"/>
          </a:xfrm>
          <a:prstGeom prst="rect">
            <a:avLst/>
          </a:prstGeom>
          <a:solidFill>
            <a:srgbClr val="EEF1F4"/>
          </a:solidFill>
          <a:ln w="12700">
            <a:solidFill>
              <a:srgbClr val="EEF1F4"/>
            </a:solidFill>
            <a:prstDash val="solid"/>
          </a:ln>
        </p:spPr>
      </p:sp>
      <p:sp>
        <p:nvSpPr>
          <p:cNvPr id="21" name="Shape 15"/>
          <p:cNvSpPr/>
          <p:nvPr/>
        </p:nvSpPr>
        <p:spPr>
          <a:xfrm>
            <a:off x="685800" y="5276088"/>
            <a:ext cx="457200" cy="457200"/>
          </a:xfrm>
          <a:prstGeom prst="roundRect">
            <a:avLst>
              <a:gd name="adj" fmla="val 16000"/>
            </a:avLst>
          </a:prstGeom>
          <a:solidFill>
            <a:srgbClr val="1B2229"/>
          </a:solidFill>
          <a:ln w="12700">
            <a:solidFill>
              <a:srgbClr val="1B2229"/>
            </a:solidFill>
            <a:prstDash val="solid"/>
          </a:ln>
        </p:spPr>
      </p:sp>
      <p:pic>
        <p:nvPicPr>
          <p:cNvPr id="22" name="Image 4" descr="preencoded.png">    </p:cNvPr>
          <p:cNvPicPr>
            <a:picLocks noChangeAspect="1"/>
          </p:cNvPicPr>
          <p:nvPr/>
        </p:nvPicPr>
        <p:blipFill>
          <a:blip r:embed="rId5"/>
          <a:stretch>
            <a:fillRect/>
          </a:stretch>
        </p:blipFill>
        <p:spPr>
          <a:xfrm>
            <a:off x="786384" y="5376672"/>
            <a:ext cx="256032" cy="256032"/>
          </a:xfrm>
          <a:prstGeom prst="rect">
            <a:avLst/>
          </a:prstGeom>
        </p:spPr>
      </p:pic>
      <p:sp>
        <p:nvSpPr>
          <p:cNvPr id="23" name="Text 16"/>
          <p:cNvSpPr txBox="1"/>
          <p:nvPr/>
        </p:nvSpPr>
        <p:spPr>
          <a:xfrm>
            <a:off x="1325880" y="5166360"/>
            <a:ext cx="3017520" cy="685800"/>
          </a:xfrm>
          <a:prstGeom prst="rect">
            <a:avLst/>
          </a:prstGeom>
          <a:noFill/>
          <a:ln/>
        </p:spPr>
        <p:txBody>
          <a:bodyPr wrap="square" lIns="0" tIns="0" rIns="0" bIns="0" rtlCol="0" anchor="ctr"/>
          <a:lstStyle/>
          <a:p>
            <a:pPr indent="0" marL="0">
              <a:buNone/>
            </a:pPr>
            <a:r>
              <a:rPr lang="en-US" sz="1600" b="1" dirty="0">
                <a:solidFill>
                  <a:srgbClr val="1B2229"/>
                </a:solidFill>
                <a:latin typeface="Calibri" pitchFamily="34" charset="0"/>
                <a:ea typeface="Calibri" pitchFamily="34" charset="-122"/>
                <a:cs typeface="Calibri" pitchFamily="34" charset="-120"/>
              </a:rPr>
              <a:t>News &amp; trade data</a:t>
            </a:r>
            <a:endParaRPr lang="en-US" sz="1600" dirty="0"/>
          </a:p>
        </p:txBody>
      </p:sp>
      <p:sp>
        <p:nvSpPr>
          <p:cNvPr id="24" name="Shape 17"/>
          <p:cNvSpPr/>
          <p:nvPr/>
        </p:nvSpPr>
        <p:spPr>
          <a:xfrm>
            <a:off x="4800600" y="3291840"/>
            <a:ext cx="731520" cy="731520"/>
          </a:xfrm>
          <a:prstGeom prst="roundRect">
            <a:avLst>
              <a:gd name="adj" fmla="val 10000"/>
            </a:avLst>
          </a:prstGeom>
          <a:solidFill>
            <a:srgbClr val="C46A2B"/>
          </a:solidFill>
          <a:ln w="12700">
            <a:solidFill>
              <a:srgbClr val="C46A2B"/>
            </a:solidFill>
            <a:prstDash val="solid"/>
          </a:ln>
        </p:spPr>
      </p:sp>
      <p:pic>
        <p:nvPicPr>
          <p:cNvPr id="25" name="Image 5" descr="preencoded.png">    </p:cNvPr>
          <p:cNvPicPr>
            <a:picLocks noChangeAspect="1"/>
          </p:cNvPicPr>
          <p:nvPr/>
        </p:nvPicPr>
        <p:blipFill>
          <a:blip r:embed="rId6"/>
          <a:stretch>
            <a:fillRect/>
          </a:stretch>
        </p:blipFill>
        <p:spPr>
          <a:xfrm>
            <a:off x="4961534" y="3452774"/>
            <a:ext cx="409651" cy="409651"/>
          </a:xfrm>
          <a:prstGeom prst="rect">
            <a:avLst/>
          </a:prstGeom>
        </p:spPr>
      </p:pic>
      <p:sp>
        <p:nvSpPr>
          <p:cNvPr id="26" name="Text 18"/>
          <p:cNvSpPr txBox="1"/>
          <p:nvPr/>
        </p:nvSpPr>
        <p:spPr>
          <a:xfrm>
            <a:off x="5989320" y="1691640"/>
            <a:ext cx="5669280" cy="365760"/>
          </a:xfrm>
          <a:prstGeom prst="rect">
            <a:avLst/>
          </a:prstGeom>
          <a:noFill/>
          <a:ln/>
        </p:spPr>
        <p:txBody>
          <a:bodyPr wrap="square" lIns="0" tIns="0" rIns="0" bIns="0" rtlCol="0" anchor="ctr"/>
          <a:lstStyle/>
          <a:p>
            <a:pPr indent="0" marL="0">
              <a:buNone/>
            </a:pPr>
            <a:r>
              <a:rPr lang="en-US" sz="1700" b="1" dirty="0">
                <a:solidFill>
                  <a:srgbClr val="1B2229"/>
                </a:solidFill>
                <a:latin typeface="Calibri" pitchFamily="34" charset="0"/>
                <a:ea typeface="Calibri" pitchFamily="34" charset="-122"/>
                <a:cs typeface="Calibri" pitchFamily="34" charset="-120"/>
              </a:rPr>
              <a:t>Different IDs for the same thing</a:t>
            </a:r>
            <a:endParaRPr lang="en-US" sz="1700" dirty="0"/>
          </a:p>
        </p:txBody>
      </p:sp>
      <p:sp>
        <p:nvSpPr>
          <p:cNvPr id="27" name="Text 19"/>
          <p:cNvSpPr txBox="1"/>
          <p:nvPr/>
        </p:nvSpPr>
        <p:spPr>
          <a:xfrm>
            <a:off x="5989320" y="2057400"/>
            <a:ext cx="5669280" cy="566928"/>
          </a:xfrm>
          <a:prstGeom prst="rect">
            <a:avLst/>
          </a:prstGeom>
          <a:noFill/>
          <a:ln/>
        </p:spPr>
        <p:txBody>
          <a:bodyPr wrap="square" lIns="0" tIns="0" rIns="0" bIns="0" rtlCol="0" anchor="t"/>
          <a:lstStyle/>
          <a:p>
            <a:pPr indent="0" marL="0">
              <a:buNone/>
            </a:pPr>
            <a:r>
              <a:rPr lang="en-US" sz="1400" dirty="0">
                <a:solidFill>
                  <a:srgbClr val="5A6672"/>
                </a:solidFill>
                <a:latin typeface="Calibri" pitchFamily="34" charset="0"/>
                <a:ea typeface="Calibri" pitchFamily="34" charset="-122"/>
                <a:cs typeface="Calibri" pitchFamily="34" charset="-120"/>
              </a:rPr>
              <a:t>Part numbers, supplier codes, and site names don't match across systems.</a:t>
            </a:r>
            <a:endParaRPr lang="en-US" sz="1400" dirty="0"/>
          </a:p>
        </p:txBody>
      </p:sp>
      <p:sp>
        <p:nvSpPr>
          <p:cNvPr id="28" name="Text 20"/>
          <p:cNvSpPr txBox="1"/>
          <p:nvPr/>
        </p:nvSpPr>
        <p:spPr>
          <a:xfrm>
            <a:off x="5989320" y="2770632"/>
            <a:ext cx="5669280" cy="365760"/>
          </a:xfrm>
          <a:prstGeom prst="rect">
            <a:avLst/>
          </a:prstGeom>
          <a:noFill/>
          <a:ln/>
        </p:spPr>
        <p:txBody>
          <a:bodyPr wrap="square" lIns="0" tIns="0" rIns="0" bIns="0" rtlCol="0" anchor="ctr"/>
          <a:lstStyle/>
          <a:p>
            <a:pPr indent="0" marL="0">
              <a:buNone/>
            </a:pPr>
            <a:r>
              <a:rPr lang="en-US" sz="1700" b="1" dirty="0">
                <a:solidFill>
                  <a:srgbClr val="1B2229"/>
                </a:solidFill>
                <a:latin typeface="Calibri" pitchFamily="34" charset="0"/>
                <a:ea typeface="Calibri" pitchFamily="34" charset="-122"/>
                <a:cs typeface="Calibri" pitchFamily="34" charset="-120"/>
              </a:rPr>
              <a:t>No lineage</a:t>
            </a:r>
            <a:endParaRPr lang="en-US" sz="1700" dirty="0"/>
          </a:p>
        </p:txBody>
      </p:sp>
      <p:sp>
        <p:nvSpPr>
          <p:cNvPr id="29" name="Text 21"/>
          <p:cNvSpPr txBox="1"/>
          <p:nvPr/>
        </p:nvSpPr>
        <p:spPr>
          <a:xfrm>
            <a:off x="5989320" y="3136392"/>
            <a:ext cx="5669280" cy="566928"/>
          </a:xfrm>
          <a:prstGeom prst="rect">
            <a:avLst/>
          </a:prstGeom>
          <a:noFill/>
          <a:ln/>
        </p:spPr>
        <p:txBody>
          <a:bodyPr wrap="square" lIns="0" tIns="0" rIns="0" bIns="0" rtlCol="0" anchor="t"/>
          <a:lstStyle/>
          <a:p>
            <a:pPr indent="0" marL="0">
              <a:buNone/>
            </a:pPr>
            <a:r>
              <a:rPr lang="en-US" sz="1400" dirty="0">
                <a:solidFill>
                  <a:srgbClr val="5A6672"/>
                </a:solidFill>
                <a:latin typeface="Calibri" pitchFamily="34" charset="0"/>
                <a:ea typeface="Calibri" pitchFamily="34" charset="-122"/>
                <a:cs typeface="Calibri" pitchFamily="34" charset="-120"/>
              </a:rPr>
              <a:t>Nobody can say where a lead time or risk score came from, or when it was last true.</a:t>
            </a:r>
            <a:endParaRPr lang="en-US" sz="1400" dirty="0"/>
          </a:p>
        </p:txBody>
      </p:sp>
      <p:sp>
        <p:nvSpPr>
          <p:cNvPr id="30" name="Text 22"/>
          <p:cNvSpPr txBox="1"/>
          <p:nvPr/>
        </p:nvSpPr>
        <p:spPr>
          <a:xfrm>
            <a:off x="5989320" y="3849624"/>
            <a:ext cx="5669280" cy="365760"/>
          </a:xfrm>
          <a:prstGeom prst="rect">
            <a:avLst/>
          </a:prstGeom>
          <a:noFill/>
          <a:ln/>
        </p:spPr>
        <p:txBody>
          <a:bodyPr wrap="square" lIns="0" tIns="0" rIns="0" bIns="0" rtlCol="0" anchor="ctr"/>
          <a:lstStyle/>
          <a:p>
            <a:pPr indent="0" marL="0">
              <a:buNone/>
            </a:pPr>
            <a:r>
              <a:rPr lang="en-US" sz="1700" b="1" dirty="0">
                <a:solidFill>
                  <a:srgbClr val="1B2229"/>
                </a:solidFill>
                <a:latin typeface="Calibri" pitchFamily="34" charset="0"/>
                <a:ea typeface="Calibri" pitchFamily="34" charset="-122"/>
                <a:cs typeface="Calibri" pitchFamily="34" charset="-120"/>
              </a:rPr>
              <a:t>Stale master data</a:t>
            </a:r>
            <a:endParaRPr lang="en-US" sz="1700" dirty="0"/>
          </a:p>
        </p:txBody>
      </p:sp>
      <p:sp>
        <p:nvSpPr>
          <p:cNvPr id="31" name="Text 23"/>
          <p:cNvSpPr txBox="1"/>
          <p:nvPr/>
        </p:nvSpPr>
        <p:spPr>
          <a:xfrm>
            <a:off x="5989320" y="4215384"/>
            <a:ext cx="5669280" cy="566928"/>
          </a:xfrm>
          <a:prstGeom prst="rect">
            <a:avLst/>
          </a:prstGeom>
          <a:noFill/>
          <a:ln/>
        </p:spPr>
        <p:txBody>
          <a:bodyPr wrap="square" lIns="0" tIns="0" rIns="0" bIns="0" rtlCol="0" anchor="t"/>
          <a:lstStyle/>
          <a:p>
            <a:pPr indent="0" marL="0">
              <a:buNone/>
            </a:pPr>
            <a:r>
              <a:rPr lang="en-US" sz="1400" dirty="0">
                <a:solidFill>
                  <a:srgbClr val="5A6672"/>
                </a:solidFill>
                <a:latin typeface="Calibri" pitchFamily="34" charset="0"/>
                <a:ea typeface="Calibri" pitchFamily="34" charset="-122"/>
                <a:cs typeface="Calibri" pitchFamily="34" charset="-120"/>
              </a:rPr>
              <a:t>Planned lead times and approved sources drift from reality between reviews.</a:t>
            </a:r>
            <a:endParaRPr lang="en-US" sz="1400" dirty="0"/>
          </a:p>
        </p:txBody>
      </p:sp>
      <p:sp>
        <p:nvSpPr>
          <p:cNvPr id="32" name="Text 24"/>
          <p:cNvSpPr txBox="1"/>
          <p:nvPr/>
        </p:nvSpPr>
        <p:spPr>
          <a:xfrm>
            <a:off x="5989320" y="4928616"/>
            <a:ext cx="5669280" cy="365760"/>
          </a:xfrm>
          <a:prstGeom prst="rect">
            <a:avLst/>
          </a:prstGeom>
          <a:noFill/>
          <a:ln/>
        </p:spPr>
        <p:txBody>
          <a:bodyPr wrap="square" lIns="0" tIns="0" rIns="0" bIns="0" rtlCol="0" anchor="ctr"/>
          <a:lstStyle/>
          <a:p>
            <a:pPr indent="0" marL="0">
              <a:buNone/>
            </a:pPr>
            <a:r>
              <a:rPr lang="en-US" sz="1700" b="1" dirty="0">
                <a:solidFill>
                  <a:srgbClr val="1B2229"/>
                </a:solidFill>
                <a:latin typeface="Calibri" pitchFamily="34" charset="0"/>
                <a:ea typeface="Calibri" pitchFamily="34" charset="-122"/>
                <a:cs typeface="Calibri" pitchFamily="34" charset="-120"/>
              </a:rPr>
              <a:t>No terms for sharing</a:t>
            </a:r>
            <a:endParaRPr lang="en-US" sz="1700" dirty="0"/>
          </a:p>
        </p:txBody>
      </p:sp>
      <p:sp>
        <p:nvSpPr>
          <p:cNvPr id="33" name="Text 25"/>
          <p:cNvSpPr txBox="1"/>
          <p:nvPr/>
        </p:nvSpPr>
        <p:spPr>
          <a:xfrm>
            <a:off x="5989320" y="5294376"/>
            <a:ext cx="5669280" cy="566928"/>
          </a:xfrm>
          <a:prstGeom prst="rect">
            <a:avLst/>
          </a:prstGeom>
          <a:noFill/>
          <a:ln/>
        </p:spPr>
        <p:txBody>
          <a:bodyPr wrap="square" lIns="0" tIns="0" rIns="0" bIns="0" rtlCol="0" anchor="t"/>
          <a:lstStyle/>
          <a:p>
            <a:pPr indent="0" marL="0">
              <a:buNone/>
            </a:pPr>
            <a:r>
              <a:rPr lang="en-US" sz="1400" dirty="0">
                <a:solidFill>
                  <a:srgbClr val="5A6672"/>
                </a:solidFill>
                <a:latin typeface="Calibri" pitchFamily="34" charset="0"/>
                <a:ea typeface="Calibri" pitchFamily="34" charset="-122"/>
                <a:cs typeface="Calibri" pitchFamily="34" charset="-120"/>
              </a:rPr>
              <a:t>Partners hold back data because use, access, and retention were never agreed.</a:t>
            </a:r>
            <a:endParaRPr lang="en-US" sz="1400" dirty="0"/>
          </a:p>
        </p:txBody>
      </p:sp>
      <p:sp>
        <p:nvSpPr>
          <p:cNvPr id="34" name="Text 26"/>
          <p:cNvSpPr txBox="1"/>
          <p:nvPr/>
        </p:nvSpPr>
        <p:spPr>
          <a:xfrm>
            <a:off x="8899855" y="6446520"/>
            <a:ext cx="2743200" cy="228600"/>
          </a:xfrm>
          <a:prstGeom prst="rect">
            <a:avLst/>
          </a:prstGeom>
          <a:noFill/>
          <a:ln/>
        </p:spPr>
        <p:txBody>
          <a:bodyPr wrap="square" lIns="0" tIns="0" rIns="0" bIns="0" rtlCol="0" anchor="ctr"/>
          <a:lstStyle/>
          <a:p>
            <a:pPr algn="r" indent="0" marL="0">
              <a:buNone/>
            </a:pPr>
            <a:r>
              <a:rPr lang="en-US" sz="900" dirty="0">
                <a:solidFill>
                  <a:srgbClr val="8A96A3"/>
                </a:solidFill>
                <a:latin typeface="Calibri" pitchFamily="34" charset="0"/>
                <a:ea typeface="Calibri" pitchFamily="34" charset="-122"/>
                <a:cs typeface="Calibri" pitchFamily="34" charset="-120"/>
              </a:rPr>
              <a:t>SEMICON West  |  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182880"/>
            <a:ext cx="7315200" cy="274320"/>
          </a:xfrm>
          <a:prstGeom prst="rect">
            <a:avLst/>
          </a:prstGeom>
          <a:noFill/>
          <a:ln/>
        </p:spPr>
        <p:txBody>
          <a:bodyPr wrap="square" lIns="0" tIns="0" rIns="0" bIns="0" rtlCol="0" anchor="ctr"/>
          <a:lstStyle/>
          <a:p>
            <a:pPr indent="0" marL="0">
              <a:buNone/>
            </a:pPr>
            <a:r>
              <a:rPr lang="en-US" sz="1100" b="1" spc="200" kern="0" dirty="0">
                <a:solidFill>
                  <a:srgbClr val="C46A2B"/>
                </a:solidFill>
                <a:latin typeface="Calibri" pitchFamily="34" charset="0"/>
                <a:ea typeface="Calibri" pitchFamily="34" charset="-122"/>
                <a:cs typeface="Calibri" pitchFamily="34" charset="-120"/>
              </a:rPr>
              <a:t>WHY DATA IS THE GAP</a:t>
            </a:r>
            <a:endParaRPr lang="en-US" sz="1100" dirty="0"/>
          </a:p>
        </p:txBody>
      </p:sp>
      <p:sp>
        <p:nvSpPr>
          <p:cNvPr id="3" name="Text 1"/>
          <p:cNvSpPr txBox="1"/>
          <p:nvPr/>
        </p:nvSpPr>
        <p:spPr>
          <a:xfrm>
            <a:off x="548640" y="411480"/>
            <a:ext cx="11094415" cy="914400"/>
          </a:xfrm>
          <a:prstGeom prst="rect">
            <a:avLst/>
          </a:prstGeom>
          <a:noFill/>
          <a:ln/>
        </p:spPr>
        <p:txBody>
          <a:bodyPr wrap="square" lIns="0" tIns="0" rIns="0" bIns="0" rtlCol="0" anchor="t"/>
          <a:lstStyle/>
          <a:p>
            <a:pPr indent="0" marL="0">
              <a:buNone/>
            </a:pPr>
            <a:r>
              <a:rPr lang="en-US" sz="3400" b="1" dirty="0">
                <a:solidFill>
                  <a:srgbClr val="1B2229"/>
                </a:solidFill>
                <a:latin typeface="Calibri" pitchFamily="34" charset="0"/>
                <a:ea typeface="Calibri" pitchFamily="34" charset="-122"/>
                <a:cs typeface="Calibri" pitchFamily="34" charset="-120"/>
              </a:rPr>
              <a:t>AI adoption is running ahead of AI governance</a:t>
            </a:r>
            <a:endParaRPr lang="en-US" sz="3400" dirty="0"/>
          </a:p>
        </p:txBody>
      </p:sp>
      <p:graphicFrame>
        <p:nvGraphicFramePr>
          <p:cNvPr id="4" name="Chart 0" descr=""/>
          <p:cNvGraphicFramePr/>
          <p:nvPr/>
        </p:nvGraphicFramePr>
        <p:xfrm>
          <a:off x="548640" y="1554480"/>
          <a:ext cx="6035040" cy="3383280"/>
        </p:xfrm>
        <a:graphic xmlns:a="http://schemas.openxmlformats.org/drawingml/2006/main">
          <a:graphicData uri="http://schemas.openxmlformats.org/drawingml/2006/chart">
            <c:chart xmlns:c="http://schemas.openxmlformats.org/drawingml/2006/chart" r:id="rId1"/>
          </a:graphicData>
        </a:graphic>
      </p:graphicFrame>
      <p:sp>
        <p:nvSpPr>
          <p:cNvPr id="5" name="Text 2"/>
          <p:cNvSpPr txBox="1"/>
          <p:nvPr/>
        </p:nvSpPr>
        <p:spPr>
          <a:xfrm>
            <a:off x="548640" y="5029200"/>
            <a:ext cx="6035040" cy="457200"/>
          </a:xfrm>
          <a:prstGeom prst="rect">
            <a:avLst/>
          </a:prstGeom>
          <a:noFill/>
          <a:ln/>
        </p:spPr>
        <p:txBody>
          <a:bodyPr wrap="square" lIns="0" tIns="0" rIns="0" bIns="0" rtlCol="0" anchor="t"/>
          <a:lstStyle/>
          <a:p>
            <a:pPr indent="0" marL="0">
              <a:buNone/>
            </a:pPr>
            <a:r>
              <a:rPr lang="en-US" sz="1000" i="1" dirty="0">
                <a:solidFill>
                  <a:srgbClr val="8A96A3"/>
                </a:solidFill>
                <a:latin typeface="Calibri" pitchFamily="34" charset="0"/>
                <a:ea typeface="Calibri" pitchFamily="34" charset="-122"/>
                <a:cs typeface="Calibri" pitchFamily="34" charset="-120"/>
              </a:rPr>
              <a:t>Sources: Gartner press releases, Feb 5, 2025 (GenAI deployment) and Jun 11, 2025 (AI strategy; 120 leaders surveyed). Separate surveys.</a:t>
            </a:r>
            <a:endParaRPr lang="en-US" sz="1000" dirty="0"/>
          </a:p>
        </p:txBody>
      </p:sp>
      <p:sp>
        <p:nvSpPr>
          <p:cNvPr id="6" name="Shape 3"/>
          <p:cNvSpPr/>
          <p:nvPr/>
        </p:nvSpPr>
        <p:spPr>
          <a:xfrm>
            <a:off x="6949440" y="1554480"/>
            <a:ext cx="4693615" cy="3931920"/>
          </a:xfrm>
          <a:prstGeom prst="rect">
            <a:avLst/>
          </a:prstGeom>
          <a:solidFill>
            <a:srgbClr val="1B2229"/>
          </a:solidFill>
          <a:ln w="12700">
            <a:solidFill>
              <a:srgbClr val="1B2229"/>
            </a:solidFill>
            <a:prstDash val="solid"/>
          </a:ln>
        </p:spPr>
      </p:sp>
      <p:sp>
        <p:nvSpPr>
          <p:cNvPr id="7" name="Text 4"/>
          <p:cNvSpPr txBox="1"/>
          <p:nvPr/>
        </p:nvSpPr>
        <p:spPr>
          <a:xfrm>
            <a:off x="7269480" y="1737360"/>
            <a:ext cx="4053535" cy="365760"/>
          </a:xfrm>
          <a:prstGeom prst="rect">
            <a:avLst/>
          </a:prstGeom>
          <a:noFill/>
          <a:ln/>
        </p:spPr>
        <p:txBody>
          <a:bodyPr wrap="square" lIns="0" tIns="0" rIns="0" bIns="0" rtlCol="0" anchor="ctr"/>
          <a:lstStyle/>
          <a:p>
            <a:pPr indent="0" marL="0">
              <a:buNone/>
            </a:pPr>
            <a:r>
              <a:rPr lang="en-US" sz="1600" b="1" dirty="0">
                <a:solidFill>
                  <a:srgbClr val="E8B48F"/>
                </a:solidFill>
                <a:latin typeface="Calibri" pitchFamily="34" charset="0"/>
                <a:ea typeface="Calibri" pitchFamily="34" charset="-122"/>
                <a:cs typeface="Calibri" pitchFamily="34" charset="-120"/>
              </a:rPr>
              <a:t>When it's done well</a:t>
            </a:r>
            <a:endParaRPr lang="en-US" sz="1600" dirty="0"/>
          </a:p>
        </p:txBody>
      </p:sp>
      <p:sp>
        <p:nvSpPr>
          <p:cNvPr id="8" name="Text 5"/>
          <p:cNvSpPr txBox="1"/>
          <p:nvPr/>
        </p:nvSpPr>
        <p:spPr>
          <a:xfrm>
            <a:off x="7269480" y="2240280"/>
            <a:ext cx="1463040" cy="731520"/>
          </a:xfrm>
          <a:prstGeom prst="rect">
            <a:avLst/>
          </a:prstGeom>
          <a:noFill/>
          <a:ln/>
        </p:spPr>
        <p:txBody>
          <a:bodyPr wrap="square" lIns="0" tIns="0" rIns="0" bIns="0" rtlCol="0" anchor="ctr"/>
          <a:lstStyle/>
          <a:p>
            <a:pPr indent="0" marL="0">
              <a:buNone/>
            </a:pPr>
            <a:r>
              <a:rPr lang="en-US" sz="3600" b="1" dirty="0">
                <a:solidFill>
                  <a:srgbClr val="C46A2B"/>
                </a:solidFill>
                <a:latin typeface="Calibri" pitchFamily="34" charset="0"/>
                <a:ea typeface="Calibri" pitchFamily="34" charset="-122"/>
                <a:cs typeface="Calibri" pitchFamily="34" charset="-120"/>
              </a:rPr>
              <a:t>15%</a:t>
            </a:r>
            <a:endParaRPr lang="en-US" sz="3600" dirty="0"/>
          </a:p>
        </p:txBody>
      </p:sp>
      <p:sp>
        <p:nvSpPr>
          <p:cNvPr id="9" name="Text 6"/>
          <p:cNvSpPr txBox="1"/>
          <p:nvPr/>
        </p:nvSpPr>
        <p:spPr>
          <a:xfrm>
            <a:off x="8778240" y="2240280"/>
            <a:ext cx="2590495" cy="731520"/>
          </a:xfrm>
          <a:prstGeom prst="rect">
            <a:avLst/>
          </a:prstGeom>
          <a:noFill/>
          <a:ln/>
        </p:spPr>
        <p:txBody>
          <a:bodyPr wrap="square" lIns="0" tIns="0" rIns="0" bIns="0" rtlCol="0" anchor="ctr"/>
          <a:lstStyle/>
          <a:p>
            <a:pPr indent="0" marL="0">
              <a:buNone/>
            </a:pPr>
            <a:r>
              <a:rPr lang="en-US" sz="1500" dirty="0">
                <a:solidFill>
                  <a:srgbClr val="FFFFFF"/>
                </a:solidFill>
                <a:latin typeface="Calibri" pitchFamily="34" charset="0"/>
                <a:ea typeface="Calibri" pitchFamily="34" charset="-122"/>
                <a:cs typeface="Calibri" pitchFamily="34" charset="-120"/>
              </a:rPr>
              <a:t>better logistics costs</a:t>
            </a:r>
            <a:endParaRPr lang="en-US" sz="1500" dirty="0"/>
          </a:p>
        </p:txBody>
      </p:sp>
      <p:sp>
        <p:nvSpPr>
          <p:cNvPr id="10" name="Text 7"/>
          <p:cNvSpPr txBox="1"/>
          <p:nvPr/>
        </p:nvSpPr>
        <p:spPr>
          <a:xfrm>
            <a:off x="7269480" y="3108960"/>
            <a:ext cx="1463040" cy="731520"/>
          </a:xfrm>
          <a:prstGeom prst="rect">
            <a:avLst/>
          </a:prstGeom>
          <a:noFill/>
          <a:ln/>
        </p:spPr>
        <p:txBody>
          <a:bodyPr wrap="square" lIns="0" tIns="0" rIns="0" bIns="0" rtlCol="0" anchor="ctr"/>
          <a:lstStyle/>
          <a:p>
            <a:pPr indent="0" marL="0">
              <a:buNone/>
            </a:pPr>
            <a:r>
              <a:rPr lang="en-US" sz="3600" b="1" dirty="0">
                <a:solidFill>
                  <a:srgbClr val="C46A2B"/>
                </a:solidFill>
                <a:latin typeface="Calibri" pitchFamily="34" charset="0"/>
                <a:ea typeface="Calibri" pitchFamily="34" charset="-122"/>
                <a:cs typeface="Calibri" pitchFamily="34" charset="-120"/>
              </a:rPr>
              <a:t>35%</a:t>
            </a:r>
            <a:endParaRPr lang="en-US" sz="3600" dirty="0"/>
          </a:p>
        </p:txBody>
      </p:sp>
      <p:sp>
        <p:nvSpPr>
          <p:cNvPr id="11" name="Text 8"/>
          <p:cNvSpPr txBox="1"/>
          <p:nvPr/>
        </p:nvSpPr>
        <p:spPr>
          <a:xfrm>
            <a:off x="8778240" y="3108960"/>
            <a:ext cx="2590495" cy="731520"/>
          </a:xfrm>
          <a:prstGeom prst="rect">
            <a:avLst/>
          </a:prstGeom>
          <a:noFill/>
          <a:ln/>
        </p:spPr>
        <p:txBody>
          <a:bodyPr wrap="square" lIns="0" tIns="0" rIns="0" bIns="0" rtlCol="0" anchor="ctr"/>
          <a:lstStyle/>
          <a:p>
            <a:pPr indent="0" marL="0">
              <a:buNone/>
            </a:pPr>
            <a:r>
              <a:rPr lang="en-US" sz="1500" dirty="0">
                <a:solidFill>
                  <a:srgbClr val="FFFFFF"/>
                </a:solidFill>
                <a:latin typeface="Calibri" pitchFamily="34" charset="0"/>
                <a:ea typeface="Calibri" pitchFamily="34" charset="-122"/>
                <a:cs typeface="Calibri" pitchFamily="34" charset="-120"/>
              </a:rPr>
              <a:t>better inventory levels</a:t>
            </a:r>
            <a:endParaRPr lang="en-US" sz="1500" dirty="0"/>
          </a:p>
        </p:txBody>
      </p:sp>
      <p:sp>
        <p:nvSpPr>
          <p:cNvPr id="12" name="Text 9"/>
          <p:cNvSpPr txBox="1"/>
          <p:nvPr/>
        </p:nvSpPr>
        <p:spPr>
          <a:xfrm>
            <a:off x="7269480" y="3977640"/>
            <a:ext cx="1463040" cy="731520"/>
          </a:xfrm>
          <a:prstGeom prst="rect">
            <a:avLst/>
          </a:prstGeom>
          <a:noFill/>
          <a:ln/>
        </p:spPr>
        <p:txBody>
          <a:bodyPr wrap="square" lIns="0" tIns="0" rIns="0" bIns="0" rtlCol="0" anchor="ctr"/>
          <a:lstStyle/>
          <a:p>
            <a:pPr indent="0" marL="0">
              <a:buNone/>
            </a:pPr>
            <a:r>
              <a:rPr lang="en-US" sz="3600" b="1" dirty="0">
                <a:solidFill>
                  <a:srgbClr val="C46A2B"/>
                </a:solidFill>
                <a:latin typeface="Calibri" pitchFamily="34" charset="0"/>
                <a:ea typeface="Calibri" pitchFamily="34" charset="-122"/>
                <a:cs typeface="Calibri" pitchFamily="34" charset="-120"/>
              </a:rPr>
              <a:t>65%</a:t>
            </a:r>
            <a:endParaRPr lang="en-US" sz="3600" dirty="0"/>
          </a:p>
        </p:txBody>
      </p:sp>
      <p:sp>
        <p:nvSpPr>
          <p:cNvPr id="13" name="Text 10"/>
          <p:cNvSpPr txBox="1"/>
          <p:nvPr/>
        </p:nvSpPr>
        <p:spPr>
          <a:xfrm>
            <a:off x="8778240" y="3977640"/>
            <a:ext cx="2590495" cy="731520"/>
          </a:xfrm>
          <a:prstGeom prst="rect">
            <a:avLst/>
          </a:prstGeom>
          <a:noFill/>
          <a:ln/>
        </p:spPr>
        <p:txBody>
          <a:bodyPr wrap="square" lIns="0" tIns="0" rIns="0" bIns="0" rtlCol="0" anchor="ctr"/>
          <a:lstStyle/>
          <a:p>
            <a:pPr indent="0" marL="0">
              <a:buNone/>
            </a:pPr>
            <a:r>
              <a:rPr lang="en-US" sz="1500" dirty="0">
                <a:solidFill>
                  <a:srgbClr val="FFFFFF"/>
                </a:solidFill>
                <a:latin typeface="Calibri" pitchFamily="34" charset="0"/>
                <a:ea typeface="Calibri" pitchFamily="34" charset="-122"/>
                <a:cs typeface="Calibri" pitchFamily="34" charset="-120"/>
              </a:rPr>
              <a:t>better service levels</a:t>
            </a:r>
            <a:endParaRPr lang="en-US" sz="1500" dirty="0"/>
          </a:p>
        </p:txBody>
      </p:sp>
      <p:sp>
        <p:nvSpPr>
          <p:cNvPr id="14" name="Text 11"/>
          <p:cNvSpPr txBox="1"/>
          <p:nvPr/>
        </p:nvSpPr>
        <p:spPr>
          <a:xfrm>
            <a:off x="7269480" y="4846320"/>
            <a:ext cx="4053535" cy="548640"/>
          </a:xfrm>
          <a:prstGeom prst="rect">
            <a:avLst/>
          </a:prstGeom>
          <a:noFill/>
          <a:ln/>
        </p:spPr>
        <p:txBody>
          <a:bodyPr wrap="square" lIns="0" tIns="0" rIns="0" bIns="0" rtlCol="0" anchor="t"/>
          <a:lstStyle/>
          <a:p>
            <a:pPr indent="0" marL="0">
              <a:buNone/>
            </a:pPr>
            <a:r>
              <a:rPr lang="en-US" sz="1000" i="1" dirty="0">
                <a:solidFill>
                  <a:srgbClr val="8A96A3"/>
                </a:solidFill>
                <a:latin typeface="Calibri" pitchFamily="34" charset="0"/>
                <a:ea typeface="Calibri" pitchFamily="34" charset="-122"/>
                <a:cs typeface="Calibri" pitchFamily="34" charset="-120"/>
              </a:rPr>
              <a:t>Early adopters of AI-enabled supply chain management vs. slower competitors. Source: McKinsey, "Succeeding in the AI supply-chain revolution" (2021).</a:t>
            </a:r>
            <a:endParaRPr lang="en-US" sz="1000" dirty="0"/>
          </a:p>
        </p:txBody>
      </p:sp>
      <p:sp>
        <p:nvSpPr>
          <p:cNvPr id="15" name="Text 12"/>
          <p:cNvSpPr txBox="1"/>
          <p:nvPr/>
        </p:nvSpPr>
        <p:spPr>
          <a:xfrm>
            <a:off x="548640" y="5806440"/>
            <a:ext cx="11094415" cy="411480"/>
          </a:xfrm>
          <a:prstGeom prst="rect">
            <a:avLst/>
          </a:prstGeom>
          <a:noFill/>
          <a:ln/>
        </p:spPr>
        <p:txBody>
          <a:bodyPr wrap="square" lIns="0" tIns="0" rIns="0" bIns="0" rtlCol="0" anchor="ctr"/>
          <a:lstStyle/>
          <a:p>
            <a:pPr indent="0" marL="0">
              <a:buNone/>
            </a:pPr>
            <a:r>
              <a:rPr lang="en-US" sz="1600" i="1" dirty="0">
                <a:solidFill>
                  <a:srgbClr val="C46A2B"/>
                </a:solidFill>
                <a:latin typeface="Calibri" pitchFamily="34" charset="0"/>
                <a:ea typeface="Calibri" pitchFamily="34" charset="-122"/>
                <a:cs typeface="Calibri" pitchFamily="34" charset="-120"/>
              </a:rPr>
              <a:t>The gap between those two bars is where ungoverned AI risk lives.</a:t>
            </a:r>
            <a:endParaRPr lang="en-US" sz="1600" dirty="0"/>
          </a:p>
        </p:txBody>
      </p:sp>
      <p:sp>
        <p:nvSpPr>
          <p:cNvPr id="16" name="Text 13"/>
          <p:cNvSpPr txBox="1"/>
          <p:nvPr/>
        </p:nvSpPr>
        <p:spPr>
          <a:xfrm>
            <a:off x="8899855" y="6446520"/>
            <a:ext cx="2743200" cy="228600"/>
          </a:xfrm>
          <a:prstGeom prst="rect">
            <a:avLst/>
          </a:prstGeom>
          <a:noFill/>
          <a:ln/>
        </p:spPr>
        <p:txBody>
          <a:bodyPr wrap="square" lIns="0" tIns="0" rIns="0" bIns="0" rtlCol="0" anchor="ctr"/>
          <a:lstStyle/>
          <a:p>
            <a:pPr algn="r" indent="0" marL="0">
              <a:buNone/>
            </a:pPr>
            <a:r>
              <a:rPr lang="en-US" sz="900" dirty="0">
                <a:solidFill>
                  <a:srgbClr val="8A96A3"/>
                </a:solidFill>
                <a:latin typeface="Calibri" pitchFamily="34" charset="0"/>
                <a:ea typeface="Calibri" pitchFamily="34" charset="-122"/>
                <a:cs typeface="Calibri" pitchFamily="34" charset="-120"/>
              </a:rPr>
              <a:t>SEMICON West  |  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182880"/>
            <a:ext cx="7315200" cy="274320"/>
          </a:xfrm>
          <a:prstGeom prst="rect">
            <a:avLst/>
          </a:prstGeom>
          <a:noFill/>
          <a:ln/>
        </p:spPr>
        <p:txBody>
          <a:bodyPr wrap="square" lIns="0" tIns="0" rIns="0" bIns="0" rtlCol="0" anchor="ctr"/>
          <a:lstStyle/>
          <a:p>
            <a:pPr indent="0" marL="0">
              <a:buNone/>
            </a:pPr>
            <a:r>
              <a:rPr lang="en-US" sz="1100" b="1" spc="200" kern="0" dirty="0">
                <a:solidFill>
                  <a:srgbClr val="C46A2B"/>
                </a:solidFill>
                <a:latin typeface="Calibri" pitchFamily="34" charset="0"/>
                <a:ea typeface="Calibri" pitchFamily="34" charset="-122"/>
                <a:cs typeface="Calibri" pitchFamily="34" charset="-120"/>
              </a:rPr>
              <a:t>GOVERNANCE AS THE LEVER</a:t>
            </a:r>
            <a:endParaRPr lang="en-US" sz="1100" dirty="0"/>
          </a:p>
        </p:txBody>
      </p:sp>
      <p:sp>
        <p:nvSpPr>
          <p:cNvPr id="3" name="Text 1"/>
          <p:cNvSpPr txBox="1"/>
          <p:nvPr/>
        </p:nvSpPr>
        <p:spPr>
          <a:xfrm>
            <a:off x="548640" y="411480"/>
            <a:ext cx="11094415" cy="914400"/>
          </a:xfrm>
          <a:prstGeom prst="rect">
            <a:avLst/>
          </a:prstGeom>
          <a:noFill/>
          <a:ln/>
        </p:spPr>
        <p:txBody>
          <a:bodyPr wrap="square" lIns="0" tIns="0" rIns="0" bIns="0" rtlCol="0" anchor="t"/>
          <a:lstStyle/>
          <a:p>
            <a:pPr indent="0" marL="0">
              <a:buNone/>
            </a:pPr>
            <a:r>
              <a:rPr lang="en-US" sz="3400" b="1" dirty="0">
                <a:solidFill>
                  <a:srgbClr val="1B2229"/>
                </a:solidFill>
                <a:latin typeface="Calibri" pitchFamily="34" charset="0"/>
                <a:ea typeface="Calibri" pitchFamily="34" charset="-122"/>
                <a:cs typeface="Calibri" pitchFamily="34" charset="-120"/>
              </a:rPr>
              <a:t>Each type of AI model needs its own governance control</a:t>
            </a:r>
            <a:endParaRPr lang="en-US" sz="3400" dirty="0"/>
          </a:p>
        </p:txBody>
      </p:sp>
      <p:sp>
        <p:nvSpPr>
          <p:cNvPr id="4" name="Shape 2"/>
          <p:cNvSpPr/>
          <p:nvPr/>
        </p:nvSpPr>
        <p:spPr>
          <a:xfrm>
            <a:off x="548640" y="1508760"/>
            <a:ext cx="3520440" cy="2148840"/>
          </a:xfrm>
          <a:prstGeom prst="rect">
            <a:avLst/>
          </a:prstGeom>
          <a:solidFill>
            <a:srgbClr val="EEF1F4"/>
          </a:solidFill>
          <a:ln w="12700">
            <a:solidFill>
              <a:srgbClr val="EEF1F4"/>
            </a:solidFill>
            <a:prstDash val="solid"/>
          </a:ln>
        </p:spPr>
      </p:sp>
      <p:sp>
        <p:nvSpPr>
          <p:cNvPr id="5" name="Shape 3"/>
          <p:cNvSpPr/>
          <p:nvPr/>
        </p:nvSpPr>
        <p:spPr>
          <a:xfrm>
            <a:off x="777240" y="1737360"/>
            <a:ext cx="502920" cy="502920"/>
          </a:xfrm>
          <a:prstGeom prst="roundRect">
            <a:avLst>
              <a:gd name="adj" fmla="val 14545"/>
            </a:avLst>
          </a:prstGeom>
          <a:solidFill>
            <a:srgbClr val="1B2229"/>
          </a:solidFill>
          <a:ln w="12700">
            <a:solidFill>
              <a:srgbClr val="1B2229"/>
            </a:solidFill>
            <a:prstDash val="solid"/>
          </a:ln>
        </p:spPr>
      </p:sp>
      <p:pic>
        <p:nvPicPr>
          <p:cNvPr id="6" name="Image 0" descr="preencoded.png">    </p:cNvPr>
          <p:cNvPicPr>
            <a:picLocks noChangeAspect="1"/>
          </p:cNvPicPr>
          <p:nvPr/>
        </p:nvPicPr>
        <p:blipFill>
          <a:blip r:embed="rId1"/>
          <a:stretch>
            <a:fillRect/>
          </a:stretch>
        </p:blipFill>
        <p:spPr>
          <a:xfrm>
            <a:off x="887882" y="1848002"/>
            <a:ext cx="281635" cy="281635"/>
          </a:xfrm>
          <a:prstGeom prst="rect">
            <a:avLst/>
          </a:prstGeom>
        </p:spPr>
      </p:pic>
      <p:sp>
        <p:nvSpPr>
          <p:cNvPr id="7" name="Text 4"/>
          <p:cNvSpPr txBox="1"/>
          <p:nvPr/>
        </p:nvSpPr>
        <p:spPr>
          <a:xfrm>
            <a:off x="1417320" y="1691640"/>
            <a:ext cx="2468880" cy="365760"/>
          </a:xfrm>
          <a:prstGeom prst="rect">
            <a:avLst/>
          </a:prstGeom>
          <a:noFill/>
          <a:ln/>
        </p:spPr>
        <p:txBody>
          <a:bodyPr wrap="square" lIns="0" tIns="0" rIns="0" bIns="0" rtlCol="0" anchor="ctr"/>
          <a:lstStyle/>
          <a:p>
            <a:pPr indent="0" marL="0">
              <a:buNone/>
            </a:pPr>
            <a:r>
              <a:rPr lang="en-US" sz="1600" b="1" dirty="0">
                <a:solidFill>
                  <a:srgbClr val="1B2229"/>
                </a:solidFill>
                <a:latin typeface="Calibri" pitchFamily="34" charset="0"/>
                <a:ea typeface="Calibri" pitchFamily="34" charset="-122"/>
                <a:cs typeface="Calibri" pitchFamily="34" charset="-120"/>
              </a:rPr>
              <a:t>Time-series forecasting</a:t>
            </a:r>
            <a:endParaRPr lang="en-US" sz="1600" dirty="0"/>
          </a:p>
        </p:txBody>
      </p:sp>
      <p:sp>
        <p:nvSpPr>
          <p:cNvPr id="8" name="Text 5"/>
          <p:cNvSpPr txBox="1"/>
          <p:nvPr/>
        </p:nvSpPr>
        <p:spPr>
          <a:xfrm>
            <a:off x="1417320" y="2039112"/>
            <a:ext cx="2468880" cy="274320"/>
          </a:xfrm>
          <a:prstGeom prst="rect">
            <a:avLst/>
          </a:prstGeom>
          <a:noFill/>
          <a:ln/>
        </p:spPr>
        <p:txBody>
          <a:bodyPr wrap="square" lIns="0" tIns="0" rIns="0" bIns="0" rtlCol="0" anchor="ctr"/>
          <a:lstStyle/>
          <a:p>
            <a:pPr indent="0" marL="0">
              <a:buNone/>
            </a:pPr>
            <a:r>
              <a:rPr lang="en-US" sz="1100" i="1" dirty="0">
                <a:solidFill>
                  <a:srgbClr val="8A96A3"/>
                </a:solidFill>
                <a:latin typeface="Calibri" pitchFamily="34" charset="0"/>
                <a:ea typeface="Calibri" pitchFamily="34" charset="-122"/>
                <a:cs typeface="Calibri" pitchFamily="34" charset="-120"/>
              </a:rPr>
              <a:t>Gradient boosting, LSTM, transformers</a:t>
            </a:r>
            <a:endParaRPr lang="en-US" sz="1100" dirty="0"/>
          </a:p>
        </p:txBody>
      </p:sp>
      <p:sp>
        <p:nvSpPr>
          <p:cNvPr id="9" name="Text 6"/>
          <p:cNvSpPr txBox="1"/>
          <p:nvPr/>
        </p:nvSpPr>
        <p:spPr>
          <a:xfrm>
            <a:off x="777240" y="2404872"/>
            <a:ext cx="3063240" cy="566928"/>
          </a:xfrm>
          <a:prstGeom prst="rect">
            <a:avLst/>
          </a:prstGeom>
          <a:noFill/>
          <a:ln/>
        </p:spPr>
        <p:txBody>
          <a:bodyPr wrap="square" lIns="0" tIns="0" rIns="0" bIns="0" rtlCol="0" anchor="t"/>
          <a:lstStyle/>
          <a:p>
            <a:pPr indent="0" marL="0">
              <a:buNone/>
            </a:pPr>
            <a:r>
              <a:rPr lang="en-US" sz="1300" dirty="0">
                <a:solidFill>
                  <a:srgbClr val="5A6672"/>
                </a:solidFill>
                <a:latin typeface="Calibri" pitchFamily="34" charset="0"/>
                <a:ea typeface="Calibri" pitchFamily="34" charset="-122"/>
                <a:cs typeface="Calibri" pitchFamily="34" charset="-120"/>
              </a:rPr>
              <a:t>Predicts demand, lead times, and allocation risk</a:t>
            </a:r>
            <a:endParaRPr lang="en-US" sz="1300" dirty="0"/>
          </a:p>
        </p:txBody>
      </p:sp>
      <p:sp>
        <p:nvSpPr>
          <p:cNvPr id="10" name="Text 7"/>
          <p:cNvSpPr txBox="1"/>
          <p:nvPr/>
        </p:nvSpPr>
        <p:spPr>
          <a:xfrm>
            <a:off x="777240" y="2971800"/>
            <a:ext cx="3063240" cy="566928"/>
          </a:xfrm>
          <a:prstGeom prst="rect">
            <a:avLst/>
          </a:prstGeom>
          <a:noFill/>
          <a:ln/>
        </p:spPr>
        <p:txBody>
          <a:bodyPr wrap="square" lIns="0" tIns="0" rIns="0" bIns="0" rtlCol="0" anchor="t"/>
          <a:lstStyle/>
          <a:p>
            <a:pPr indent="0" marL="0">
              <a:buNone/>
            </a:pPr>
            <a:r>
              <a:rPr lang="en-US" sz="1300" b="1" dirty="0">
                <a:solidFill>
                  <a:srgbClr val="C46A2B"/>
                </a:solidFill>
                <a:latin typeface="Calibri" pitchFamily="34" charset="0"/>
                <a:ea typeface="Calibri" pitchFamily="34" charset="-122"/>
                <a:cs typeface="Calibri" pitchFamily="34" charset="-120"/>
              </a:rPr>
              <a:t>Control: </a:t>
            </a:r>
            <a:pPr indent="0" marL="0">
              <a:buNone/>
            </a:pPr>
            <a:r>
              <a:rPr lang="en-US" sz="1300" dirty="0">
                <a:solidFill>
                  <a:srgbClr val="C46A2B"/>
                </a:solidFill>
                <a:latin typeface="Calibri" pitchFamily="34" charset="0"/>
                <a:ea typeface="Calibri" pitchFamily="34" charset="-122"/>
                <a:cs typeface="Calibri" pitchFamily="34" charset="-120"/>
              </a:rPr>
              <a:t>Backtest on past disruptions; monitor drift</a:t>
            </a:r>
            <a:endParaRPr lang="en-US" sz="1300" dirty="0"/>
          </a:p>
        </p:txBody>
      </p:sp>
      <p:sp>
        <p:nvSpPr>
          <p:cNvPr id="11" name="Shape 8"/>
          <p:cNvSpPr/>
          <p:nvPr/>
        </p:nvSpPr>
        <p:spPr>
          <a:xfrm>
            <a:off x="4343400" y="1508760"/>
            <a:ext cx="3520440" cy="2148840"/>
          </a:xfrm>
          <a:prstGeom prst="rect">
            <a:avLst/>
          </a:prstGeom>
          <a:solidFill>
            <a:srgbClr val="EEF1F4"/>
          </a:solidFill>
          <a:ln w="12700">
            <a:solidFill>
              <a:srgbClr val="EEF1F4"/>
            </a:solidFill>
            <a:prstDash val="solid"/>
          </a:ln>
        </p:spPr>
      </p:sp>
      <p:sp>
        <p:nvSpPr>
          <p:cNvPr id="12" name="Shape 9"/>
          <p:cNvSpPr/>
          <p:nvPr/>
        </p:nvSpPr>
        <p:spPr>
          <a:xfrm>
            <a:off x="4572000" y="1737360"/>
            <a:ext cx="502920" cy="502920"/>
          </a:xfrm>
          <a:prstGeom prst="roundRect">
            <a:avLst>
              <a:gd name="adj" fmla="val 14545"/>
            </a:avLst>
          </a:prstGeom>
          <a:solidFill>
            <a:srgbClr val="1B2229"/>
          </a:solidFill>
          <a:ln w="12700">
            <a:solidFill>
              <a:srgbClr val="1B2229"/>
            </a:solidFill>
            <a:prstDash val="solid"/>
          </a:ln>
        </p:spPr>
      </p:sp>
      <p:pic>
        <p:nvPicPr>
          <p:cNvPr id="13" name="Image 1" descr="preencoded.png">    </p:cNvPr>
          <p:cNvPicPr>
            <a:picLocks noChangeAspect="1"/>
          </p:cNvPicPr>
          <p:nvPr/>
        </p:nvPicPr>
        <p:blipFill>
          <a:blip r:embed="rId2"/>
          <a:stretch>
            <a:fillRect/>
          </a:stretch>
        </p:blipFill>
        <p:spPr>
          <a:xfrm>
            <a:off x="4682642" y="1848002"/>
            <a:ext cx="281635" cy="281635"/>
          </a:xfrm>
          <a:prstGeom prst="rect">
            <a:avLst/>
          </a:prstGeom>
        </p:spPr>
      </p:pic>
      <p:sp>
        <p:nvSpPr>
          <p:cNvPr id="14" name="Text 10"/>
          <p:cNvSpPr txBox="1"/>
          <p:nvPr/>
        </p:nvSpPr>
        <p:spPr>
          <a:xfrm>
            <a:off x="5212080" y="1691640"/>
            <a:ext cx="2468880" cy="365760"/>
          </a:xfrm>
          <a:prstGeom prst="rect">
            <a:avLst/>
          </a:prstGeom>
          <a:noFill/>
          <a:ln/>
        </p:spPr>
        <p:txBody>
          <a:bodyPr wrap="square" lIns="0" tIns="0" rIns="0" bIns="0" rtlCol="0" anchor="ctr"/>
          <a:lstStyle/>
          <a:p>
            <a:pPr indent="0" marL="0">
              <a:buNone/>
            </a:pPr>
            <a:r>
              <a:rPr lang="en-US" sz="1600" b="1" dirty="0">
                <a:solidFill>
                  <a:srgbClr val="1B2229"/>
                </a:solidFill>
                <a:latin typeface="Calibri" pitchFamily="34" charset="0"/>
                <a:ea typeface="Calibri" pitchFamily="34" charset="-122"/>
                <a:cs typeface="Calibri" pitchFamily="34" charset="-120"/>
              </a:rPr>
              <a:t>Graph models</a:t>
            </a:r>
            <a:endParaRPr lang="en-US" sz="1600" dirty="0"/>
          </a:p>
        </p:txBody>
      </p:sp>
      <p:sp>
        <p:nvSpPr>
          <p:cNvPr id="15" name="Text 11"/>
          <p:cNvSpPr txBox="1"/>
          <p:nvPr/>
        </p:nvSpPr>
        <p:spPr>
          <a:xfrm>
            <a:off x="5212080" y="2039112"/>
            <a:ext cx="2468880" cy="274320"/>
          </a:xfrm>
          <a:prstGeom prst="rect">
            <a:avLst/>
          </a:prstGeom>
          <a:noFill/>
          <a:ln/>
        </p:spPr>
        <p:txBody>
          <a:bodyPr wrap="square" lIns="0" tIns="0" rIns="0" bIns="0" rtlCol="0" anchor="ctr"/>
          <a:lstStyle/>
          <a:p>
            <a:pPr indent="0" marL="0">
              <a:buNone/>
            </a:pPr>
            <a:r>
              <a:rPr lang="en-US" sz="1100" i="1" dirty="0">
                <a:solidFill>
                  <a:srgbClr val="8A96A3"/>
                </a:solidFill>
                <a:latin typeface="Calibri" pitchFamily="34" charset="0"/>
                <a:ea typeface="Calibri" pitchFamily="34" charset="-122"/>
                <a:cs typeface="Calibri" pitchFamily="34" charset="-120"/>
              </a:rPr>
              <a:t>Knowledge graphs, GNNs</a:t>
            </a:r>
            <a:endParaRPr lang="en-US" sz="1100" dirty="0"/>
          </a:p>
        </p:txBody>
      </p:sp>
      <p:sp>
        <p:nvSpPr>
          <p:cNvPr id="16" name="Text 12"/>
          <p:cNvSpPr txBox="1"/>
          <p:nvPr/>
        </p:nvSpPr>
        <p:spPr>
          <a:xfrm>
            <a:off x="4572000" y="2404872"/>
            <a:ext cx="3063240" cy="566928"/>
          </a:xfrm>
          <a:prstGeom prst="rect">
            <a:avLst/>
          </a:prstGeom>
          <a:noFill/>
          <a:ln/>
        </p:spPr>
        <p:txBody>
          <a:bodyPr wrap="square" lIns="0" tIns="0" rIns="0" bIns="0" rtlCol="0" anchor="t"/>
          <a:lstStyle/>
          <a:p>
            <a:pPr indent="0" marL="0">
              <a:buNone/>
            </a:pPr>
            <a:r>
              <a:rPr lang="en-US" sz="1300" dirty="0">
                <a:solidFill>
                  <a:srgbClr val="5A6672"/>
                </a:solidFill>
                <a:latin typeface="Calibri" pitchFamily="34" charset="0"/>
                <a:ea typeface="Calibri" pitchFamily="34" charset="-122"/>
                <a:cs typeface="Calibri" pitchFamily="34" charset="-120"/>
              </a:rPr>
              <a:t>Maps multi-tier BOMs to find single points of failure</a:t>
            </a:r>
            <a:endParaRPr lang="en-US" sz="1300" dirty="0"/>
          </a:p>
        </p:txBody>
      </p:sp>
      <p:sp>
        <p:nvSpPr>
          <p:cNvPr id="17" name="Text 13"/>
          <p:cNvSpPr txBox="1"/>
          <p:nvPr/>
        </p:nvSpPr>
        <p:spPr>
          <a:xfrm>
            <a:off x="4572000" y="2971800"/>
            <a:ext cx="3063240" cy="566928"/>
          </a:xfrm>
          <a:prstGeom prst="rect">
            <a:avLst/>
          </a:prstGeom>
          <a:noFill/>
          <a:ln/>
        </p:spPr>
        <p:txBody>
          <a:bodyPr wrap="square" lIns="0" tIns="0" rIns="0" bIns="0" rtlCol="0" anchor="t"/>
          <a:lstStyle/>
          <a:p>
            <a:pPr indent="0" marL="0">
              <a:buNone/>
            </a:pPr>
            <a:r>
              <a:rPr lang="en-US" sz="1300" b="1" dirty="0">
                <a:solidFill>
                  <a:srgbClr val="C46A2B"/>
                </a:solidFill>
                <a:latin typeface="Calibri" pitchFamily="34" charset="0"/>
                <a:ea typeface="Calibri" pitchFamily="34" charset="-122"/>
                <a:cs typeface="Calibri" pitchFamily="34" charset="-120"/>
              </a:rPr>
              <a:t>Control: </a:t>
            </a:r>
            <a:pPr indent="0" marL="0">
              <a:buNone/>
            </a:pPr>
            <a:r>
              <a:rPr lang="en-US" sz="1300" dirty="0">
                <a:solidFill>
                  <a:srgbClr val="C46A2B"/>
                </a:solidFill>
                <a:latin typeface="Calibri" pitchFamily="34" charset="0"/>
                <a:ea typeface="Calibri" pitchFamily="34" charset="-122"/>
                <a:cs typeface="Calibri" pitchFamily="34" charset="-120"/>
              </a:rPr>
              <a:t>Lineage and a confidence level on every link</a:t>
            </a:r>
            <a:endParaRPr lang="en-US" sz="1300" dirty="0"/>
          </a:p>
        </p:txBody>
      </p:sp>
      <p:sp>
        <p:nvSpPr>
          <p:cNvPr id="18" name="Shape 14"/>
          <p:cNvSpPr/>
          <p:nvPr/>
        </p:nvSpPr>
        <p:spPr>
          <a:xfrm>
            <a:off x="8138160" y="1508760"/>
            <a:ext cx="3520440" cy="2148840"/>
          </a:xfrm>
          <a:prstGeom prst="rect">
            <a:avLst/>
          </a:prstGeom>
          <a:solidFill>
            <a:srgbClr val="EEF1F4"/>
          </a:solidFill>
          <a:ln w="12700">
            <a:solidFill>
              <a:srgbClr val="EEF1F4"/>
            </a:solidFill>
            <a:prstDash val="solid"/>
          </a:ln>
        </p:spPr>
      </p:sp>
      <p:sp>
        <p:nvSpPr>
          <p:cNvPr id="19" name="Shape 15"/>
          <p:cNvSpPr/>
          <p:nvPr/>
        </p:nvSpPr>
        <p:spPr>
          <a:xfrm>
            <a:off x="8366760" y="1737360"/>
            <a:ext cx="502920" cy="502920"/>
          </a:xfrm>
          <a:prstGeom prst="roundRect">
            <a:avLst>
              <a:gd name="adj" fmla="val 14545"/>
            </a:avLst>
          </a:prstGeom>
          <a:solidFill>
            <a:srgbClr val="1B2229"/>
          </a:solidFill>
          <a:ln w="12700">
            <a:solidFill>
              <a:srgbClr val="1B2229"/>
            </a:solidFill>
            <a:prstDash val="solid"/>
          </a:ln>
        </p:spPr>
      </p:sp>
      <p:pic>
        <p:nvPicPr>
          <p:cNvPr id="20" name="Image 2" descr="preencoded.png">    </p:cNvPr>
          <p:cNvPicPr>
            <a:picLocks noChangeAspect="1"/>
          </p:cNvPicPr>
          <p:nvPr/>
        </p:nvPicPr>
        <p:blipFill>
          <a:blip r:embed="rId3"/>
          <a:stretch>
            <a:fillRect/>
          </a:stretch>
        </p:blipFill>
        <p:spPr>
          <a:xfrm>
            <a:off x="8477402" y="1848002"/>
            <a:ext cx="281635" cy="281635"/>
          </a:xfrm>
          <a:prstGeom prst="rect">
            <a:avLst/>
          </a:prstGeom>
        </p:spPr>
      </p:pic>
      <p:sp>
        <p:nvSpPr>
          <p:cNvPr id="21" name="Text 16"/>
          <p:cNvSpPr txBox="1"/>
          <p:nvPr/>
        </p:nvSpPr>
        <p:spPr>
          <a:xfrm>
            <a:off x="9006840" y="1691640"/>
            <a:ext cx="2468880" cy="365760"/>
          </a:xfrm>
          <a:prstGeom prst="rect">
            <a:avLst/>
          </a:prstGeom>
          <a:noFill/>
          <a:ln/>
        </p:spPr>
        <p:txBody>
          <a:bodyPr wrap="square" lIns="0" tIns="0" rIns="0" bIns="0" rtlCol="0" anchor="ctr"/>
          <a:lstStyle/>
          <a:p>
            <a:pPr indent="0" marL="0">
              <a:buNone/>
            </a:pPr>
            <a:r>
              <a:rPr lang="en-US" sz="1600" b="1" dirty="0">
                <a:solidFill>
                  <a:srgbClr val="1B2229"/>
                </a:solidFill>
                <a:latin typeface="Calibri" pitchFamily="34" charset="0"/>
                <a:ea typeface="Calibri" pitchFamily="34" charset="-122"/>
                <a:cs typeface="Calibri" pitchFamily="34" charset="-120"/>
              </a:rPr>
              <a:t>NLP &amp; LLMs</a:t>
            </a:r>
            <a:endParaRPr lang="en-US" sz="1600" dirty="0"/>
          </a:p>
        </p:txBody>
      </p:sp>
      <p:sp>
        <p:nvSpPr>
          <p:cNvPr id="22" name="Text 17"/>
          <p:cNvSpPr txBox="1"/>
          <p:nvPr/>
        </p:nvSpPr>
        <p:spPr>
          <a:xfrm>
            <a:off x="9006840" y="2039112"/>
            <a:ext cx="2468880" cy="274320"/>
          </a:xfrm>
          <a:prstGeom prst="rect">
            <a:avLst/>
          </a:prstGeom>
          <a:noFill/>
          <a:ln/>
        </p:spPr>
        <p:txBody>
          <a:bodyPr wrap="square" lIns="0" tIns="0" rIns="0" bIns="0" rtlCol="0" anchor="ctr"/>
          <a:lstStyle/>
          <a:p>
            <a:pPr indent="0" marL="0">
              <a:buNone/>
            </a:pPr>
            <a:r>
              <a:rPr lang="en-US" sz="1100" i="1" dirty="0">
                <a:solidFill>
                  <a:srgbClr val="8A96A3"/>
                </a:solidFill>
                <a:latin typeface="Calibri" pitchFamily="34" charset="0"/>
                <a:ea typeface="Calibri" pitchFamily="34" charset="-122"/>
                <a:cs typeface="Calibri" pitchFamily="34" charset="-120"/>
              </a:rPr>
              <a:t>Classifiers, language models, retrieval</a:t>
            </a:r>
            <a:endParaRPr lang="en-US" sz="1100" dirty="0"/>
          </a:p>
        </p:txBody>
      </p:sp>
      <p:sp>
        <p:nvSpPr>
          <p:cNvPr id="23" name="Text 18"/>
          <p:cNvSpPr txBox="1"/>
          <p:nvPr/>
        </p:nvSpPr>
        <p:spPr>
          <a:xfrm>
            <a:off x="8366760" y="2404872"/>
            <a:ext cx="3063240" cy="566928"/>
          </a:xfrm>
          <a:prstGeom prst="rect">
            <a:avLst/>
          </a:prstGeom>
          <a:noFill/>
          <a:ln/>
        </p:spPr>
        <p:txBody>
          <a:bodyPr wrap="square" lIns="0" tIns="0" rIns="0" bIns="0" rtlCol="0" anchor="t"/>
          <a:lstStyle/>
          <a:p>
            <a:pPr indent="0" marL="0">
              <a:buNone/>
            </a:pPr>
            <a:r>
              <a:rPr lang="en-US" sz="1300" dirty="0">
                <a:solidFill>
                  <a:srgbClr val="5A6672"/>
                </a:solidFill>
                <a:latin typeface="Calibri" pitchFamily="34" charset="0"/>
                <a:ea typeface="Calibri" pitchFamily="34" charset="-122"/>
                <a:cs typeface="Calibri" pitchFamily="34" charset="-120"/>
              </a:rPr>
              <a:t>Reads news, supplier notices, and regulations for early signals</a:t>
            </a:r>
            <a:endParaRPr lang="en-US" sz="1300" dirty="0"/>
          </a:p>
        </p:txBody>
      </p:sp>
      <p:sp>
        <p:nvSpPr>
          <p:cNvPr id="24" name="Text 19"/>
          <p:cNvSpPr txBox="1"/>
          <p:nvPr/>
        </p:nvSpPr>
        <p:spPr>
          <a:xfrm>
            <a:off x="8366760" y="2971800"/>
            <a:ext cx="3063240" cy="566928"/>
          </a:xfrm>
          <a:prstGeom prst="rect">
            <a:avLst/>
          </a:prstGeom>
          <a:noFill/>
          <a:ln/>
        </p:spPr>
        <p:txBody>
          <a:bodyPr wrap="square" lIns="0" tIns="0" rIns="0" bIns="0" rtlCol="0" anchor="t"/>
          <a:lstStyle/>
          <a:p>
            <a:pPr indent="0" marL="0">
              <a:buNone/>
            </a:pPr>
            <a:r>
              <a:rPr lang="en-US" sz="1300" b="1" dirty="0">
                <a:solidFill>
                  <a:srgbClr val="C46A2B"/>
                </a:solidFill>
                <a:latin typeface="Calibri" pitchFamily="34" charset="0"/>
                <a:ea typeface="Calibri" pitchFamily="34" charset="-122"/>
                <a:cs typeface="Calibri" pitchFamily="34" charset="-120"/>
              </a:rPr>
              <a:t>Control: </a:t>
            </a:r>
            <a:pPr indent="0" marL="0">
              <a:buNone/>
            </a:pPr>
            <a:r>
              <a:rPr lang="en-US" sz="1300" dirty="0">
                <a:solidFill>
                  <a:srgbClr val="C46A2B"/>
                </a:solidFill>
                <a:latin typeface="Calibri" pitchFamily="34" charset="0"/>
                <a:ea typeface="Calibri" pitchFamily="34" charset="-122"/>
                <a:cs typeface="Calibri" pitchFamily="34" charset="-120"/>
              </a:rPr>
              <a:t>Ground in approved sources; log prompts and outputs</a:t>
            </a:r>
            <a:endParaRPr lang="en-US" sz="1300" dirty="0"/>
          </a:p>
        </p:txBody>
      </p:sp>
      <p:sp>
        <p:nvSpPr>
          <p:cNvPr id="25" name="Shape 20"/>
          <p:cNvSpPr/>
          <p:nvPr/>
        </p:nvSpPr>
        <p:spPr>
          <a:xfrm>
            <a:off x="548640" y="3886200"/>
            <a:ext cx="3520440" cy="2148840"/>
          </a:xfrm>
          <a:prstGeom prst="rect">
            <a:avLst/>
          </a:prstGeom>
          <a:solidFill>
            <a:srgbClr val="EEF1F4"/>
          </a:solidFill>
          <a:ln w="12700">
            <a:solidFill>
              <a:srgbClr val="EEF1F4"/>
            </a:solidFill>
            <a:prstDash val="solid"/>
          </a:ln>
        </p:spPr>
      </p:sp>
      <p:sp>
        <p:nvSpPr>
          <p:cNvPr id="26" name="Shape 21"/>
          <p:cNvSpPr/>
          <p:nvPr/>
        </p:nvSpPr>
        <p:spPr>
          <a:xfrm>
            <a:off x="777240" y="4114800"/>
            <a:ext cx="502920" cy="502920"/>
          </a:xfrm>
          <a:prstGeom prst="roundRect">
            <a:avLst>
              <a:gd name="adj" fmla="val 14545"/>
            </a:avLst>
          </a:prstGeom>
          <a:solidFill>
            <a:srgbClr val="1B2229"/>
          </a:solidFill>
          <a:ln w="12700">
            <a:solidFill>
              <a:srgbClr val="1B2229"/>
            </a:solidFill>
            <a:prstDash val="solid"/>
          </a:ln>
        </p:spPr>
      </p:sp>
      <p:pic>
        <p:nvPicPr>
          <p:cNvPr id="27" name="Image 3" descr="preencoded.png">    </p:cNvPr>
          <p:cNvPicPr>
            <a:picLocks noChangeAspect="1"/>
          </p:cNvPicPr>
          <p:nvPr/>
        </p:nvPicPr>
        <p:blipFill>
          <a:blip r:embed="rId4"/>
          <a:stretch>
            <a:fillRect/>
          </a:stretch>
        </p:blipFill>
        <p:spPr>
          <a:xfrm>
            <a:off x="887882" y="4225442"/>
            <a:ext cx="281635" cy="281635"/>
          </a:xfrm>
          <a:prstGeom prst="rect">
            <a:avLst/>
          </a:prstGeom>
        </p:spPr>
      </p:pic>
      <p:sp>
        <p:nvSpPr>
          <p:cNvPr id="28" name="Text 22"/>
          <p:cNvSpPr txBox="1"/>
          <p:nvPr/>
        </p:nvSpPr>
        <p:spPr>
          <a:xfrm>
            <a:off x="1417320" y="4069080"/>
            <a:ext cx="2468880" cy="365760"/>
          </a:xfrm>
          <a:prstGeom prst="rect">
            <a:avLst/>
          </a:prstGeom>
          <a:noFill/>
          <a:ln/>
        </p:spPr>
        <p:txBody>
          <a:bodyPr wrap="square" lIns="0" tIns="0" rIns="0" bIns="0" rtlCol="0" anchor="ctr"/>
          <a:lstStyle/>
          <a:p>
            <a:pPr indent="0" marL="0">
              <a:buNone/>
            </a:pPr>
            <a:r>
              <a:rPr lang="en-US" sz="1600" b="1" dirty="0">
                <a:solidFill>
                  <a:srgbClr val="1B2229"/>
                </a:solidFill>
                <a:latin typeface="Calibri" pitchFamily="34" charset="0"/>
                <a:ea typeface="Calibri" pitchFamily="34" charset="-122"/>
                <a:cs typeface="Calibri" pitchFamily="34" charset="-120"/>
              </a:rPr>
              <a:t>Anomaly detection</a:t>
            </a:r>
            <a:endParaRPr lang="en-US" sz="1600" dirty="0"/>
          </a:p>
        </p:txBody>
      </p:sp>
      <p:sp>
        <p:nvSpPr>
          <p:cNvPr id="29" name="Text 23"/>
          <p:cNvSpPr txBox="1"/>
          <p:nvPr/>
        </p:nvSpPr>
        <p:spPr>
          <a:xfrm>
            <a:off x="1417320" y="4416552"/>
            <a:ext cx="2468880" cy="274320"/>
          </a:xfrm>
          <a:prstGeom prst="rect">
            <a:avLst/>
          </a:prstGeom>
          <a:noFill/>
          <a:ln/>
        </p:spPr>
        <p:txBody>
          <a:bodyPr wrap="square" lIns="0" tIns="0" rIns="0" bIns="0" rtlCol="0" anchor="ctr"/>
          <a:lstStyle/>
          <a:p>
            <a:pPr indent="0" marL="0">
              <a:buNone/>
            </a:pPr>
            <a:r>
              <a:rPr lang="en-US" sz="1100" i="1" dirty="0">
                <a:solidFill>
                  <a:srgbClr val="8A96A3"/>
                </a:solidFill>
                <a:latin typeface="Calibri" pitchFamily="34" charset="0"/>
                <a:ea typeface="Calibri" pitchFamily="34" charset="-122"/>
                <a:cs typeface="Calibri" pitchFamily="34" charset="-120"/>
              </a:rPr>
              <a:t>Isolation forest, autoencoders</a:t>
            </a:r>
            <a:endParaRPr lang="en-US" sz="1100" dirty="0"/>
          </a:p>
        </p:txBody>
      </p:sp>
      <p:sp>
        <p:nvSpPr>
          <p:cNvPr id="30" name="Text 24"/>
          <p:cNvSpPr txBox="1"/>
          <p:nvPr/>
        </p:nvSpPr>
        <p:spPr>
          <a:xfrm>
            <a:off x="777240" y="4782312"/>
            <a:ext cx="3063240" cy="566928"/>
          </a:xfrm>
          <a:prstGeom prst="rect">
            <a:avLst/>
          </a:prstGeom>
          <a:noFill/>
          <a:ln/>
        </p:spPr>
        <p:txBody>
          <a:bodyPr wrap="square" lIns="0" tIns="0" rIns="0" bIns="0" rtlCol="0" anchor="t"/>
          <a:lstStyle/>
          <a:p>
            <a:pPr indent="0" marL="0">
              <a:buNone/>
            </a:pPr>
            <a:r>
              <a:rPr lang="en-US" sz="1300" dirty="0">
                <a:solidFill>
                  <a:srgbClr val="5A6672"/>
                </a:solidFill>
                <a:latin typeface="Calibri" pitchFamily="34" charset="0"/>
                <a:ea typeface="Calibri" pitchFamily="34" charset="-122"/>
                <a:cs typeface="Calibri" pitchFamily="34" charset="-120"/>
              </a:rPr>
              <a:t>Flags unusual shipments, quality drift, or supplier behavior</a:t>
            </a:r>
            <a:endParaRPr lang="en-US" sz="1300" dirty="0"/>
          </a:p>
        </p:txBody>
      </p:sp>
      <p:sp>
        <p:nvSpPr>
          <p:cNvPr id="31" name="Text 25"/>
          <p:cNvSpPr txBox="1"/>
          <p:nvPr/>
        </p:nvSpPr>
        <p:spPr>
          <a:xfrm>
            <a:off x="777240" y="5349240"/>
            <a:ext cx="3063240" cy="566928"/>
          </a:xfrm>
          <a:prstGeom prst="rect">
            <a:avLst/>
          </a:prstGeom>
          <a:noFill/>
          <a:ln/>
        </p:spPr>
        <p:txBody>
          <a:bodyPr wrap="square" lIns="0" tIns="0" rIns="0" bIns="0" rtlCol="0" anchor="t"/>
          <a:lstStyle/>
          <a:p>
            <a:pPr indent="0" marL="0">
              <a:buNone/>
            </a:pPr>
            <a:r>
              <a:rPr lang="en-US" sz="1300" b="1" dirty="0">
                <a:solidFill>
                  <a:srgbClr val="C46A2B"/>
                </a:solidFill>
                <a:latin typeface="Calibri" pitchFamily="34" charset="0"/>
                <a:ea typeface="Calibri" pitchFamily="34" charset="-122"/>
                <a:cs typeface="Calibri" pitchFamily="34" charset="-120"/>
              </a:rPr>
              <a:t>Control: </a:t>
            </a:r>
            <a:pPr indent="0" marL="0">
              <a:buNone/>
            </a:pPr>
            <a:r>
              <a:rPr lang="en-US" sz="1300" dirty="0">
                <a:solidFill>
                  <a:srgbClr val="C46A2B"/>
                </a:solidFill>
                <a:latin typeface="Calibri" pitchFamily="34" charset="0"/>
                <a:ea typeface="Calibri" pitchFamily="34" charset="-122"/>
                <a:cs typeface="Calibri" pitchFamily="34" charset="-120"/>
              </a:rPr>
              <a:t>Owners tune thresholds; review false alarms</a:t>
            </a:r>
            <a:endParaRPr lang="en-US" sz="1300" dirty="0"/>
          </a:p>
        </p:txBody>
      </p:sp>
      <p:sp>
        <p:nvSpPr>
          <p:cNvPr id="32" name="Shape 26"/>
          <p:cNvSpPr/>
          <p:nvPr/>
        </p:nvSpPr>
        <p:spPr>
          <a:xfrm>
            <a:off x="4343400" y="3886200"/>
            <a:ext cx="3520440" cy="2148840"/>
          </a:xfrm>
          <a:prstGeom prst="rect">
            <a:avLst/>
          </a:prstGeom>
          <a:solidFill>
            <a:srgbClr val="EEF1F4"/>
          </a:solidFill>
          <a:ln w="12700">
            <a:solidFill>
              <a:srgbClr val="EEF1F4"/>
            </a:solidFill>
            <a:prstDash val="solid"/>
          </a:ln>
        </p:spPr>
      </p:sp>
      <p:sp>
        <p:nvSpPr>
          <p:cNvPr id="33" name="Shape 27"/>
          <p:cNvSpPr/>
          <p:nvPr/>
        </p:nvSpPr>
        <p:spPr>
          <a:xfrm>
            <a:off x="4572000" y="4114800"/>
            <a:ext cx="502920" cy="502920"/>
          </a:xfrm>
          <a:prstGeom prst="roundRect">
            <a:avLst>
              <a:gd name="adj" fmla="val 14545"/>
            </a:avLst>
          </a:prstGeom>
          <a:solidFill>
            <a:srgbClr val="1B2229"/>
          </a:solidFill>
          <a:ln w="12700">
            <a:solidFill>
              <a:srgbClr val="1B2229"/>
            </a:solidFill>
            <a:prstDash val="solid"/>
          </a:ln>
        </p:spPr>
      </p:sp>
      <p:pic>
        <p:nvPicPr>
          <p:cNvPr id="34" name="Image 4" descr="preencoded.png">    </p:cNvPr>
          <p:cNvPicPr>
            <a:picLocks noChangeAspect="1"/>
          </p:cNvPicPr>
          <p:nvPr/>
        </p:nvPicPr>
        <p:blipFill>
          <a:blip r:embed="rId5"/>
          <a:stretch>
            <a:fillRect/>
          </a:stretch>
        </p:blipFill>
        <p:spPr>
          <a:xfrm>
            <a:off x="4682642" y="4225442"/>
            <a:ext cx="281635" cy="281635"/>
          </a:xfrm>
          <a:prstGeom prst="rect">
            <a:avLst/>
          </a:prstGeom>
        </p:spPr>
      </p:pic>
      <p:sp>
        <p:nvSpPr>
          <p:cNvPr id="35" name="Text 28"/>
          <p:cNvSpPr txBox="1"/>
          <p:nvPr/>
        </p:nvSpPr>
        <p:spPr>
          <a:xfrm>
            <a:off x="5212080" y="4069080"/>
            <a:ext cx="2468880" cy="365760"/>
          </a:xfrm>
          <a:prstGeom prst="rect">
            <a:avLst/>
          </a:prstGeom>
          <a:noFill/>
          <a:ln/>
        </p:spPr>
        <p:txBody>
          <a:bodyPr wrap="square" lIns="0" tIns="0" rIns="0" bIns="0" rtlCol="0" anchor="ctr"/>
          <a:lstStyle/>
          <a:p>
            <a:pPr indent="0" marL="0">
              <a:buNone/>
            </a:pPr>
            <a:r>
              <a:rPr lang="en-US" sz="1600" b="1" dirty="0">
                <a:solidFill>
                  <a:srgbClr val="1B2229"/>
                </a:solidFill>
                <a:latin typeface="Calibri" pitchFamily="34" charset="0"/>
                <a:ea typeface="Calibri" pitchFamily="34" charset="-122"/>
                <a:cs typeface="Calibri" pitchFamily="34" charset="-120"/>
              </a:rPr>
              <a:t>Optimization &amp; digital twins</a:t>
            </a:r>
            <a:endParaRPr lang="en-US" sz="1600" dirty="0"/>
          </a:p>
        </p:txBody>
      </p:sp>
      <p:sp>
        <p:nvSpPr>
          <p:cNvPr id="36" name="Text 29"/>
          <p:cNvSpPr txBox="1"/>
          <p:nvPr/>
        </p:nvSpPr>
        <p:spPr>
          <a:xfrm>
            <a:off x="5212080" y="4416552"/>
            <a:ext cx="2468880" cy="274320"/>
          </a:xfrm>
          <a:prstGeom prst="rect">
            <a:avLst/>
          </a:prstGeom>
          <a:noFill/>
          <a:ln/>
        </p:spPr>
        <p:txBody>
          <a:bodyPr wrap="square" lIns="0" tIns="0" rIns="0" bIns="0" rtlCol="0" anchor="ctr"/>
          <a:lstStyle/>
          <a:p>
            <a:pPr indent="0" marL="0">
              <a:buNone/>
            </a:pPr>
            <a:r>
              <a:rPr lang="en-US" sz="1100" i="1" dirty="0">
                <a:solidFill>
                  <a:srgbClr val="8A96A3"/>
                </a:solidFill>
                <a:latin typeface="Calibri" pitchFamily="34" charset="0"/>
                <a:ea typeface="Calibri" pitchFamily="34" charset="-122"/>
                <a:cs typeface="Calibri" pitchFamily="34" charset="-120"/>
              </a:rPr>
              <a:t>Solvers, simulation</a:t>
            </a:r>
            <a:endParaRPr lang="en-US" sz="1100" dirty="0"/>
          </a:p>
        </p:txBody>
      </p:sp>
      <p:sp>
        <p:nvSpPr>
          <p:cNvPr id="37" name="Text 30"/>
          <p:cNvSpPr txBox="1"/>
          <p:nvPr/>
        </p:nvSpPr>
        <p:spPr>
          <a:xfrm>
            <a:off x="4572000" y="4782312"/>
            <a:ext cx="3063240" cy="566928"/>
          </a:xfrm>
          <a:prstGeom prst="rect">
            <a:avLst/>
          </a:prstGeom>
          <a:noFill/>
          <a:ln/>
        </p:spPr>
        <p:txBody>
          <a:bodyPr wrap="square" lIns="0" tIns="0" rIns="0" bIns="0" rtlCol="0" anchor="t"/>
          <a:lstStyle/>
          <a:p>
            <a:pPr indent="0" marL="0">
              <a:buNone/>
            </a:pPr>
            <a:r>
              <a:rPr lang="en-US" sz="1300" dirty="0">
                <a:solidFill>
                  <a:srgbClr val="5A6672"/>
                </a:solidFill>
                <a:latin typeface="Calibri" pitchFamily="34" charset="0"/>
                <a:ea typeface="Calibri" pitchFamily="34" charset="-122"/>
                <a:cs typeface="Calibri" pitchFamily="34" charset="-120"/>
              </a:rPr>
              <a:t>Tests allocation and alternate-source scenarios</a:t>
            </a:r>
            <a:endParaRPr lang="en-US" sz="1300" dirty="0"/>
          </a:p>
        </p:txBody>
      </p:sp>
      <p:sp>
        <p:nvSpPr>
          <p:cNvPr id="38" name="Text 31"/>
          <p:cNvSpPr txBox="1"/>
          <p:nvPr/>
        </p:nvSpPr>
        <p:spPr>
          <a:xfrm>
            <a:off x="4572000" y="5349240"/>
            <a:ext cx="3063240" cy="566928"/>
          </a:xfrm>
          <a:prstGeom prst="rect">
            <a:avLst/>
          </a:prstGeom>
          <a:noFill/>
          <a:ln/>
        </p:spPr>
        <p:txBody>
          <a:bodyPr wrap="square" lIns="0" tIns="0" rIns="0" bIns="0" rtlCol="0" anchor="t"/>
          <a:lstStyle/>
          <a:p>
            <a:pPr indent="0" marL="0">
              <a:buNone/>
            </a:pPr>
            <a:r>
              <a:rPr lang="en-US" sz="1300" b="1" dirty="0">
                <a:solidFill>
                  <a:srgbClr val="C46A2B"/>
                </a:solidFill>
                <a:latin typeface="Calibri" pitchFamily="34" charset="0"/>
                <a:ea typeface="Calibri" pitchFamily="34" charset="-122"/>
                <a:cs typeface="Calibri" pitchFamily="34" charset="-120"/>
              </a:rPr>
              <a:t>Control: </a:t>
            </a:r>
            <a:pPr indent="0" marL="0">
              <a:buNone/>
            </a:pPr>
            <a:r>
              <a:rPr lang="en-US" sz="1300" dirty="0">
                <a:solidFill>
                  <a:srgbClr val="C46A2B"/>
                </a:solidFill>
                <a:latin typeface="Calibri" pitchFamily="34" charset="0"/>
                <a:ea typeface="Calibri" pitchFamily="34" charset="-122"/>
                <a:cs typeface="Calibri" pitchFamily="34" charset="-120"/>
              </a:rPr>
              <a:t>Validate assumptions; a person approves the plan</a:t>
            </a:r>
            <a:endParaRPr lang="en-US" sz="1300" dirty="0"/>
          </a:p>
        </p:txBody>
      </p:sp>
      <p:sp>
        <p:nvSpPr>
          <p:cNvPr id="39" name="Shape 32"/>
          <p:cNvSpPr/>
          <p:nvPr/>
        </p:nvSpPr>
        <p:spPr>
          <a:xfrm>
            <a:off x="8138160" y="3886200"/>
            <a:ext cx="3520440" cy="2148840"/>
          </a:xfrm>
          <a:prstGeom prst="rect">
            <a:avLst/>
          </a:prstGeom>
          <a:solidFill>
            <a:srgbClr val="EEF1F4"/>
          </a:solidFill>
          <a:ln w="12700">
            <a:solidFill>
              <a:srgbClr val="EEF1F4"/>
            </a:solidFill>
            <a:prstDash val="solid"/>
          </a:ln>
        </p:spPr>
      </p:sp>
      <p:sp>
        <p:nvSpPr>
          <p:cNvPr id="40" name="Shape 33"/>
          <p:cNvSpPr/>
          <p:nvPr/>
        </p:nvSpPr>
        <p:spPr>
          <a:xfrm>
            <a:off x="8366760" y="4114800"/>
            <a:ext cx="502920" cy="502920"/>
          </a:xfrm>
          <a:prstGeom prst="roundRect">
            <a:avLst>
              <a:gd name="adj" fmla="val 14545"/>
            </a:avLst>
          </a:prstGeom>
          <a:solidFill>
            <a:srgbClr val="1B2229"/>
          </a:solidFill>
          <a:ln w="12700">
            <a:solidFill>
              <a:srgbClr val="1B2229"/>
            </a:solidFill>
            <a:prstDash val="solid"/>
          </a:ln>
        </p:spPr>
      </p:sp>
      <p:pic>
        <p:nvPicPr>
          <p:cNvPr id="41" name="Image 5" descr="preencoded.png">    </p:cNvPr>
          <p:cNvPicPr>
            <a:picLocks noChangeAspect="1"/>
          </p:cNvPicPr>
          <p:nvPr/>
        </p:nvPicPr>
        <p:blipFill>
          <a:blip r:embed="rId6"/>
          <a:stretch>
            <a:fillRect/>
          </a:stretch>
        </p:blipFill>
        <p:spPr>
          <a:xfrm>
            <a:off x="8477402" y="4225442"/>
            <a:ext cx="281635" cy="281635"/>
          </a:xfrm>
          <a:prstGeom prst="rect">
            <a:avLst/>
          </a:prstGeom>
        </p:spPr>
      </p:pic>
      <p:sp>
        <p:nvSpPr>
          <p:cNvPr id="42" name="Text 34"/>
          <p:cNvSpPr txBox="1"/>
          <p:nvPr/>
        </p:nvSpPr>
        <p:spPr>
          <a:xfrm>
            <a:off x="9006840" y="4069080"/>
            <a:ext cx="2468880" cy="365760"/>
          </a:xfrm>
          <a:prstGeom prst="rect">
            <a:avLst/>
          </a:prstGeom>
          <a:noFill/>
          <a:ln/>
        </p:spPr>
        <p:txBody>
          <a:bodyPr wrap="square" lIns="0" tIns="0" rIns="0" bIns="0" rtlCol="0" anchor="ctr"/>
          <a:lstStyle/>
          <a:p>
            <a:pPr indent="0" marL="0">
              <a:buNone/>
            </a:pPr>
            <a:r>
              <a:rPr lang="en-US" sz="1600" b="1" dirty="0">
                <a:solidFill>
                  <a:srgbClr val="1B2229"/>
                </a:solidFill>
                <a:latin typeface="Calibri" pitchFamily="34" charset="0"/>
                <a:ea typeface="Calibri" pitchFamily="34" charset="-122"/>
                <a:cs typeface="Calibri" pitchFamily="34" charset="-120"/>
              </a:rPr>
              <a:t>Agentic AI</a:t>
            </a:r>
            <a:endParaRPr lang="en-US" sz="1600" dirty="0"/>
          </a:p>
        </p:txBody>
      </p:sp>
      <p:sp>
        <p:nvSpPr>
          <p:cNvPr id="43" name="Text 35"/>
          <p:cNvSpPr txBox="1"/>
          <p:nvPr/>
        </p:nvSpPr>
        <p:spPr>
          <a:xfrm>
            <a:off x="9006840" y="4416552"/>
            <a:ext cx="2468880" cy="274320"/>
          </a:xfrm>
          <a:prstGeom prst="rect">
            <a:avLst/>
          </a:prstGeom>
          <a:noFill/>
          <a:ln/>
        </p:spPr>
        <p:txBody>
          <a:bodyPr wrap="square" lIns="0" tIns="0" rIns="0" bIns="0" rtlCol="0" anchor="ctr"/>
          <a:lstStyle/>
          <a:p>
            <a:pPr indent="0" marL="0">
              <a:buNone/>
            </a:pPr>
            <a:r>
              <a:rPr lang="en-US" sz="1100" i="1" dirty="0">
                <a:solidFill>
                  <a:srgbClr val="8A96A3"/>
                </a:solidFill>
                <a:latin typeface="Calibri" pitchFamily="34" charset="0"/>
                <a:ea typeface="Calibri" pitchFamily="34" charset="-122"/>
                <a:cs typeface="Calibri" pitchFamily="34" charset="-120"/>
              </a:rPr>
              <a:t>LLM agents with tools</a:t>
            </a:r>
            <a:endParaRPr lang="en-US" sz="1100" dirty="0"/>
          </a:p>
        </p:txBody>
      </p:sp>
      <p:sp>
        <p:nvSpPr>
          <p:cNvPr id="44" name="Text 36"/>
          <p:cNvSpPr txBox="1"/>
          <p:nvPr/>
        </p:nvSpPr>
        <p:spPr>
          <a:xfrm>
            <a:off x="8366760" y="4782312"/>
            <a:ext cx="3063240" cy="566928"/>
          </a:xfrm>
          <a:prstGeom prst="rect">
            <a:avLst/>
          </a:prstGeom>
          <a:noFill/>
          <a:ln/>
        </p:spPr>
        <p:txBody>
          <a:bodyPr wrap="square" lIns="0" tIns="0" rIns="0" bIns="0" rtlCol="0" anchor="t"/>
          <a:lstStyle/>
          <a:p>
            <a:pPr indent="0" marL="0">
              <a:buNone/>
            </a:pPr>
            <a:r>
              <a:rPr lang="en-US" sz="1300" dirty="0">
                <a:solidFill>
                  <a:srgbClr val="5A6672"/>
                </a:solidFill>
                <a:latin typeface="Calibri" pitchFamily="34" charset="0"/>
                <a:ea typeface="Calibri" pitchFamily="34" charset="-122"/>
                <a:cs typeface="Calibri" pitchFamily="34" charset="-120"/>
              </a:rPr>
              <a:t>Chains steps, such as drafting supplier queries or POs</a:t>
            </a:r>
            <a:endParaRPr lang="en-US" sz="1300" dirty="0"/>
          </a:p>
        </p:txBody>
      </p:sp>
      <p:sp>
        <p:nvSpPr>
          <p:cNvPr id="45" name="Text 37"/>
          <p:cNvSpPr txBox="1"/>
          <p:nvPr/>
        </p:nvSpPr>
        <p:spPr>
          <a:xfrm>
            <a:off x="8366760" y="5349240"/>
            <a:ext cx="3063240" cy="566928"/>
          </a:xfrm>
          <a:prstGeom prst="rect">
            <a:avLst/>
          </a:prstGeom>
          <a:noFill/>
          <a:ln/>
        </p:spPr>
        <p:txBody>
          <a:bodyPr wrap="square" lIns="0" tIns="0" rIns="0" bIns="0" rtlCol="0" anchor="t"/>
          <a:lstStyle/>
          <a:p>
            <a:pPr indent="0" marL="0">
              <a:buNone/>
            </a:pPr>
            <a:r>
              <a:rPr lang="en-US" sz="1300" b="1" dirty="0">
                <a:solidFill>
                  <a:srgbClr val="C46A2B"/>
                </a:solidFill>
                <a:latin typeface="Calibri" pitchFamily="34" charset="0"/>
                <a:ea typeface="Calibri" pitchFamily="34" charset="-122"/>
                <a:cs typeface="Calibri" pitchFamily="34" charset="-120"/>
              </a:rPr>
              <a:t>Control: </a:t>
            </a:r>
            <a:pPr indent="0" marL="0">
              <a:buNone/>
            </a:pPr>
            <a:r>
              <a:rPr lang="en-US" sz="1300" dirty="0">
                <a:solidFill>
                  <a:srgbClr val="C46A2B"/>
                </a:solidFill>
                <a:latin typeface="Calibri" pitchFamily="34" charset="0"/>
                <a:ea typeface="Calibri" pitchFamily="34" charset="-122"/>
                <a:cs typeface="Calibri" pitchFamily="34" charset="-120"/>
              </a:rPr>
              <a:t>Least-privilege tools; sign-off before external actions</a:t>
            </a:r>
            <a:endParaRPr lang="en-US" sz="1300" dirty="0"/>
          </a:p>
        </p:txBody>
      </p:sp>
      <p:sp>
        <p:nvSpPr>
          <p:cNvPr id="46" name="Text 38"/>
          <p:cNvSpPr txBox="1"/>
          <p:nvPr/>
        </p:nvSpPr>
        <p:spPr>
          <a:xfrm>
            <a:off x="8899855" y="6446520"/>
            <a:ext cx="2743200" cy="228600"/>
          </a:xfrm>
          <a:prstGeom prst="rect">
            <a:avLst/>
          </a:prstGeom>
          <a:noFill/>
          <a:ln/>
        </p:spPr>
        <p:txBody>
          <a:bodyPr wrap="square" lIns="0" tIns="0" rIns="0" bIns="0" rtlCol="0" anchor="ctr"/>
          <a:lstStyle/>
          <a:p>
            <a:pPr algn="r" indent="0" marL="0">
              <a:buNone/>
            </a:pPr>
            <a:r>
              <a:rPr lang="en-US" sz="900" dirty="0">
                <a:solidFill>
                  <a:srgbClr val="8A96A3"/>
                </a:solidFill>
                <a:latin typeface="Calibri" pitchFamily="34" charset="0"/>
                <a:ea typeface="Calibri" pitchFamily="34" charset="-122"/>
                <a:cs typeface="Calibri" pitchFamily="34" charset="-120"/>
              </a:rPr>
              <a:t>SEMICON West  |  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182880"/>
            <a:ext cx="7315200" cy="274320"/>
          </a:xfrm>
          <a:prstGeom prst="rect">
            <a:avLst/>
          </a:prstGeom>
          <a:noFill/>
          <a:ln/>
        </p:spPr>
        <p:txBody>
          <a:bodyPr wrap="square" lIns="0" tIns="0" rIns="0" bIns="0" rtlCol="0" anchor="ctr"/>
          <a:lstStyle/>
          <a:p>
            <a:pPr indent="0" marL="0">
              <a:buNone/>
            </a:pPr>
            <a:r>
              <a:rPr lang="en-US" sz="1100" b="1" spc="200" kern="0" dirty="0">
                <a:solidFill>
                  <a:srgbClr val="C46A2B"/>
                </a:solidFill>
                <a:latin typeface="Calibri" pitchFamily="34" charset="0"/>
                <a:ea typeface="Calibri" pitchFamily="34" charset="-122"/>
                <a:cs typeface="Calibri" pitchFamily="34" charset="-120"/>
              </a:rPr>
              <a:t>GOVERNANCE AS THE LEVER</a:t>
            </a:r>
            <a:endParaRPr lang="en-US" sz="1100" dirty="0"/>
          </a:p>
        </p:txBody>
      </p:sp>
      <p:sp>
        <p:nvSpPr>
          <p:cNvPr id="3" name="Text 1"/>
          <p:cNvSpPr txBox="1"/>
          <p:nvPr/>
        </p:nvSpPr>
        <p:spPr>
          <a:xfrm>
            <a:off x="548640" y="411480"/>
            <a:ext cx="11094415" cy="914400"/>
          </a:xfrm>
          <a:prstGeom prst="rect">
            <a:avLst/>
          </a:prstGeom>
          <a:noFill/>
          <a:ln/>
        </p:spPr>
        <p:txBody>
          <a:bodyPr wrap="square" lIns="0" tIns="0" rIns="0" bIns="0" rtlCol="0" anchor="t"/>
          <a:lstStyle/>
          <a:p>
            <a:pPr indent="0" marL="0">
              <a:buNone/>
            </a:pPr>
            <a:r>
              <a:rPr lang="en-US" sz="3400" b="1" dirty="0">
                <a:solidFill>
                  <a:srgbClr val="1B2229"/>
                </a:solidFill>
                <a:latin typeface="Calibri" pitchFamily="34" charset="0"/>
                <a:ea typeface="Calibri" pitchFamily="34" charset="-122"/>
                <a:cs typeface="Calibri" pitchFamily="34" charset="-120"/>
              </a:rPr>
              <a:t>Four layers turn risk data into decisions you can defend</a:t>
            </a:r>
            <a:endParaRPr lang="en-US" sz="3400" dirty="0"/>
          </a:p>
        </p:txBody>
      </p:sp>
      <p:sp>
        <p:nvSpPr>
          <p:cNvPr id="4" name="Shape 2"/>
          <p:cNvSpPr/>
          <p:nvPr/>
        </p:nvSpPr>
        <p:spPr>
          <a:xfrm>
            <a:off x="548640" y="1645920"/>
            <a:ext cx="11064240" cy="932688"/>
          </a:xfrm>
          <a:prstGeom prst="rect">
            <a:avLst/>
          </a:prstGeom>
          <a:solidFill>
            <a:srgbClr val="EEF1F4"/>
          </a:solidFill>
          <a:ln w="12700">
            <a:solidFill>
              <a:srgbClr val="EEF1F4"/>
            </a:solidFill>
            <a:prstDash val="solid"/>
          </a:ln>
        </p:spPr>
      </p:sp>
      <p:sp>
        <p:nvSpPr>
          <p:cNvPr id="5" name="Shape 3"/>
          <p:cNvSpPr/>
          <p:nvPr/>
        </p:nvSpPr>
        <p:spPr>
          <a:xfrm>
            <a:off x="777240" y="1828800"/>
            <a:ext cx="566928" cy="566928"/>
          </a:xfrm>
          <a:prstGeom prst="roundRect">
            <a:avLst>
              <a:gd name="adj" fmla="val 12903"/>
            </a:avLst>
          </a:prstGeom>
          <a:solidFill>
            <a:srgbClr val="1B2229"/>
          </a:solidFill>
          <a:ln w="12700">
            <a:solidFill>
              <a:srgbClr val="1B2229"/>
            </a:solidFill>
            <a:prstDash val="solid"/>
          </a:ln>
        </p:spPr>
      </p:sp>
      <p:pic>
        <p:nvPicPr>
          <p:cNvPr id="6" name="Image 0" descr="preencoded.png">    </p:cNvPr>
          <p:cNvPicPr>
            <a:picLocks noChangeAspect="1"/>
          </p:cNvPicPr>
          <p:nvPr/>
        </p:nvPicPr>
        <p:blipFill>
          <a:blip r:embed="rId1"/>
          <a:stretch>
            <a:fillRect/>
          </a:stretch>
        </p:blipFill>
        <p:spPr>
          <a:xfrm>
            <a:off x="901964" y="1953524"/>
            <a:ext cx="317480" cy="317480"/>
          </a:xfrm>
          <a:prstGeom prst="rect">
            <a:avLst/>
          </a:prstGeom>
        </p:spPr>
      </p:pic>
      <p:sp>
        <p:nvSpPr>
          <p:cNvPr id="7" name="Text 4"/>
          <p:cNvSpPr txBox="1"/>
          <p:nvPr/>
        </p:nvSpPr>
        <p:spPr>
          <a:xfrm>
            <a:off x="1554480" y="1645920"/>
            <a:ext cx="2834640" cy="932688"/>
          </a:xfrm>
          <a:prstGeom prst="rect">
            <a:avLst/>
          </a:prstGeom>
          <a:noFill/>
          <a:ln/>
        </p:spPr>
        <p:txBody>
          <a:bodyPr wrap="square" lIns="0" tIns="0" rIns="0" bIns="0" rtlCol="0" anchor="ctr"/>
          <a:lstStyle/>
          <a:p>
            <a:pPr indent="0" marL="0">
              <a:buNone/>
            </a:pPr>
            <a:r>
              <a:rPr lang="en-US" sz="1900" b="1" dirty="0">
                <a:solidFill>
                  <a:srgbClr val="1B2229"/>
                </a:solidFill>
                <a:latin typeface="Calibri" pitchFamily="34" charset="0"/>
                <a:ea typeface="Calibri" pitchFamily="34" charset="-122"/>
                <a:cs typeface="Calibri" pitchFamily="34" charset="-120"/>
              </a:rPr>
              <a:t>Human oversight</a:t>
            </a:r>
            <a:endParaRPr lang="en-US" sz="1900" dirty="0"/>
          </a:p>
        </p:txBody>
      </p:sp>
      <p:sp>
        <p:nvSpPr>
          <p:cNvPr id="8" name="Text 5"/>
          <p:cNvSpPr txBox="1"/>
          <p:nvPr/>
        </p:nvSpPr>
        <p:spPr>
          <a:xfrm>
            <a:off x="4480560" y="1645920"/>
            <a:ext cx="6949440" cy="932688"/>
          </a:xfrm>
          <a:prstGeom prst="rect">
            <a:avLst/>
          </a:prstGeom>
          <a:noFill/>
          <a:ln/>
        </p:spPr>
        <p:txBody>
          <a:bodyPr wrap="square" lIns="0" tIns="0" rIns="0" bIns="0" rtlCol="0" anchor="ctr"/>
          <a:lstStyle/>
          <a:p>
            <a:pPr indent="0" marL="0">
              <a:buNone/>
            </a:pPr>
            <a:r>
              <a:rPr lang="en-US" sz="1500" dirty="0">
                <a:solidFill>
                  <a:srgbClr val="5A6672"/>
                </a:solidFill>
                <a:latin typeface="Calibri" pitchFamily="34" charset="0"/>
                <a:ea typeface="Calibri" pitchFamily="34" charset="-122"/>
                <a:cs typeface="Calibri" pitchFamily="34" charset="-120"/>
              </a:rPr>
              <a:t>Decision rights, escalation paths, and a named owner for every action the data or model informs</a:t>
            </a:r>
            <a:endParaRPr lang="en-US" sz="1500" dirty="0"/>
          </a:p>
        </p:txBody>
      </p:sp>
      <p:sp>
        <p:nvSpPr>
          <p:cNvPr id="9" name="Shape 6"/>
          <p:cNvSpPr/>
          <p:nvPr/>
        </p:nvSpPr>
        <p:spPr>
          <a:xfrm>
            <a:off x="548640" y="2724912"/>
            <a:ext cx="11064240" cy="932688"/>
          </a:xfrm>
          <a:prstGeom prst="rect">
            <a:avLst/>
          </a:prstGeom>
          <a:solidFill>
            <a:srgbClr val="EEF1F4"/>
          </a:solidFill>
          <a:ln w="12700">
            <a:solidFill>
              <a:srgbClr val="EEF1F4"/>
            </a:solidFill>
            <a:prstDash val="solid"/>
          </a:ln>
        </p:spPr>
      </p:sp>
      <p:sp>
        <p:nvSpPr>
          <p:cNvPr id="10" name="Shape 7"/>
          <p:cNvSpPr/>
          <p:nvPr/>
        </p:nvSpPr>
        <p:spPr>
          <a:xfrm>
            <a:off x="777240" y="2907792"/>
            <a:ext cx="566928" cy="566928"/>
          </a:xfrm>
          <a:prstGeom prst="roundRect">
            <a:avLst>
              <a:gd name="adj" fmla="val 12903"/>
            </a:avLst>
          </a:prstGeom>
          <a:solidFill>
            <a:srgbClr val="1B2229"/>
          </a:solidFill>
          <a:ln w="12700">
            <a:solidFill>
              <a:srgbClr val="1B2229"/>
            </a:solidFill>
            <a:prstDash val="solid"/>
          </a:ln>
        </p:spPr>
      </p:sp>
      <p:pic>
        <p:nvPicPr>
          <p:cNvPr id="11" name="Image 1" descr="preencoded.png">    </p:cNvPr>
          <p:cNvPicPr>
            <a:picLocks noChangeAspect="1"/>
          </p:cNvPicPr>
          <p:nvPr/>
        </p:nvPicPr>
        <p:blipFill>
          <a:blip r:embed="rId2"/>
          <a:stretch>
            <a:fillRect/>
          </a:stretch>
        </p:blipFill>
        <p:spPr>
          <a:xfrm>
            <a:off x="901964" y="3032516"/>
            <a:ext cx="317480" cy="317480"/>
          </a:xfrm>
          <a:prstGeom prst="rect">
            <a:avLst/>
          </a:prstGeom>
        </p:spPr>
      </p:pic>
      <p:sp>
        <p:nvSpPr>
          <p:cNvPr id="12" name="Text 8"/>
          <p:cNvSpPr txBox="1"/>
          <p:nvPr/>
        </p:nvSpPr>
        <p:spPr>
          <a:xfrm>
            <a:off x="1554480" y="2724912"/>
            <a:ext cx="2834640" cy="932688"/>
          </a:xfrm>
          <a:prstGeom prst="rect">
            <a:avLst/>
          </a:prstGeom>
          <a:noFill/>
          <a:ln/>
        </p:spPr>
        <p:txBody>
          <a:bodyPr wrap="square" lIns="0" tIns="0" rIns="0" bIns="0" rtlCol="0" anchor="ctr"/>
          <a:lstStyle/>
          <a:p>
            <a:pPr indent="0" marL="0">
              <a:buNone/>
            </a:pPr>
            <a:r>
              <a:rPr lang="en-US" sz="1900" b="1" dirty="0">
                <a:solidFill>
                  <a:srgbClr val="1B2229"/>
                </a:solidFill>
                <a:latin typeface="Calibri" pitchFamily="34" charset="0"/>
                <a:ea typeface="Calibri" pitchFamily="34" charset="-122"/>
                <a:cs typeface="Calibri" pitchFamily="34" charset="-120"/>
              </a:rPr>
              <a:t>AI model risk</a:t>
            </a:r>
            <a:endParaRPr lang="en-US" sz="1900" dirty="0"/>
          </a:p>
        </p:txBody>
      </p:sp>
      <p:sp>
        <p:nvSpPr>
          <p:cNvPr id="13" name="Text 9"/>
          <p:cNvSpPr txBox="1"/>
          <p:nvPr/>
        </p:nvSpPr>
        <p:spPr>
          <a:xfrm>
            <a:off x="4480560" y="2724912"/>
            <a:ext cx="6949440" cy="932688"/>
          </a:xfrm>
          <a:prstGeom prst="rect">
            <a:avLst/>
          </a:prstGeom>
          <a:noFill/>
          <a:ln/>
        </p:spPr>
        <p:txBody>
          <a:bodyPr wrap="square" lIns="0" tIns="0" rIns="0" bIns="0" rtlCol="0" anchor="ctr"/>
          <a:lstStyle/>
          <a:p>
            <a:pPr indent="0" marL="0">
              <a:buNone/>
            </a:pPr>
            <a:r>
              <a:rPr lang="en-US" sz="1500" dirty="0">
                <a:solidFill>
                  <a:srgbClr val="5A6672"/>
                </a:solidFill>
                <a:latin typeface="Calibri" pitchFamily="34" charset="0"/>
                <a:ea typeface="Calibri" pitchFamily="34" charset="-122"/>
                <a:cs typeface="Calibri" pitchFamily="34" charset="-120"/>
              </a:rPr>
              <a:t>Validation against known events, drift monitoring, explainable outputs, and logged prompts for generative tools</a:t>
            </a:r>
            <a:endParaRPr lang="en-US" sz="1500" dirty="0"/>
          </a:p>
        </p:txBody>
      </p:sp>
      <p:sp>
        <p:nvSpPr>
          <p:cNvPr id="14" name="Shape 10"/>
          <p:cNvSpPr/>
          <p:nvPr/>
        </p:nvSpPr>
        <p:spPr>
          <a:xfrm>
            <a:off x="548640" y="3803904"/>
            <a:ext cx="11064240" cy="932688"/>
          </a:xfrm>
          <a:prstGeom prst="rect">
            <a:avLst/>
          </a:prstGeom>
          <a:solidFill>
            <a:srgbClr val="EEF1F4"/>
          </a:solidFill>
          <a:ln w="12700">
            <a:solidFill>
              <a:srgbClr val="EEF1F4"/>
            </a:solidFill>
            <a:prstDash val="solid"/>
          </a:ln>
        </p:spPr>
      </p:sp>
      <p:sp>
        <p:nvSpPr>
          <p:cNvPr id="15" name="Shape 11"/>
          <p:cNvSpPr/>
          <p:nvPr/>
        </p:nvSpPr>
        <p:spPr>
          <a:xfrm>
            <a:off x="777240" y="3986784"/>
            <a:ext cx="566928" cy="566928"/>
          </a:xfrm>
          <a:prstGeom prst="roundRect">
            <a:avLst>
              <a:gd name="adj" fmla="val 12903"/>
            </a:avLst>
          </a:prstGeom>
          <a:solidFill>
            <a:srgbClr val="1B2229"/>
          </a:solidFill>
          <a:ln w="12700">
            <a:solidFill>
              <a:srgbClr val="1B2229"/>
            </a:solidFill>
            <a:prstDash val="solid"/>
          </a:ln>
        </p:spPr>
      </p:sp>
      <p:pic>
        <p:nvPicPr>
          <p:cNvPr id="16" name="Image 2" descr="preencoded.png">    </p:cNvPr>
          <p:cNvPicPr>
            <a:picLocks noChangeAspect="1"/>
          </p:cNvPicPr>
          <p:nvPr/>
        </p:nvPicPr>
        <p:blipFill>
          <a:blip r:embed="rId3"/>
          <a:stretch>
            <a:fillRect/>
          </a:stretch>
        </p:blipFill>
        <p:spPr>
          <a:xfrm>
            <a:off x="901964" y="4111508"/>
            <a:ext cx="317480" cy="317480"/>
          </a:xfrm>
          <a:prstGeom prst="rect">
            <a:avLst/>
          </a:prstGeom>
        </p:spPr>
      </p:pic>
      <p:sp>
        <p:nvSpPr>
          <p:cNvPr id="17" name="Text 12"/>
          <p:cNvSpPr txBox="1"/>
          <p:nvPr/>
        </p:nvSpPr>
        <p:spPr>
          <a:xfrm>
            <a:off x="1554480" y="3803904"/>
            <a:ext cx="2834640" cy="932688"/>
          </a:xfrm>
          <a:prstGeom prst="rect">
            <a:avLst/>
          </a:prstGeom>
          <a:noFill/>
          <a:ln/>
        </p:spPr>
        <p:txBody>
          <a:bodyPr wrap="square" lIns="0" tIns="0" rIns="0" bIns="0" rtlCol="0" anchor="ctr"/>
          <a:lstStyle/>
          <a:p>
            <a:pPr indent="0" marL="0">
              <a:buNone/>
            </a:pPr>
            <a:r>
              <a:rPr lang="en-US" sz="1900" b="1" dirty="0">
                <a:solidFill>
                  <a:srgbClr val="1B2229"/>
                </a:solidFill>
                <a:latin typeface="Calibri" pitchFamily="34" charset="0"/>
                <a:ea typeface="Calibri" pitchFamily="34" charset="-122"/>
                <a:cs typeface="Calibri" pitchFamily="34" charset="-120"/>
              </a:rPr>
              <a:t>Access &amp; sharing</a:t>
            </a:r>
            <a:endParaRPr lang="en-US" sz="1900" dirty="0"/>
          </a:p>
        </p:txBody>
      </p:sp>
      <p:sp>
        <p:nvSpPr>
          <p:cNvPr id="18" name="Text 13"/>
          <p:cNvSpPr txBox="1"/>
          <p:nvPr/>
        </p:nvSpPr>
        <p:spPr>
          <a:xfrm>
            <a:off x="4480560" y="3803904"/>
            <a:ext cx="6949440" cy="932688"/>
          </a:xfrm>
          <a:prstGeom prst="rect">
            <a:avLst/>
          </a:prstGeom>
          <a:noFill/>
          <a:ln/>
        </p:spPr>
        <p:txBody>
          <a:bodyPr wrap="square" lIns="0" tIns="0" rIns="0" bIns="0" rtlCol="0" anchor="ctr"/>
          <a:lstStyle/>
          <a:p>
            <a:pPr indent="0" marL="0">
              <a:buNone/>
            </a:pPr>
            <a:r>
              <a:rPr lang="en-US" sz="1500" dirty="0">
                <a:solidFill>
                  <a:srgbClr val="5A6672"/>
                </a:solidFill>
                <a:latin typeface="Calibri" pitchFamily="34" charset="0"/>
                <a:ea typeface="Calibri" pitchFamily="34" charset="-122"/>
                <a:cs typeface="Calibri" pitchFamily="34" charset="-120"/>
              </a:rPr>
              <a:t>Least-privilege access, data-use agreements with suppliers, and audit trails on sensitive maps</a:t>
            </a:r>
            <a:endParaRPr lang="en-US" sz="1500" dirty="0"/>
          </a:p>
        </p:txBody>
      </p:sp>
      <p:sp>
        <p:nvSpPr>
          <p:cNvPr id="19" name="Shape 14"/>
          <p:cNvSpPr/>
          <p:nvPr/>
        </p:nvSpPr>
        <p:spPr>
          <a:xfrm>
            <a:off x="548640" y="4882896"/>
            <a:ext cx="11064240" cy="932688"/>
          </a:xfrm>
          <a:prstGeom prst="rect">
            <a:avLst/>
          </a:prstGeom>
          <a:solidFill>
            <a:srgbClr val="F6E6DA"/>
          </a:solidFill>
          <a:ln w="12700">
            <a:solidFill>
              <a:srgbClr val="F6E6DA"/>
            </a:solidFill>
            <a:prstDash val="solid"/>
          </a:ln>
        </p:spPr>
      </p:sp>
      <p:sp>
        <p:nvSpPr>
          <p:cNvPr id="20" name="Shape 15"/>
          <p:cNvSpPr/>
          <p:nvPr/>
        </p:nvSpPr>
        <p:spPr>
          <a:xfrm>
            <a:off x="777240" y="5065776"/>
            <a:ext cx="566928" cy="566928"/>
          </a:xfrm>
          <a:prstGeom prst="roundRect">
            <a:avLst>
              <a:gd name="adj" fmla="val 12903"/>
            </a:avLst>
          </a:prstGeom>
          <a:solidFill>
            <a:srgbClr val="C46A2B"/>
          </a:solidFill>
          <a:ln w="12700">
            <a:solidFill>
              <a:srgbClr val="C46A2B"/>
            </a:solidFill>
            <a:prstDash val="solid"/>
          </a:ln>
        </p:spPr>
      </p:sp>
      <p:pic>
        <p:nvPicPr>
          <p:cNvPr id="21" name="Image 3" descr="preencoded.png">    </p:cNvPr>
          <p:cNvPicPr>
            <a:picLocks noChangeAspect="1"/>
          </p:cNvPicPr>
          <p:nvPr/>
        </p:nvPicPr>
        <p:blipFill>
          <a:blip r:embed="rId4"/>
          <a:stretch>
            <a:fillRect/>
          </a:stretch>
        </p:blipFill>
        <p:spPr>
          <a:xfrm>
            <a:off x="901964" y="5190500"/>
            <a:ext cx="317480" cy="317480"/>
          </a:xfrm>
          <a:prstGeom prst="rect">
            <a:avLst/>
          </a:prstGeom>
        </p:spPr>
      </p:pic>
      <p:sp>
        <p:nvSpPr>
          <p:cNvPr id="22" name="Text 16"/>
          <p:cNvSpPr txBox="1"/>
          <p:nvPr/>
        </p:nvSpPr>
        <p:spPr>
          <a:xfrm>
            <a:off x="1554480" y="4882896"/>
            <a:ext cx="2834640" cy="932688"/>
          </a:xfrm>
          <a:prstGeom prst="rect">
            <a:avLst/>
          </a:prstGeom>
          <a:noFill/>
          <a:ln/>
        </p:spPr>
        <p:txBody>
          <a:bodyPr wrap="square" lIns="0" tIns="0" rIns="0" bIns="0" rtlCol="0" anchor="ctr"/>
          <a:lstStyle/>
          <a:p>
            <a:pPr indent="0" marL="0">
              <a:buNone/>
            </a:pPr>
            <a:r>
              <a:rPr lang="en-US" sz="1900" b="1" dirty="0">
                <a:solidFill>
                  <a:srgbClr val="1B2229"/>
                </a:solidFill>
                <a:latin typeface="Calibri" pitchFamily="34" charset="0"/>
                <a:ea typeface="Calibri" pitchFamily="34" charset="-122"/>
                <a:cs typeface="Calibri" pitchFamily="34" charset="-120"/>
              </a:rPr>
              <a:t>Data foundation</a:t>
            </a:r>
            <a:endParaRPr lang="en-US" sz="1900" dirty="0"/>
          </a:p>
        </p:txBody>
      </p:sp>
      <p:sp>
        <p:nvSpPr>
          <p:cNvPr id="23" name="Text 17"/>
          <p:cNvSpPr txBox="1"/>
          <p:nvPr/>
        </p:nvSpPr>
        <p:spPr>
          <a:xfrm>
            <a:off x="4480560" y="4882896"/>
            <a:ext cx="6949440" cy="932688"/>
          </a:xfrm>
          <a:prstGeom prst="rect">
            <a:avLst/>
          </a:prstGeom>
          <a:noFill/>
          <a:ln/>
        </p:spPr>
        <p:txBody>
          <a:bodyPr wrap="square" lIns="0" tIns="0" rIns="0" bIns="0" rtlCol="0" anchor="ctr"/>
          <a:lstStyle/>
          <a:p>
            <a:pPr indent="0" marL="0">
              <a:buNone/>
            </a:pPr>
            <a:r>
              <a:rPr lang="en-US" sz="1500" dirty="0">
                <a:solidFill>
                  <a:srgbClr val="5A6672"/>
                </a:solidFill>
                <a:latin typeface="Calibri" pitchFamily="34" charset="0"/>
                <a:ea typeface="Calibri" pitchFamily="34" charset="-122"/>
                <a:cs typeface="Calibri" pitchFamily="34" charset="-120"/>
              </a:rPr>
              <a:t>Common part and supplier IDs, lineage, quality checks, and an owner for each critical record</a:t>
            </a:r>
            <a:endParaRPr lang="en-US" sz="1500" dirty="0"/>
          </a:p>
        </p:txBody>
      </p:sp>
      <p:sp>
        <p:nvSpPr>
          <p:cNvPr id="24" name="Text 18"/>
          <p:cNvSpPr txBox="1"/>
          <p:nvPr/>
        </p:nvSpPr>
        <p:spPr>
          <a:xfrm>
            <a:off x="548640" y="6035040"/>
            <a:ext cx="11094415" cy="365760"/>
          </a:xfrm>
          <a:prstGeom prst="rect">
            <a:avLst/>
          </a:prstGeom>
          <a:noFill/>
          <a:ln/>
        </p:spPr>
        <p:txBody>
          <a:bodyPr wrap="square" lIns="0" tIns="0" rIns="0" bIns="0" rtlCol="0" anchor="ctr"/>
          <a:lstStyle/>
          <a:p>
            <a:pPr indent="0" marL="0">
              <a:buNone/>
            </a:pPr>
            <a:r>
              <a:rPr lang="en-US" sz="1600" i="1" dirty="0">
                <a:solidFill>
                  <a:srgbClr val="C46A2B"/>
                </a:solidFill>
                <a:latin typeface="Calibri" pitchFamily="34" charset="0"/>
                <a:ea typeface="Calibri" pitchFamily="34" charset="-122"/>
                <a:cs typeface="Calibri" pitchFamily="34" charset="-120"/>
              </a:rPr>
              <a:t>Build from the bottom up. Each layer depends on the one below it.</a:t>
            </a:r>
            <a:endParaRPr lang="en-US" sz="1600" dirty="0"/>
          </a:p>
        </p:txBody>
      </p:sp>
      <p:sp>
        <p:nvSpPr>
          <p:cNvPr id="25" name="Text 19"/>
          <p:cNvSpPr txBox="1"/>
          <p:nvPr/>
        </p:nvSpPr>
        <p:spPr>
          <a:xfrm>
            <a:off x="8899855" y="6446520"/>
            <a:ext cx="2743200" cy="228600"/>
          </a:xfrm>
          <a:prstGeom prst="rect">
            <a:avLst/>
          </a:prstGeom>
          <a:noFill/>
          <a:ln/>
        </p:spPr>
        <p:txBody>
          <a:bodyPr wrap="square" lIns="0" tIns="0" rIns="0" bIns="0" rtlCol="0" anchor="ctr"/>
          <a:lstStyle/>
          <a:p>
            <a:pPr algn="r" indent="0" marL="0">
              <a:buNone/>
            </a:pPr>
            <a:r>
              <a:rPr lang="en-US" sz="900" dirty="0">
                <a:solidFill>
                  <a:srgbClr val="8A96A3"/>
                </a:solidFill>
                <a:latin typeface="Calibri" pitchFamily="34" charset="0"/>
                <a:ea typeface="Calibri" pitchFamily="34" charset="-122"/>
                <a:cs typeface="Calibri" pitchFamily="34" charset="-120"/>
              </a:rPr>
              <a:t>SEMICON West  |  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182880"/>
            <a:ext cx="7315200" cy="274320"/>
          </a:xfrm>
          <a:prstGeom prst="rect">
            <a:avLst/>
          </a:prstGeom>
          <a:noFill/>
          <a:ln/>
        </p:spPr>
        <p:txBody>
          <a:bodyPr wrap="square" lIns="0" tIns="0" rIns="0" bIns="0" rtlCol="0" anchor="ctr"/>
          <a:lstStyle/>
          <a:p>
            <a:pPr indent="0" marL="0">
              <a:buNone/>
            </a:pPr>
            <a:r>
              <a:rPr lang="en-US" sz="1100" b="1" spc="200" kern="0" dirty="0">
                <a:solidFill>
                  <a:srgbClr val="C46A2B"/>
                </a:solidFill>
                <a:latin typeface="Calibri" pitchFamily="34" charset="0"/>
                <a:ea typeface="Calibri" pitchFamily="34" charset="-122"/>
                <a:cs typeface="Calibri" pitchFamily="34" charset="-120"/>
              </a:rPr>
              <a:t>GOVERNANCE AS THE LEVER</a:t>
            </a:r>
            <a:endParaRPr lang="en-US" sz="1100" dirty="0"/>
          </a:p>
        </p:txBody>
      </p:sp>
      <p:sp>
        <p:nvSpPr>
          <p:cNvPr id="3" name="Text 1"/>
          <p:cNvSpPr txBox="1"/>
          <p:nvPr/>
        </p:nvSpPr>
        <p:spPr>
          <a:xfrm>
            <a:off x="548640" y="411480"/>
            <a:ext cx="11094415" cy="914400"/>
          </a:xfrm>
          <a:prstGeom prst="rect">
            <a:avLst/>
          </a:prstGeom>
          <a:noFill/>
          <a:ln/>
        </p:spPr>
        <p:txBody>
          <a:bodyPr wrap="square" lIns="0" tIns="0" rIns="0" bIns="0" rtlCol="0" anchor="t"/>
          <a:lstStyle/>
          <a:p>
            <a:pPr indent="0" marL="0">
              <a:buNone/>
            </a:pPr>
            <a:r>
              <a:rPr lang="en-US" sz="3400" b="1" dirty="0">
                <a:solidFill>
                  <a:srgbClr val="1B2229"/>
                </a:solidFill>
                <a:latin typeface="Calibri" pitchFamily="34" charset="0"/>
                <a:ea typeface="Calibri" pitchFamily="34" charset="-122"/>
                <a:cs typeface="Calibri" pitchFamily="34" charset="-120"/>
              </a:rPr>
              <a:t>Map each control to the risk it reduces, and measure it</a:t>
            </a:r>
            <a:endParaRPr lang="en-US" sz="34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48640" y="1600200"/>
          <a:ext cx="11064240" cy="914400"/>
        </p:xfrm>
        <a:graphic>
          <a:graphicData uri="http://schemas.openxmlformats.org/drawingml/2006/table">
            <a:tbl>
              <a:tblPr/>
              <a:tblGrid>
                <a:gridCol w="3017520"/>
                <a:gridCol w="4572000"/>
                <a:gridCol w="3474720"/>
              </a:tblGrid>
              <a:tr h="502920">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Risk</a:t>
                      </a:r>
                      <a:endParaRPr lang="en-US" sz="1500" dirty="0">
                        <a:latin typeface="Calibri" charset="0"/>
                        <a:ea typeface="Calibri" charset="0"/>
                        <a:cs typeface="Calibri" charset="0"/>
                      </a:endParaRPr>
                    </a:p>
                  </a:txBody>
                  <a:tcPr marL="137160" marR="137160" marT="73152" marB="73152" anchor="ctr">
                    <a:lnL w="9525" cap="flat" cmpd="sng" algn="ctr">
                      <a:solidFill>
                        <a:srgbClr val="D5DBE1"/>
                      </a:solidFill>
                      <a:prstDash val="solid"/>
                      <a:round/>
                      <a:headEnd type="none" w="med" len="med"/>
                      <a:tailEnd type="none" w="med" len="med"/>
                    </a:lnL>
                    <a:lnR w="9525" cap="flat" cmpd="sng" algn="ctr">
                      <a:solidFill>
                        <a:srgbClr val="D5DBE1"/>
                      </a:solidFill>
                      <a:prstDash val="solid"/>
                      <a:round/>
                      <a:headEnd type="none" w="med" len="med"/>
                      <a:tailEnd type="none" w="med" len="med"/>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solidFill>
                      <a:srgbClr val="1B2229"/>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Governance control</a:t>
                      </a:r>
                      <a:endParaRPr lang="en-US" sz="1500" dirty="0">
                        <a:latin typeface="Calibri" charset="0"/>
                        <a:ea typeface="Calibri" charset="0"/>
                        <a:cs typeface="Calibri" charset="0"/>
                      </a:endParaRPr>
                    </a:p>
                  </a:txBody>
                  <a:tcPr marL="137160" marR="137160" marT="73152" marB="73152" anchor="ctr">
                    <a:lnL w="9525" cap="flat" cmpd="sng" algn="ctr">
                      <a:solidFill>
                        <a:srgbClr val="D5DBE1"/>
                      </a:solidFill>
                      <a:prstDash val="solid"/>
                      <a:round/>
                      <a:headEnd type="none" w="med" len="med"/>
                      <a:tailEnd type="none" w="med" len="med"/>
                    </a:lnL>
                    <a:lnR w="9525" cap="flat" cmpd="sng" algn="ctr">
                      <a:solidFill>
                        <a:srgbClr val="D5DBE1"/>
                      </a:solidFill>
                      <a:prstDash val="solid"/>
                      <a:round/>
                      <a:headEnd type="none" w="med" len="med"/>
                      <a:tailEnd type="none" w="med" len="med"/>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solidFill>
                      <a:srgbClr val="1B2229"/>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Evidence it works</a:t>
                      </a:r>
                      <a:endParaRPr lang="en-US" sz="1500" dirty="0">
                        <a:latin typeface="Calibri" charset="0"/>
                        <a:ea typeface="Calibri" charset="0"/>
                        <a:cs typeface="Calibri" charset="0"/>
                      </a:endParaRPr>
                    </a:p>
                  </a:txBody>
                  <a:tcPr marL="137160" marR="137160" marT="73152" marB="73152" anchor="ctr">
                    <a:lnL w="9525" cap="flat" cmpd="sng" algn="ctr">
                      <a:solidFill>
                        <a:srgbClr val="D5DBE1"/>
                      </a:solidFill>
                      <a:prstDash val="solid"/>
                      <a:round/>
                      <a:headEnd type="none" w="med" len="med"/>
                      <a:tailEnd type="none" w="med" len="med"/>
                    </a:lnL>
                    <a:lnR w="9525" cap="flat" cmpd="sng" algn="ctr">
                      <a:solidFill>
                        <a:srgbClr val="D5DBE1"/>
                      </a:solidFill>
                      <a:prstDash val="solid"/>
                      <a:round/>
                      <a:headEnd type="none" w="med" len="med"/>
                      <a:tailEnd type="none" w="med" len="med"/>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solidFill>
                      <a:srgbClr val="1B2229"/>
                    </a:solidFill>
                  </a:tcPr>
                </a:tc>
              </a:tr>
              <a:tr h="777240">
                <a:tc>
                  <a:txBody>
                    <a:bodyPr/>
                    <a:lstStyle/>
                    <a:p>
                      <a:pPr indent="0" marL="0">
                        <a:buNone/>
                      </a:pPr>
                      <a:r>
                        <a:rPr lang="en-US" sz="1350" b="1" dirty="0">
                          <a:solidFill>
                            <a:srgbClr val="1B2229"/>
                          </a:solidFill>
                          <a:latin typeface="Calibri" pitchFamily="34" charset="0"/>
                          <a:ea typeface="Calibri" pitchFamily="34" charset="-122"/>
                          <a:cs typeface="Calibri" pitchFamily="34" charset="-120"/>
                        </a:rPr>
                        <a:t>Single points of failure</a:t>
                      </a:r>
                      <a:endParaRPr lang="en-US" sz="1350" dirty="0">
                        <a:latin typeface="Calibri" charset="0"/>
                        <a:ea typeface="Calibri" charset="0"/>
                        <a:cs typeface="Calibri" charset="0"/>
                      </a:endParaRPr>
                    </a:p>
                  </a:txBody>
                  <a:tcPr marL="137160" marR="137160" marT="73152" marB="73152" anchor="ctr">
                    <a:lnL w="9525" cap="flat" cmpd="sng" algn="ctr">
                      <a:solidFill>
                        <a:srgbClr val="D5DBE1"/>
                      </a:solidFill>
                      <a:prstDash val="solid"/>
                      <a:round/>
                      <a:headEnd type="none" w="med" len="med"/>
                      <a:tailEnd type="none" w="med" len="med"/>
                    </a:lnL>
                    <a:lnR w="9525" cap="flat" cmpd="sng" algn="ctr">
                      <a:solidFill>
                        <a:srgbClr val="D5DBE1"/>
                      </a:solidFill>
                      <a:prstDash val="solid"/>
                      <a:round/>
                      <a:headEnd type="none" w="med" len="med"/>
                      <a:tailEnd type="none" w="med" len="med"/>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solidFill>
                      <a:srgbClr val="FFFFFF"/>
                    </a:solidFill>
                  </a:tcPr>
                </a:tc>
                <a:tc>
                  <a:txBody>
                    <a:bodyPr/>
                    <a:lstStyle/>
                    <a:p>
                      <a:pPr indent="0" marL="0">
                        <a:buNone/>
                      </a:pPr>
                      <a:r>
                        <a:rPr lang="en-US" sz="1350" dirty="0">
                          <a:solidFill>
                            <a:srgbClr val="1B2229"/>
                          </a:solidFill>
                          <a:latin typeface="Calibri" pitchFamily="34" charset="0"/>
                          <a:ea typeface="Calibri" pitchFamily="34" charset="-122"/>
                          <a:cs typeface="Calibri" pitchFamily="34" charset="-120"/>
                        </a:rPr>
                        <a:t>AI-assisted multi-tier BOM mapping down to raw materials, with an owner per critical part</a:t>
                      </a:r>
                      <a:endParaRPr lang="en-US" sz="1350" dirty="0">
                        <a:latin typeface="Calibri" charset="0"/>
                        <a:ea typeface="Calibri" charset="0"/>
                        <a:cs typeface="Calibri" charset="0"/>
                      </a:endParaRPr>
                    </a:p>
                  </a:txBody>
                  <a:tcPr marL="137160" marR="137160" marT="73152" marB="73152" anchor="ctr">
                    <a:lnL w="9525" cap="flat" cmpd="sng" algn="ctr">
                      <a:solidFill>
                        <a:srgbClr val="D5DBE1"/>
                      </a:solidFill>
                      <a:prstDash val="solid"/>
                      <a:round/>
                      <a:headEnd type="none" w="med" len="med"/>
                      <a:tailEnd type="none" w="med" len="med"/>
                    </a:lnL>
                    <a:lnR w="9525" cap="flat" cmpd="sng" algn="ctr">
                      <a:solidFill>
                        <a:srgbClr val="D5DBE1"/>
                      </a:solidFill>
                      <a:prstDash val="solid"/>
                      <a:round/>
                      <a:headEnd type="none" w="med" len="med"/>
                      <a:tailEnd type="none" w="med" len="med"/>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solidFill>
                      <a:srgbClr val="FFFFFF"/>
                    </a:solidFill>
                  </a:tcPr>
                </a:tc>
                <a:tc>
                  <a:txBody>
                    <a:bodyPr/>
                    <a:lstStyle/>
                    <a:p>
                      <a:pPr indent="0" marL="0">
                        <a:buNone/>
                      </a:pPr>
                      <a:r>
                        <a:rPr lang="en-US" sz="1350" b="1" dirty="0">
                          <a:solidFill>
                            <a:srgbClr val="C46A2B"/>
                          </a:solidFill>
                          <a:latin typeface="Calibri" pitchFamily="34" charset="0"/>
                          <a:ea typeface="Calibri" pitchFamily="34" charset="-122"/>
                          <a:cs typeface="Calibri" pitchFamily="34" charset="-120"/>
                        </a:rPr>
                        <a:t>Share of critical parts traced to raw material</a:t>
                      </a:r>
                      <a:endParaRPr lang="en-US" sz="1350" dirty="0">
                        <a:latin typeface="Calibri" charset="0"/>
                        <a:ea typeface="Calibri" charset="0"/>
                        <a:cs typeface="Calibri" charset="0"/>
                      </a:endParaRPr>
                    </a:p>
                  </a:txBody>
                  <a:tcPr marL="137160" marR="137160" marT="73152" marB="73152" anchor="ctr">
                    <a:lnL w="9525" cap="flat" cmpd="sng" algn="ctr">
                      <a:solidFill>
                        <a:srgbClr val="D5DBE1"/>
                      </a:solidFill>
                      <a:prstDash val="solid"/>
                      <a:round/>
                      <a:headEnd type="none" w="med" len="med"/>
                      <a:tailEnd type="none" w="med" len="med"/>
                    </a:lnL>
                    <a:lnR w="9525" cap="flat" cmpd="sng" algn="ctr">
                      <a:solidFill>
                        <a:srgbClr val="D5DBE1"/>
                      </a:solidFill>
                      <a:prstDash val="solid"/>
                      <a:round/>
                      <a:headEnd type="none" w="med" len="med"/>
                      <a:tailEnd type="none" w="med" len="med"/>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solidFill>
                      <a:srgbClr val="FFFFFF"/>
                    </a:solidFill>
                  </a:tcPr>
                </a:tc>
              </a:tr>
              <a:tr h="777240">
                <a:tc>
                  <a:txBody>
                    <a:bodyPr/>
                    <a:lstStyle/>
                    <a:p>
                      <a:pPr indent="0" marL="0">
                        <a:buNone/>
                      </a:pPr>
                      <a:r>
                        <a:rPr lang="en-US" sz="1350" b="1" dirty="0">
                          <a:solidFill>
                            <a:srgbClr val="1B2229"/>
                          </a:solidFill>
                          <a:latin typeface="Calibri" pitchFamily="34" charset="0"/>
                          <a:ea typeface="Calibri" pitchFamily="34" charset="-122"/>
                          <a:cs typeface="Calibri" pitchFamily="34" charset="-120"/>
                        </a:rPr>
                        <a:t>Export controls and sanctions</a:t>
                      </a:r>
                      <a:endParaRPr lang="en-US" sz="1350" dirty="0">
                        <a:latin typeface="Calibri" charset="0"/>
                        <a:ea typeface="Calibri" charset="0"/>
                        <a:cs typeface="Calibri" charset="0"/>
                      </a:endParaRPr>
                    </a:p>
                  </a:txBody>
                  <a:tcPr marL="137160" marR="137160" marT="73152" marB="73152" anchor="ctr">
                    <a:lnL w="9525" cap="flat" cmpd="sng" algn="ctr">
                      <a:solidFill>
                        <a:srgbClr val="D5DBE1"/>
                      </a:solidFill>
                      <a:prstDash val="solid"/>
                      <a:round/>
                      <a:headEnd type="none" w="med" len="med"/>
                      <a:tailEnd type="none" w="med" len="med"/>
                    </a:lnL>
                    <a:lnR w="9525" cap="flat" cmpd="sng" algn="ctr">
                      <a:solidFill>
                        <a:srgbClr val="D5DBE1"/>
                      </a:solidFill>
                      <a:prstDash val="solid"/>
                      <a:round/>
                      <a:headEnd type="none" w="med" len="med"/>
                      <a:tailEnd type="none" w="med" len="med"/>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solidFill>
                      <a:srgbClr val="EEF1F4"/>
                    </a:solidFill>
                  </a:tcPr>
                </a:tc>
                <a:tc>
                  <a:txBody>
                    <a:bodyPr/>
                    <a:lstStyle/>
                    <a:p>
                      <a:pPr indent="0" marL="0">
                        <a:buNone/>
                      </a:pPr>
                      <a:r>
                        <a:rPr lang="en-US" sz="1350" dirty="0">
                          <a:solidFill>
                            <a:srgbClr val="1B2229"/>
                          </a:solidFill>
                          <a:latin typeface="Calibri" pitchFamily="34" charset="0"/>
                          <a:ea typeface="Calibri" pitchFamily="34" charset="-122"/>
                          <a:cs typeface="Calibri" pitchFamily="34" charset="-120"/>
                        </a:rPr>
                        <a:t>Automated screening of items, parties, and end uses against current control lists</a:t>
                      </a:r>
                      <a:endParaRPr lang="en-US" sz="1350" dirty="0">
                        <a:latin typeface="Calibri" charset="0"/>
                        <a:ea typeface="Calibri" charset="0"/>
                        <a:cs typeface="Calibri" charset="0"/>
                      </a:endParaRPr>
                    </a:p>
                  </a:txBody>
                  <a:tcPr marL="137160" marR="137160" marT="73152" marB="73152" anchor="ctr">
                    <a:lnL w="9525" cap="flat" cmpd="sng" algn="ctr">
                      <a:solidFill>
                        <a:srgbClr val="D5DBE1"/>
                      </a:solidFill>
                      <a:prstDash val="solid"/>
                      <a:round/>
                      <a:headEnd type="none" w="med" len="med"/>
                      <a:tailEnd type="none" w="med" len="med"/>
                    </a:lnL>
                    <a:lnR w="9525" cap="flat" cmpd="sng" algn="ctr">
                      <a:solidFill>
                        <a:srgbClr val="D5DBE1"/>
                      </a:solidFill>
                      <a:prstDash val="solid"/>
                      <a:round/>
                      <a:headEnd type="none" w="med" len="med"/>
                      <a:tailEnd type="none" w="med" len="med"/>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solidFill>
                      <a:srgbClr val="EEF1F4"/>
                    </a:solidFill>
                  </a:tcPr>
                </a:tc>
                <a:tc>
                  <a:txBody>
                    <a:bodyPr/>
                    <a:lstStyle/>
                    <a:p>
                      <a:pPr indent="0" marL="0">
                        <a:buNone/>
                      </a:pPr>
                      <a:r>
                        <a:rPr lang="en-US" sz="1350" b="1" dirty="0">
                          <a:solidFill>
                            <a:srgbClr val="C46A2B"/>
                          </a:solidFill>
                          <a:latin typeface="Calibri" pitchFamily="34" charset="0"/>
                          <a:ea typeface="Calibri" pitchFamily="34" charset="-122"/>
                          <a:cs typeface="Calibri" pitchFamily="34" charset="-120"/>
                        </a:rPr>
                        <a:t>Hours from rule change to exposure report</a:t>
                      </a:r>
                      <a:endParaRPr lang="en-US" sz="1350" dirty="0">
                        <a:latin typeface="Calibri" charset="0"/>
                        <a:ea typeface="Calibri" charset="0"/>
                        <a:cs typeface="Calibri" charset="0"/>
                      </a:endParaRPr>
                    </a:p>
                  </a:txBody>
                  <a:tcPr marL="137160" marR="137160" marT="73152" marB="73152" anchor="ctr">
                    <a:lnL w="9525" cap="flat" cmpd="sng" algn="ctr">
                      <a:solidFill>
                        <a:srgbClr val="D5DBE1"/>
                      </a:solidFill>
                      <a:prstDash val="solid"/>
                      <a:round/>
                      <a:headEnd type="none" w="med" len="med"/>
                      <a:tailEnd type="none" w="med" len="med"/>
                    </a:lnL>
                    <a:lnR w="9525" cap="flat" cmpd="sng" algn="ctr">
                      <a:solidFill>
                        <a:srgbClr val="D5DBE1"/>
                      </a:solidFill>
                      <a:prstDash val="solid"/>
                      <a:round/>
                      <a:headEnd type="none" w="med" len="med"/>
                      <a:tailEnd type="none" w="med" len="med"/>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solidFill>
                      <a:srgbClr val="EEF1F4"/>
                    </a:solidFill>
                  </a:tcPr>
                </a:tc>
              </a:tr>
              <a:tr h="777240">
                <a:tc>
                  <a:txBody>
                    <a:bodyPr/>
                    <a:lstStyle/>
                    <a:p>
                      <a:pPr indent="0" marL="0">
                        <a:buNone/>
                      </a:pPr>
                      <a:r>
                        <a:rPr lang="en-US" sz="1350" b="1" dirty="0">
                          <a:solidFill>
                            <a:srgbClr val="1B2229"/>
                          </a:solidFill>
                          <a:latin typeface="Calibri" pitchFamily="34" charset="0"/>
                          <a:ea typeface="Calibri" pitchFamily="34" charset="-122"/>
                          <a:cs typeface="Calibri" pitchFamily="34" charset="-120"/>
                        </a:rPr>
                        <a:t>Allocation crunch (HBM, advanced nodes)</a:t>
                      </a:r>
                      <a:endParaRPr lang="en-US" sz="1350" dirty="0">
                        <a:latin typeface="Calibri" charset="0"/>
                        <a:ea typeface="Calibri" charset="0"/>
                        <a:cs typeface="Calibri" charset="0"/>
                      </a:endParaRPr>
                    </a:p>
                  </a:txBody>
                  <a:tcPr marL="137160" marR="137160" marT="73152" marB="73152" anchor="ctr">
                    <a:lnL w="9525" cap="flat" cmpd="sng" algn="ctr">
                      <a:solidFill>
                        <a:srgbClr val="D5DBE1"/>
                      </a:solidFill>
                      <a:prstDash val="solid"/>
                      <a:round/>
                      <a:headEnd type="none" w="med" len="med"/>
                      <a:tailEnd type="none" w="med" len="med"/>
                    </a:lnL>
                    <a:lnR w="9525" cap="flat" cmpd="sng" algn="ctr">
                      <a:solidFill>
                        <a:srgbClr val="D5DBE1"/>
                      </a:solidFill>
                      <a:prstDash val="solid"/>
                      <a:round/>
                      <a:headEnd type="none" w="med" len="med"/>
                      <a:tailEnd type="none" w="med" len="med"/>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solidFill>
                      <a:srgbClr val="FFFFFF"/>
                    </a:solidFill>
                  </a:tcPr>
                </a:tc>
                <a:tc>
                  <a:txBody>
                    <a:bodyPr/>
                    <a:lstStyle/>
                    <a:p>
                      <a:pPr indent="0" marL="0">
                        <a:buNone/>
                      </a:pPr>
                      <a:r>
                        <a:rPr lang="en-US" sz="1350" dirty="0">
                          <a:solidFill>
                            <a:srgbClr val="1B2229"/>
                          </a:solidFill>
                          <a:latin typeface="Calibri" pitchFamily="34" charset="0"/>
                          <a:ea typeface="Calibri" pitchFamily="34" charset="-122"/>
                          <a:cs typeface="Calibri" pitchFamily="34" charset="-120"/>
                        </a:rPr>
                        <a:t>ML monitoring of lead-time and capacity signals at known choke points</a:t>
                      </a:r>
                      <a:endParaRPr lang="en-US" sz="1350" dirty="0">
                        <a:latin typeface="Calibri" charset="0"/>
                        <a:ea typeface="Calibri" charset="0"/>
                        <a:cs typeface="Calibri" charset="0"/>
                      </a:endParaRPr>
                    </a:p>
                  </a:txBody>
                  <a:tcPr marL="137160" marR="137160" marT="73152" marB="73152" anchor="ctr">
                    <a:lnL w="9525" cap="flat" cmpd="sng" algn="ctr">
                      <a:solidFill>
                        <a:srgbClr val="D5DBE1"/>
                      </a:solidFill>
                      <a:prstDash val="solid"/>
                      <a:round/>
                      <a:headEnd type="none" w="med" len="med"/>
                      <a:tailEnd type="none" w="med" len="med"/>
                    </a:lnL>
                    <a:lnR w="9525" cap="flat" cmpd="sng" algn="ctr">
                      <a:solidFill>
                        <a:srgbClr val="D5DBE1"/>
                      </a:solidFill>
                      <a:prstDash val="solid"/>
                      <a:round/>
                      <a:headEnd type="none" w="med" len="med"/>
                      <a:tailEnd type="none" w="med" len="med"/>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solidFill>
                      <a:srgbClr val="FFFFFF"/>
                    </a:solidFill>
                  </a:tcPr>
                </a:tc>
                <a:tc>
                  <a:txBody>
                    <a:bodyPr/>
                    <a:lstStyle/>
                    <a:p>
                      <a:pPr indent="0" marL="0">
                        <a:buNone/>
                      </a:pPr>
                      <a:r>
                        <a:rPr lang="en-US" sz="1350" b="1" dirty="0">
                          <a:solidFill>
                            <a:srgbClr val="C46A2B"/>
                          </a:solidFill>
                          <a:latin typeface="Calibri" pitchFamily="34" charset="0"/>
                          <a:ea typeface="Calibri" pitchFamily="34" charset="-122"/>
                          <a:cs typeface="Calibri" pitchFamily="34" charset="-120"/>
                        </a:rPr>
                        <a:t>Weeks of warning before allocation hits</a:t>
                      </a:r>
                      <a:endParaRPr lang="en-US" sz="1350" dirty="0">
                        <a:latin typeface="Calibri" charset="0"/>
                        <a:ea typeface="Calibri" charset="0"/>
                        <a:cs typeface="Calibri" charset="0"/>
                      </a:endParaRPr>
                    </a:p>
                  </a:txBody>
                  <a:tcPr marL="137160" marR="137160" marT="73152" marB="73152" anchor="ctr">
                    <a:lnL w="9525" cap="flat" cmpd="sng" algn="ctr">
                      <a:solidFill>
                        <a:srgbClr val="D5DBE1"/>
                      </a:solidFill>
                      <a:prstDash val="solid"/>
                      <a:round/>
                      <a:headEnd type="none" w="med" len="med"/>
                      <a:tailEnd type="none" w="med" len="med"/>
                    </a:lnL>
                    <a:lnR w="9525" cap="flat" cmpd="sng" algn="ctr">
                      <a:solidFill>
                        <a:srgbClr val="D5DBE1"/>
                      </a:solidFill>
                      <a:prstDash val="solid"/>
                      <a:round/>
                      <a:headEnd type="none" w="med" len="med"/>
                      <a:tailEnd type="none" w="med" len="med"/>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solidFill>
                      <a:srgbClr val="FFFFFF"/>
                    </a:solidFill>
                  </a:tcPr>
                </a:tc>
              </a:tr>
              <a:tr h="777240">
                <a:tc>
                  <a:txBody>
                    <a:bodyPr/>
                    <a:lstStyle/>
                    <a:p>
                      <a:pPr indent="0" marL="0">
                        <a:buNone/>
                      </a:pPr>
                      <a:r>
                        <a:rPr lang="en-US" sz="1350" b="1" dirty="0">
                          <a:solidFill>
                            <a:srgbClr val="1B2229"/>
                          </a:solidFill>
                          <a:latin typeface="Calibri" pitchFamily="34" charset="0"/>
                          <a:ea typeface="Calibri" pitchFamily="34" charset="-122"/>
                          <a:cs typeface="Calibri" pitchFamily="34" charset="-120"/>
                        </a:rPr>
                        <a:t>AI misranks a risk</a:t>
                      </a:r>
                      <a:endParaRPr lang="en-US" sz="1350" dirty="0">
                        <a:latin typeface="Calibri" charset="0"/>
                        <a:ea typeface="Calibri" charset="0"/>
                        <a:cs typeface="Calibri" charset="0"/>
                      </a:endParaRPr>
                    </a:p>
                  </a:txBody>
                  <a:tcPr marL="137160" marR="137160" marT="73152" marB="73152" anchor="ctr">
                    <a:lnL w="9525" cap="flat" cmpd="sng" algn="ctr">
                      <a:solidFill>
                        <a:srgbClr val="D5DBE1"/>
                      </a:solidFill>
                      <a:prstDash val="solid"/>
                      <a:round/>
                      <a:headEnd type="none" w="med" len="med"/>
                      <a:tailEnd type="none" w="med" len="med"/>
                    </a:lnL>
                    <a:lnR w="9525" cap="flat" cmpd="sng" algn="ctr">
                      <a:solidFill>
                        <a:srgbClr val="D5DBE1"/>
                      </a:solidFill>
                      <a:prstDash val="solid"/>
                      <a:round/>
                      <a:headEnd type="none" w="med" len="med"/>
                      <a:tailEnd type="none" w="med" len="med"/>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solidFill>
                      <a:srgbClr val="EEF1F4"/>
                    </a:solidFill>
                  </a:tcPr>
                </a:tc>
                <a:tc>
                  <a:txBody>
                    <a:bodyPr/>
                    <a:lstStyle/>
                    <a:p>
                      <a:pPr indent="0" marL="0">
                        <a:buNone/>
                      </a:pPr>
                      <a:r>
                        <a:rPr lang="en-US" sz="1350" dirty="0">
                          <a:solidFill>
                            <a:srgbClr val="1B2229"/>
                          </a:solidFill>
                          <a:latin typeface="Calibri" pitchFamily="34" charset="0"/>
                          <a:ea typeface="Calibri" pitchFamily="34" charset="-122"/>
                          <a:cs typeface="Calibri" pitchFamily="34" charset="-120"/>
                        </a:rPr>
                        <a:t>Validation on past disruptions, drift monitoring</a:t>
                      </a:r>
                      <a:endParaRPr lang="en-US" sz="1350" dirty="0">
                        <a:latin typeface="Calibri" charset="0"/>
                        <a:ea typeface="Calibri" charset="0"/>
                        <a:cs typeface="Calibri" charset="0"/>
                      </a:endParaRPr>
                    </a:p>
                  </a:txBody>
                  <a:tcPr marL="137160" marR="137160" marT="73152" marB="73152" anchor="ctr">
                    <a:lnL w="9525" cap="flat" cmpd="sng" algn="ctr">
                      <a:solidFill>
                        <a:srgbClr val="D5DBE1"/>
                      </a:solidFill>
                      <a:prstDash val="solid"/>
                      <a:round/>
                      <a:headEnd type="none" w="med" len="med"/>
                      <a:tailEnd type="none" w="med" len="med"/>
                    </a:lnL>
                    <a:lnR w="9525" cap="flat" cmpd="sng" algn="ctr">
                      <a:solidFill>
                        <a:srgbClr val="D5DBE1"/>
                      </a:solidFill>
                      <a:prstDash val="solid"/>
                      <a:round/>
                      <a:headEnd type="none" w="med" len="med"/>
                      <a:tailEnd type="none" w="med" len="med"/>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solidFill>
                      <a:srgbClr val="EEF1F4"/>
                    </a:solidFill>
                  </a:tcPr>
                </a:tc>
                <a:tc>
                  <a:txBody>
                    <a:bodyPr/>
                    <a:lstStyle/>
                    <a:p>
                      <a:pPr indent="0" marL="0">
                        <a:buNone/>
                      </a:pPr>
                      <a:r>
                        <a:rPr lang="en-US" sz="1350" b="1" dirty="0">
                          <a:solidFill>
                            <a:srgbClr val="C46A2B"/>
                          </a:solidFill>
                          <a:latin typeface="Calibri" pitchFamily="34" charset="0"/>
                          <a:ea typeface="Calibri" pitchFamily="34" charset="-122"/>
                          <a:cs typeface="Calibri" pitchFamily="34" charset="-120"/>
                        </a:rPr>
                        <a:t>Planner override rate, and why</a:t>
                      </a:r>
                      <a:endParaRPr lang="en-US" sz="1350" dirty="0">
                        <a:latin typeface="Calibri" charset="0"/>
                        <a:ea typeface="Calibri" charset="0"/>
                        <a:cs typeface="Calibri" charset="0"/>
                      </a:endParaRPr>
                    </a:p>
                  </a:txBody>
                  <a:tcPr marL="137160" marR="137160" marT="73152" marB="73152" anchor="ctr">
                    <a:lnL w="9525" cap="flat" cmpd="sng" algn="ctr">
                      <a:solidFill>
                        <a:srgbClr val="D5DBE1"/>
                      </a:solidFill>
                      <a:prstDash val="solid"/>
                      <a:round/>
                      <a:headEnd type="none" w="med" len="med"/>
                      <a:tailEnd type="none" w="med" len="med"/>
                    </a:lnL>
                    <a:lnR w="9525" cap="flat" cmpd="sng" algn="ctr">
                      <a:solidFill>
                        <a:srgbClr val="D5DBE1"/>
                      </a:solidFill>
                      <a:prstDash val="solid"/>
                      <a:round/>
                      <a:headEnd type="none" w="med" len="med"/>
                      <a:tailEnd type="none" w="med" len="med"/>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solidFill>
                      <a:srgbClr val="EEF1F4"/>
                    </a:solidFill>
                  </a:tcPr>
                </a:tc>
              </a:tr>
              <a:tr h="777240">
                <a:tc>
                  <a:txBody>
                    <a:bodyPr/>
                    <a:lstStyle/>
                    <a:p>
                      <a:pPr indent="0" marL="0">
                        <a:buNone/>
                      </a:pPr>
                      <a:r>
                        <a:rPr lang="en-US" sz="1350" b="1" dirty="0">
                          <a:solidFill>
                            <a:srgbClr val="1B2229"/>
                          </a:solidFill>
                          <a:latin typeface="Calibri" pitchFamily="34" charset="0"/>
                          <a:ea typeface="Calibri" pitchFamily="34" charset="-122"/>
                          <a:cs typeface="Calibri" pitchFamily="34" charset="-120"/>
                        </a:rPr>
                        <a:t>Suppliers won't share</a:t>
                      </a:r>
                      <a:endParaRPr lang="en-US" sz="1350" dirty="0">
                        <a:latin typeface="Calibri" charset="0"/>
                        <a:ea typeface="Calibri" charset="0"/>
                        <a:cs typeface="Calibri" charset="0"/>
                      </a:endParaRPr>
                    </a:p>
                  </a:txBody>
                  <a:tcPr marL="137160" marR="137160" marT="73152" marB="73152" anchor="ctr">
                    <a:lnL w="9525" cap="flat" cmpd="sng" algn="ctr">
                      <a:solidFill>
                        <a:srgbClr val="D5DBE1"/>
                      </a:solidFill>
                      <a:prstDash val="solid"/>
                      <a:round/>
                      <a:headEnd type="none" w="med" len="med"/>
                      <a:tailEnd type="none" w="med" len="med"/>
                    </a:lnL>
                    <a:lnR w="9525" cap="flat" cmpd="sng" algn="ctr">
                      <a:solidFill>
                        <a:srgbClr val="D5DBE1"/>
                      </a:solidFill>
                      <a:prstDash val="solid"/>
                      <a:round/>
                      <a:headEnd type="none" w="med" len="med"/>
                      <a:tailEnd type="none" w="med" len="med"/>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solidFill>
                      <a:srgbClr val="FFFFFF"/>
                    </a:solidFill>
                  </a:tcPr>
                </a:tc>
                <a:tc>
                  <a:txBody>
                    <a:bodyPr/>
                    <a:lstStyle/>
                    <a:p>
                      <a:pPr indent="0" marL="0">
                        <a:buNone/>
                      </a:pPr>
                      <a:r>
                        <a:rPr lang="en-US" sz="1350" dirty="0">
                          <a:solidFill>
                            <a:srgbClr val="1B2229"/>
                          </a:solidFill>
                          <a:latin typeface="Calibri" pitchFamily="34" charset="0"/>
                          <a:ea typeface="Calibri" pitchFamily="34" charset="-122"/>
                          <a:cs typeface="Calibri" pitchFamily="34" charset="-120"/>
                        </a:rPr>
                        <a:t>Data-use agreements, least-privilege access, audit logs</a:t>
                      </a:r>
                      <a:endParaRPr lang="en-US" sz="1350" dirty="0">
                        <a:latin typeface="Calibri" charset="0"/>
                        <a:ea typeface="Calibri" charset="0"/>
                        <a:cs typeface="Calibri" charset="0"/>
                      </a:endParaRPr>
                    </a:p>
                  </a:txBody>
                  <a:tcPr marL="137160" marR="137160" marT="73152" marB="73152" anchor="ctr">
                    <a:lnL w="9525" cap="flat" cmpd="sng" algn="ctr">
                      <a:solidFill>
                        <a:srgbClr val="D5DBE1"/>
                      </a:solidFill>
                      <a:prstDash val="solid"/>
                      <a:round/>
                      <a:headEnd type="none" w="med" len="med"/>
                      <a:tailEnd type="none" w="med" len="med"/>
                    </a:lnL>
                    <a:lnR w="9525" cap="flat" cmpd="sng" algn="ctr">
                      <a:solidFill>
                        <a:srgbClr val="D5DBE1"/>
                      </a:solidFill>
                      <a:prstDash val="solid"/>
                      <a:round/>
                      <a:headEnd type="none" w="med" len="med"/>
                      <a:tailEnd type="none" w="med" len="med"/>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solidFill>
                      <a:srgbClr val="FFFFFF"/>
                    </a:solidFill>
                  </a:tcPr>
                </a:tc>
                <a:tc>
                  <a:txBody>
                    <a:bodyPr/>
                    <a:lstStyle/>
                    <a:p>
                      <a:pPr indent="0" marL="0">
                        <a:buNone/>
                      </a:pPr>
                      <a:r>
                        <a:rPr lang="en-US" sz="1350" b="1" dirty="0">
                          <a:solidFill>
                            <a:srgbClr val="C46A2B"/>
                          </a:solidFill>
                          <a:latin typeface="Calibri" pitchFamily="34" charset="0"/>
                          <a:ea typeface="Calibri" pitchFamily="34" charset="-122"/>
                          <a:cs typeface="Calibri" pitchFamily="34" charset="-120"/>
                        </a:rPr>
                        <a:t>Critical suppliers sharing sub-tier data</a:t>
                      </a:r>
                      <a:endParaRPr lang="en-US" sz="1350" dirty="0">
                        <a:latin typeface="Calibri" charset="0"/>
                        <a:ea typeface="Calibri" charset="0"/>
                        <a:cs typeface="Calibri" charset="0"/>
                      </a:endParaRPr>
                    </a:p>
                  </a:txBody>
                  <a:tcPr marL="137160" marR="137160" marT="73152" marB="73152" anchor="ctr">
                    <a:lnL w="9525" cap="flat" cmpd="sng" algn="ctr">
                      <a:solidFill>
                        <a:srgbClr val="D5DBE1"/>
                      </a:solidFill>
                      <a:prstDash val="solid"/>
                      <a:round/>
                      <a:headEnd type="none" w="med" len="med"/>
                      <a:tailEnd type="none" w="med" len="med"/>
                    </a:lnL>
                    <a:lnR w="9525" cap="flat" cmpd="sng" algn="ctr">
                      <a:solidFill>
                        <a:srgbClr val="D5DBE1"/>
                      </a:solidFill>
                      <a:prstDash val="solid"/>
                      <a:round/>
                      <a:headEnd type="none" w="med" len="med"/>
                      <a:tailEnd type="none" w="med" len="med"/>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solidFill>
                      <a:srgbClr val="FFFFFF"/>
                    </a:solidFill>
                  </a:tcPr>
                </a:tc>
              </a:tr>
            </a:tbl>
          </a:graphicData>
        </a:graphic>
      </p:graphicFrame>
      <p:sp>
        <p:nvSpPr>
          <p:cNvPr id="5" name="Text 2"/>
          <p:cNvSpPr txBox="1"/>
          <p:nvPr/>
        </p:nvSpPr>
        <p:spPr>
          <a:xfrm>
            <a:off x="8899855" y="6446520"/>
            <a:ext cx="2743200" cy="228600"/>
          </a:xfrm>
          <a:prstGeom prst="rect">
            <a:avLst/>
          </a:prstGeom>
          <a:noFill/>
          <a:ln/>
        </p:spPr>
        <p:txBody>
          <a:bodyPr wrap="square" lIns="0" tIns="0" rIns="0" bIns="0" rtlCol="0" anchor="ctr"/>
          <a:lstStyle/>
          <a:p>
            <a:pPr algn="r" indent="0" marL="0">
              <a:buNone/>
            </a:pPr>
            <a:r>
              <a:rPr lang="en-US" sz="900" dirty="0">
                <a:solidFill>
                  <a:srgbClr val="8A96A3"/>
                </a:solidFill>
                <a:latin typeface="Calibri" pitchFamily="34" charset="0"/>
                <a:ea typeface="Calibri" pitchFamily="34" charset="-122"/>
                <a:cs typeface="Calibri" pitchFamily="34" charset="-120"/>
              </a:rPr>
              <a:t>SEMICON West  |  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182880"/>
            <a:ext cx="7315200" cy="274320"/>
          </a:xfrm>
          <a:prstGeom prst="rect">
            <a:avLst/>
          </a:prstGeom>
          <a:noFill/>
          <a:ln/>
        </p:spPr>
        <p:txBody>
          <a:bodyPr wrap="square" lIns="0" tIns="0" rIns="0" bIns="0" rtlCol="0" anchor="ctr"/>
          <a:lstStyle/>
          <a:p>
            <a:pPr indent="0" marL="0">
              <a:buNone/>
            </a:pPr>
            <a:r>
              <a:rPr lang="en-US" sz="1100" b="1" spc="200" kern="0" dirty="0">
                <a:solidFill>
                  <a:srgbClr val="C46A2B"/>
                </a:solidFill>
                <a:latin typeface="Calibri" pitchFamily="34" charset="0"/>
                <a:ea typeface="Calibri" pitchFamily="34" charset="-122"/>
                <a:cs typeface="Calibri" pitchFamily="34" charset="-120"/>
              </a:rPr>
              <a:t>GOVERNANCE AS THE LEVER</a:t>
            </a:r>
            <a:endParaRPr lang="en-US" sz="1100" dirty="0"/>
          </a:p>
        </p:txBody>
      </p:sp>
      <p:sp>
        <p:nvSpPr>
          <p:cNvPr id="3" name="Text 1"/>
          <p:cNvSpPr txBox="1"/>
          <p:nvPr/>
        </p:nvSpPr>
        <p:spPr>
          <a:xfrm>
            <a:off x="548640" y="411480"/>
            <a:ext cx="11094415" cy="914400"/>
          </a:xfrm>
          <a:prstGeom prst="rect">
            <a:avLst/>
          </a:prstGeom>
          <a:noFill/>
          <a:ln/>
        </p:spPr>
        <p:txBody>
          <a:bodyPr wrap="square" lIns="0" tIns="0" rIns="0" bIns="0" rtlCol="0" anchor="t"/>
          <a:lstStyle/>
          <a:p>
            <a:pPr indent="0" marL="0">
              <a:buNone/>
            </a:pPr>
            <a:r>
              <a:rPr lang="en-US" sz="3400" b="1" dirty="0">
                <a:solidFill>
                  <a:srgbClr val="1B2229"/>
                </a:solidFill>
                <a:latin typeface="Calibri" pitchFamily="34" charset="0"/>
                <a:ea typeface="Calibri" pitchFamily="34" charset="-122"/>
                <a:cs typeface="Calibri" pitchFamily="34" charset="-120"/>
              </a:rPr>
              <a:t>Use an established framework rather than inventing one</a:t>
            </a:r>
            <a:endParaRPr lang="en-US" sz="3400" dirty="0"/>
          </a:p>
        </p:txBody>
      </p:sp>
      <p:sp>
        <p:nvSpPr>
          <p:cNvPr id="4" name="Text 2"/>
          <p:cNvSpPr txBox="1"/>
          <p:nvPr/>
        </p:nvSpPr>
        <p:spPr>
          <a:xfrm>
            <a:off x="548640" y="1554480"/>
            <a:ext cx="7315200" cy="411480"/>
          </a:xfrm>
          <a:prstGeom prst="rect">
            <a:avLst/>
          </a:prstGeom>
          <a:noFill/>
          <a:ln/>
        </p:spPr>
        <p:txBody>
          <a:bodyPr wrap="square" lIns="0" tIns="0" rIns="0" bIns="0" rtlCol="0" anchor="ctr"/>
          <a:lstStyle/>
          <a:p>
            <a:pPr indent="0" marL="0">
              <a:buNone/>
            </a:pPr>
            <a:r>
              <a:rPr lang="en-US" sz="1800" b="1" dirty="0">
                <a:solidFill>
                  <a:srgbClr val="1B2229"/>
                </a:solidFill>
                <a:latin typeface="Calibri" pitchFamily="34" charset="0"/>
                <a:ea typeface="Calibri" pitchFamily="34" charset="-122"/>
                <a:cs typeface="Calibri" pitchFamily="34" charset="-120"/>
              </a:rPr>
              <a:t>NIST AI Risk Management Framework: four functions</a:t>
            </a:r>
            <a:endParaRPr lang="en-US" sz="1800" dirty="0"/>
          </a:p>
        </p:txBody>
      </p:sp>
      <p:sp>
        <p:nvSpPr>
          <p:cNvPr id="5" name="Shape 3"/>
          <p:cNvSpPr/>
          <p:nvPr/>
        </p:nvSpPr>
        <p:spPr>
          <a:xfrm>
            <a:off x="548640" y="2148840"/>
            <a:ext cx="1691640" cy="2926080"/>
          </a:xfrm>
          <a:prstGeom prst="rect">
            <a:avLst/>
          </a:prstGeom>
          <a:solidFill>
            <a:srgbClr val="F6E6DA"/>
          </a:solidFill>
          <a:ln w="12700">
            <a:solidFill>
              <a:srgbClr val="F6E6DA"/>
            </a:solidFill>
            <a:prstDash val="solid"/>
          </a:ln>
        </p:spPr>
      </p:sp>
      <p:sp>
        <p:nvSpPr>
          <p:cNvPr id="6" name="Shape 4"/>
          <p:cNvSpPr/>
          <p:nvPr/>
        </p:nvSpPr>
        <p:spPr>
          <a:xfrm>
            <a:off x="731520" y="2377440"/>
            <a:ext cx="566928" cy="566928"/>
          </a:xfrm>
          <a:prstGeom prst="roundRect">
            <a:avLst>
              <a:gd name="adj" fmla="val 12903"/>
            </a:avLst>
          </a:prstGeom>
          <a:solidFill>
            <a:srgbClr val="C46A2B"/>
          </a:solidFill>
          <a:ln w="12700">
            <a:solidFill>
              <a:srgbClr val="C46A2B"/>
            </a:solidFill>
            <a:prstDash val="solid"/>
          </a:ln>
        </p:spPr>
      </p:sp>
      <p:pic>
        <p:nvPicPr>
          <p:cNvPr id="7" name="Image 0" descr="preencoded.png">    </p:cNvPr>
          <p:cNvPicPr>
            <a:picLocks noChangeAspect="1"/>
          </p:cNvPicPr>
          <p:nvPr/>
        </p:nvPicPr>
        <p:blipFill>
          <a:blip r:embed="rId1"/>
          <a:stretch>
            <a:fillRect/>
          </a:stretch>
        </p:blipFill>
        <p:spPr>
          <a:xfrm>
            <a:off x="856244" y="2502164"/>
            <a:ext cx="317480" cy="317480"/>
          </a:xfrm>
          <a:prstGeom prst="rect">
            <a:avLst/>
          </a:prstGeom>
        </p:spPr>
      </p:pic>
      <p:sp>
        <p:nvSpPr>
          <p:cNvPr id="8" name="Text 5"/>
          <p:cNvSpPr txBox="1"/>
          <p:nvPr/>
        </p:nvSpPr>
        <p:spPr>
          <a:xfrm>
            <a:off x="731520" y="3063240"/>
            <a:ext cx="1371600" cy="411480"/>
          </a:xfrm>
          <a:prstGeom prst="rect">
            <a:avLst/>
          </a:prstGeom>
          <a:noFill/>
          <a:ln/>
        </p:spPr>
        <p:txBody>
          <a:bodyPr wrap="square" lIns="0" tIns="0" rIns="0" bIns="0" rtlCol="0" anchor="ctr"/>
          <a:lstStyle/>
          <a:p>
            <a:pPr indent="0" marL="0">
              <a:buNone/>
            </a:pPr>
            <a:r>
              <a:rPr lang="en-US" sz="1800" b="1" dirty="0">
                <a:solidFill>
                  <a:srgbClr val="1B2229"/>
                </a:solidFill>
                <a:latin typeface="Calibri" pitchFamily="34" charset="0"/>
                <a:ea typeface="Calibri" pitchFamily="34" charset="-122"/>
                <a:cs typeface="Calibri" pitchFamily="34" charset="-120"/>
              </a:rPr>
              <a:t>Govern</a:t>
            </a:r>
            <a:endParaRPr lang="en-US" sz="1800" dirty="0"/>
          </a:p>
        </p:txBody>
      </p:sp>
      <p:sp>
        <p:nvSpPr>
          <p:cNvPr id="9" name="Text 6"/>
          <p:cNvSpPr txBox="1"/>
          <p:nvPr/>
        </p:nvSpPr>
        <p:spPr>
          <a:xfrm>
            <a:off x="731520" y="3520440"/>
            <a:ext cx="1371600" cy="1463040"/>
          </a:xfrm>
          <a:prstGeom prst="rect">
            <a:avLst/>
          </a:prstGeom>
          <a:noFill/>
          <a:ln/>
        </p:spPr>
        <p:txBody>
          <a:bodyPr wrap="square" lIns="0" tIns="0" rIns="0" bIns="0" rtlCol="0" anchor="t"/>
          <a:lstStyle/>
          <a:p>
            <a:pPr indent="0" marL="0">
              <a:buNone/>
            </a:pPr>
            <a:r>
              <a:rPr lang="en-US" sz="1300" dirty="0">
                <a:solidFill>
                  <a:srgbClr val="5A6672"/>
                </a:solidFill>
                <a:latin typeface="Calibri" pitchFamily="34" charset="0"/>
                <a:ea typeface="Calibri" pitchFamily="34" charset="-122"/>
                <a:cs typeface="Calibri" pitchFamily="34" charset="-120"/>
              </a:rPr>
              <a:t>Policies, roles, and accountability across the AI lifecycle</a:t>
            </a:r>
            <a:endParaRPr lang="en-US" sz="1300" dirty="0"/>
          </a:p>
        </p:txBody>
      </p:sp>
      <p:sp>
        <p:nvSpPr>
          <p:cNvPr id="10" name="Shape 7"/>
          <p:cNvSpPr/>
          <p:nvPr/>
        </p:nvSpPr>
        <p:spPr>
          <a:xfrm>
            <a:off x="2423160" y="2148840"/>
            <a:ext cx="1691640" cy="2926080"/>
          </a:xfrm>
          <a:prstGeom prst="rect">
            <a:avLst/>
          </a:prstGeom>
          <a:solidFill>
            <a:srgbClr val="EEF1F4"/>
          </a:solidFill>
          <a:ln w="12700">
            <a:solidFill>
              <a:srgbClr val="EEF1F4"/>
            </a:solidFill>
            <a:prstDash val="solid"/>
          </a:ln>
        </p:spPr>
      </p:sp>
      <p:sp>
        <p:nvSpPr>
          <p:cNvPr id="11" name="Shape 8"/>
          <p:cNvSpPr/>
          <p:nvPr/>
        </p:nvSpPr>
        <p:spPr>
          <a:xfrm>
            <a:off x="2606040" y="2377440"/>
            <a:ext cx="566928" cy="566928"/>
          </a:xfrm>
          <a:prstGeom prst="roundRect">
            <a:avLst>
              <a:gd name="adj" fmla="val 12903"/>
            </a:avLst>
          </a:prstGeom>
          <a:solidFill>
            <a:srgbClr val="1B2229"/>
          </a:solidFill>
          <a:ln w="12700">
            <a:solidFill>
              <a:srgbClr val="1B2229"/>
            </a:solidFill>
            <a:prstDash val="solid"/>
          </a:ln>
        </p:spPr>
      </p:sp>
      <p:pic>
        <p:nvPicPr>
          <p:cNvPr id="12" name="Image 1" descr="preencoded.png">    </p:cNvPr>
          <p:cNvPicPr>
            <a:picLocks noChangeAspect="1"/>
          </p:cNvPicPr>
          <p:nvPr/>
        </p:nvPicPr>
        <p:blipFill>
          <a:blip r:embed="rId2"/>
          <a:stretch>
            <a:fillRect/>
          </a:stretch>
        </p:blipFill>
        <p:spPr>
          <a:xfrm>
            <a:off x="2730764" y="2502164"/>
            <a:ext cx="317480" cy="317480"/>
          </a:xfrm>
          <a:prstGeom prst="rect">
            <a:avLst/>
          </a:prstGeom>
        </p:spPr>
      </p:pic>
      <p:sp>
        <p:nvSpPr>
          <p:cNvPr id="13" name="Text 9"/>
          <p:cNvSpPr txBox="1"/>
          <p:nvPr/>
        </p:nvSpPr>
        <p:spPr>
          <a:xfrm>
            <a:off x="2606040" y="3063240"/>
            <a:ext cx="1371600" cy="411480"/>
          </a:xfrm>
          <a:prstGeom prst="rect">
            <a:avLst/>
          </a:prstGeom>
          <a:noFill/>
          <a:ln/>
        </p:spPr>
        <p:txBody>
          <a:bodyPr wrap="square" lIns="0" tIns="0" rIns="0" bIns="0" rtlCol="0" anchor="ctr"/>
          <a:lstStyle/>
          <a:p>
            <a:pPr indent="0" marL="0">
              <a:buNone/>
            </a:pPr>
            <a:r>
              <a:rPr lang="en-US" sz="1800" b="1" dirty="0">
                <a:solidFill>
                  <a:srgbClr val="1B2229"/>
                </a:solidFill>
                <a:latin typeface="Calibri" pitchFamily="34" charset="0"/>
                <a:ea typeface="Calibri" pitchFamily="34" charset="-122"/>
                <a:cs typeface="Calibri" pitchFamily="34" charset="-120"/>
              </a:rPr>
              <a:t>Map</a:t>
            </a:r>
            <a:endParaRPr lang="en-US" sz="1800" dirty="0"/>
          </a:p>
        </p:txBody>
      </p:sp>
      <p:sp>
        <p:nvSpPr>
          <p:cNvPr id="14" name="Text 10"/>
          <p:cNvSpPr txBox="1"/>
          <p:nvPr/>
        </p:nvSpPr>
        <p:spPr>
          <a:xfrm>
            <a:off x="2606040" y="3520440"/>
            <a:ext cx="1371600" cy="1463040"/>
          </a:xfrm>
          <a:prstGeom prst="rect">
            <a:avLst/>
          </a:prstGeom>
          <a:noFill/>
          <a:ln/>
        </p:spPr>
        <p:txBody>
          <a:bodyPr wrap="square" lIns="0" tIns="0" rIns="0" bIns="0" rtlCol="0" anchor="t"/>
          <a:lstStyle/>
          <a:p>
            <a:pPr indent="0" marL="0">
              <a:buNone/>
            </a:pPr>
            <a:r>
              <a:rPr lang="en-US" sz="1300" dirty="0">
                <a:solidFill>
                  <a:srgbClr val="5A6672"/>
                </a:solidFill>
                <a:latin typeface="Calibri" pitchFamily="34" charset="0"/>
                <a:ea typeface="Calibri" pitchFamily="34" charset="-122"/>
                <a:cs typeface="Calibri" pitchFamily="34" charset="-120"/>
              </a:rPr>
              <a:t>Context: where the model is used and what it could affect</a:t>
            </a:r>
            <a:endParaRPr lang="en-US" sz="1300" dirty="0"/>
          </a:p>
        </p:txBody>
      </p:sp>
      <p:sp>
        <p:nvSpPr>
          <p:cNvPr id="15" name="Shape 11"/>
          <p:cNvSpPr/>
          <p:nvPr/>
        </p:nvSpPr>
        <p:spPr>
          <a:xfrm>
            <a:off x="4297680" y="2148840"/>
            <a:ext cx="1691640" cy="2926080"/>
          </a:xfrm>
          <a:prstGeom prst="rect">
            <a:avLst/>
          </a:prstGeom>
          <a:solidFill>
            <a:srgbClr val="EEF1F4"/>
          </a:solidFill>
          <a:ln w="12700">
            <a:solidFill>
              <a:srgbClr val="EEF1F4"/>
            </a:solidFill>
            <a:prstDash val="solid"/>
          </a:ln>
        </p:spPr>
      </p:sp>
      <p:sp>
        <p:nvSpPr>
          <p:cNvPr id="16" name="Shape 12"/>
          <p:cNvSpPr/>
          <p:nvPr/>
        </p:nvSpPr>
        <p:spPr>
          <a:xfrm>
            <a:off x="4480560" y="2377440"/>
            <a:ext cx="566928" cy="566928"/>
          </a:xfrm>
          <a:prstGeom prst="roundRect">
            <a:avLst>
              <a:gd name="adj" fmla="val 12903"/>
            </a:avLst>
          </a:prstGeom>
          <a:solidFill>
            <a:srgbClr val="1B2229"/>
          </a:solidFill>
          <a:ln w="12700">
            <a:solidFill>
              <a:srgbClr val="1B2229"/>
            </a:solidFill>
            <a:prstDash val="solid"/>
          </a:ln>
        </p:spPr>
      </p:sp>
      <p:pic>
        <p:nvPicPr>
          <p:cNvPr id="17" name="Image 2" descr="preencoded.png">    </p:cNvPr>
          <p:cNvPicPr>
            <a:picLocks noChangeAspect="1"/>
          </p:cNvPicPr>
          <p:nvPr/>
        </p:nvPicPr>
        <p:blipFill>
          <a:blip r:embed="rId3"/>
          <a:stretch>
            <a:fillRect/>
          </a:stretch>
        </p:blipFill>
        <p:spPr>
          <a:xfrm>
            <a:off x="4605284" y="2502164"/>
            <a:ext cx="317480" cy="317480"/>
          </a:xfrm>
          <a:prstGeom prst="rect">
            <a:avLst/>
          </a:prstGeom>
        </p:spPr>
      </p:pic>
      <p:sp>
        <p:nvSpPr>
          <p:cNvPr id="18" name="Text 13"/>
          <p:cNvSpPr txBox="1"/>
          <p:nvPr/>
        </p:nvSpPr>
        <p:spPr>
          <a:xfrm>
            <a:off x="4480560" y="3063240"/>
            <a:ext cx="1371600" cy="411480"/>
          </a:xfrm>
          <a:prstGeom prst="rect">
            <a:avLst/>
          </a:prstGeom>
          <a:noFill/>
          <a:ln/>
        </p:spPr>
        <p:txBody>
          <a:bodyPr wrap="square" lIns="0" tIns="0" rIns="0" bIns="0" rtlCol="0" anchor="ctr"/>
          <a:lstStyle/>
          <a:p>
            <a:pPr indent="0" marL="0">
              <a:buNone/>
            </a:pPr>
            <a:r>
              <a:rPr lang="en-US" sz="1800" b="1" dirty="0">
                <a:solidFill>
                  <a:srgbClr val="1B2229"/>
                </a:solidFill>
                <a:latin typeface="Calibri" pitchFamily="34" charset="0"/>
                <a:ea typeface="Calibri" pitchFamily="34" charset="-122"/>
                <a:cs typeface="Calibri" pitchFamily="34" charset="-120"/>
              </a:rPr>
              <a:t>Measure</a:t>
            </a:r>
            <a:endParaRPr lang="en-US" sz="1800" dirty="0"/>
          </a:p>
        </p:txBody>
      </p:sp>
      <p:sp>
        <p:nvSpPr>
          <p:cNvPr id="19" name="Text 14"/>
          <p:cNvSpPr txBox="1"/>
          <p:nvPr/>
        </p:nvSpPr>
        <p:spPr>
          <a:xfrm>
            <a:off x="4480560" y="3520440"/>
            <a:ext cx="1371600" cy="1463040"/>
          </a:xfrm>
          <a:prstGeom prst="rect">
            <a:avLst/>
          </a:prstGeom>
          <a:noFill/>
          <a:ln/>
        </p:spPr>
        <p:txBody>
          <a:bodyPr wrap="square" lIns="0" tIns="0" rIns="0" bIns="0" rtlCol="0" anchor="t"/>
          <a:lstStyle/>
          <a:p>
            <a:pPr indent="0" marL="0">
              <a:buNone/>
            </a:pPr>
            <a:r>
              <a:rPr lang="en-US" sz="1300" dirty="0">
                <a:solidFill>
                  <a:srgbClr val="5A6672"/>
                </a:solidFill>
                <a:latin typeface="Calibri" pitchFamily="34" charset="0"/>
                <a:ea typeface="Calibri" pitchFamily="34" charset="-122"/>
                <a:cs typeface="Calibri" pitchFamily="34" charset="-120"/>
              </a:rPr>
              <a:t>Test, evaluate, and track the risks you mapped</a:t>
            </a:r>
            <a:endParaRPr lang="en-US" sz="1300" dirty="0"/>
          </a:p>
        </p:txBody>
      </p:sp>
      <p:sp>
        <p:nvSpPr>
          <p:cNvPr id="20" name="Shape 15"/>
          <p:cNvSpPr/>
          <p:nvPr/>
        </p:nvSpPr>
        <p:spPr>
          <a:xfrm>
            <a:off x="6172200" y="2148840"/>
            <a:ext cx="1691640" cy="2926080"/>
          </a:xfrm>
          <a:prstGeom prst="rect">
            <a:avLst/>
          </a:prstGeom>
          <a:solidFill>
            <a:srgbClr val="EEF1F4"/>
          </a:solidFill>
          <a:ln w="12700">
            <a:solidFill>
              <a:srgbClr val="EEF1F4"/>
            </a:solidFill>
            <a:prstDash val="solid"/>
          </a:ln>
        </p:spPr>
      </p:sp>
      <p:sp>
        <p:nvSpPr>
          <p:cNvPr id="21" name="Shape 16"/>
          <p:cNvSpPr/>
          <p:nvPr/>
        </p:nvSpPr>
        <p:spPr>
          <a:xfrm>
            <a:off x="6355080" y="2377440"/>
            <a:ext cx="566928" cy="566928"/>
          </a:xfrm>
          <a:prstGeom prst="roundRect">
            <a:avLst>
              <a:gd name="adj" fmla="val 12903"/>
            </a:avLst>
          </a:prstGeom>
          <a:solidFill>
            <a:srgbClr val="1B2229"/>
          </a:solidFill>
          <a:ln w="12700">
            <a:solidFill>
              <a:srgbClr val="1B2229"/>
            </a:solidFill>
            <a:prstDash val="solid"/>
          </a:ln>
        </p:spPr>
      </p:sp>
      <p:pic>
        <p:nvPicPr>
          <p:cNvPr id="22" name="Image 3" descr="preencoded.png">    </p:cNvPr>
          <p:cNvPicPr>
            <a:picLocks noChangeAspect="1"/>
          </p:cNvPicPr>
          <p:nvPr/>
        </p:nvPicPr>
        <p:blipFill>
          <a:blip r:embed="rId4"/>
          <a:stretch>
            <a:fillRect/>
          </a:stretch>
        </p:blipFill>
        <p:spPr>
          <a:xfrm>
            <a:off x="6479804" y="2502164"/>
            <a:ext cx="317480" cy="317480"/>
          </a:xfrm>
          <a:prstGeom prst="rect">
            <a:avLst/>
          </a:prstGeom>
        </p:spPr>
      </p:pic>
      <p:sp>
        <p:nvSpPr>
          <p:cNvPr id="23" name="Text 17"/>
          <p:cNvSpPr txBox="1"/>
          <p:nvPr/>
        </p:nvSpPr>
        <p:spPr>
          <a:xfrm>
            <a:off x="6355080" y="3063240"/>
            <a:ext cx="1371600" cy="411480"/>
          </a:xfrm>
          <a:prstGeom prst="rect">
            <a:avLst/>
          </a:prstGeom>
          <a:noFill/>
          <a:ln/>
        </p:spPr>
        <p:txBody>
          <a:bodyPr wrap="square" lIns="0" tIns="0" rIns="0" bIns="0" rtlCol="0" anchor="ctr"/>
          <a:lstStyle/>
          <a:p>
            <a:pPr indent="0" marL="0">
              <a:buNone/>
            </a:pPr>
            <a:r>
              <a:rPr lang="en-US" sz="1800" b="1" dirty="0">
                <a:solidFill>
                  <a:srgbClr val="1B2229"/>
                </a:solidFill>
                <a:latin typeface="Calibri" pitchFamily="34" charset="0"/>
                <a:ea typeface="Calibri" pitchFamily="34" charset="-122"/>
                <a:cs typeface="Calibri" pitchFamily="34" charset="-120"/>
              </a:rPr>
              <a:t>Manage</a:t>
            </a:r>
            <a:endParaRPr lang="en-US" sz="1800" dirty="0"/>
          </a:p>
        </p:txBody>
      </p:sp>
      <p:sp>
        <p:nvSpPr>
          <p:cNvPr id="24" name="Text 18"/>
          <p:cNvSpPr txBox="1"/>
          <p:nvPr/>
        </p:nvSpPr>
        <p:spPr>
          <a:xfrm>
            <a:off x="6355080" y="3520440"/>
            <a:ext cx="1371600" cy="1463040"/>
          </a:xfrm>
          <a:prstGeom prst="rect">
            <a:avLst/>
          </a:prstGeom>
          <a:noFill/>
          <a:ln/>
        </p:spPr>
        <p:txBody>
          <a:bodyPr wrap="square" lIns="0" tIns="0" rIns="0" bIns="0" rtlCol="0" anchor="t"/>
          <a:lstStyle/>
          <a:p>
            <a:pPr indent="0" marL="0">
              <a:buNone/>
            </a:pPr>
            <a:r>
              <a:rPr lang="en-US" sz="1300" dirty="0">
                <a:solidFill>
                  <a:srgbClr val="5A6672"/>
                </a:solidFill>
                <a:latin typeface="Calibri" pitchFamily="34" charset="0"/>
                <a:ea typeface="Calibri" pitchFamily="34" charset="-122"/>
                <a:cs typeface="Calibri" pitchFamily="34" charset="-120"/>
              </a:rPr>
              <a:t>Prioritize and act on those risks, and keep monitoring</a:t>
            </a:r>
            <a:endParaRPr lang="en-US" sz="1300" dirty="0"/>
          </a:p>
        </p:txBody>
      </p:sp>
      <p:sp>
        <p:nvSpPr>
          <p:cNvPr id="25" name="Shape 19"/>
          <p:cNvSpPr/>
          <p:nvPr/>
        </p:nvSpPr>
        <p:spPr>
          <a:xfrm>
            <a:off x="8229600" y="1554480"/>
            <a:ext cx="3413455" cy="3520440"/>
          </a:xfrm>
          <a:prstGeom prst="rect">
            <a:avLst/>
          </a:prstGeom>
          <a:solidFill>
            <a:srgbClr val="1B2229"/>
          </a:solidFill>
          <a:ln w="12700">
            <a:solidFill>
              <a:srgbClr val="1B2229"/>
            </a:solidFill>
            <a:prstDash val="solid"/>
          </a:ln>
        </p:spPr>
      </p:sp>
      <p:sp>
        <p:nvSpPr>
          <p:cNvPr id="26" name="Shape 20"/>
          <p:cNvSpPr/>
          <p:nvPr/>
        </p:nvSpPr>
        <p:spPr>
          <a:xfrm>
            <a:off x="8503920" y="1783080"/>
            <a:ext cx="566928" cy="566928"/>
          </a:xfrm>
          <a:prstGeom prst="roundRect">
            <a:avLst>
              <a:gd name="adj" fmla="val 12903"/>
            </a:avLst>
          </a:prstGeom>
          <a:solidFill>
            <a:srgbClr val="C46A2B"/>
          </a:solidFill>
          <a:ln w="12700">
            <a:solidFill>
              <a:srgbClr val="C46A2B"/>
            </a:solidFill>
            <a:prstDash val="solid"/>
          </a:ln>
        </p:spPr>
      </p:sp>
      <p:pic>
        <p:nvPicPr>
          <p:cNvPr id="27" name="Image 4" descr="preencoded.png">    </p:cNvPr>
          <p:cNvPicPr>
            <a:picLocks noChangeAspect="1"/>
          </p:cNvPicPr>
          <p:nvPr/>
        </p:nvPicPr>
        <p:blipFill>
          <a:blip r:embed="rId5"/>
          <a:stretch>
            <a:fillRect/>
          </a:stretch>
        </p:blipFill>
        <p:spPr>
          <a:xfrm>
            <a:off x="8628644" y="1907804"/>
            <a:ext cx="317480" cy="317480"/>
          </a:xfrm>
          <a:prstGeom prst="rect">
            <a:avLst/>
          </a:prstGeom>
        </p:spPr>
      </p:pic>
      <p:sp>
        <p:nvSpPr>
          <p:cNvPr id="28" name="Text 21"/>
          <p:cNvSpPr txBox="1"/>
          <p:nvPr/>
        </p:nvSpPr>
        <p:spPr>
          <a:xfrm>
            <a:off x="8503920" y="2514600"/>
            <a:ext cx="2864815" cy="411480"/>
          </a:xfrm>
          <a:prstGeom prst="rect">
            <a:avLst/>
          </a:prstGeom>
          <a:noFill/>
          <a:ln/>
        </p:spPr>
        <p:txBody>
          <a:bodyPr wrap="square" lIns="0" tIns="0" rIns="0" bIns="0"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ISO/IEC 42001</a:t>
            </a:r>
            <a:endParaRPr lang="en-US" sz="2000" dirty="0"/>
          </a:p>
        </p:txBody>
      </p:sp>
      <p:sp>
        <p:nvSpPr>
          <p:cNvPr id="29" name="Text 22"/>
          <p:cNvSpPr txBox="1"/>
          <p:nvPr/>
        </p:nvSpPr>
        <p:spPr>
          <a:xfrm>
            <a:off x="8503920" y="2971800"/>
            <a:ext cx="2864815" cy="1920240"/>
          </a:xfrm>
          <a:prstGeom prst="rect">
            <a:avLst/>
          </a:prstGeom>
          <a:noFill/>
          <a:ln/>
        </p:spPr>
        <p:txBody>
          <a:bodyPr wrap="square" lIns="0" tIns="0" rIns="0" bIns="0" rtlCol="0" anchor="t"/>
          <a:lstStyle/>
          <a:p>
            <a:pPr indent="0" marL="0">
              <a:buNone/>
            </a:pPr>
            <a:r>
              <a:rPr lang="en-US" sz="1400" dirty="0">
                <a:solidFill>
                  <a:srgbClr val="D5DBE1"/>
                </a:solidFill>
                <a:latin typeface="Calibri" pitchFamily="34" charset="0"/>
                <a:ea typeface="Calibri" pitchFamily="34" charset="-122"/>
                <a:cs typeface="Calibri" pitchFamily="34" charset="-120"/>
              </a:rPr>
              <a:t>A certifiable AI management system standard. Useful when customers or regulators ask for proof, not just a policy.</a:t>
            </a:r>
            <a:endParaRPr lang="en-US" sz="1400" dirty="0"/>
          </a:p>
        </p:txBody>
      </p:sp>
      <p:sp>
        <p:nvSpPr>
          <p:cNvPr id="30" name="Text 23"/>
          <p:cNvSpPr txBox="1"/>
          <p:nvPr/>
        </p:nvSpPr>
        <p:spPr>
          <a:xfrm>
            <a:off x="548640" y="5349240"/>
            <a:ext cx="11094415" cy="640080"/>
          </a:xfrm>
          <a:prstGeom prst="rect">
            <a:avLst/>
          </a:prstGeom>
          <a:noFill/>
          <a:ln/>
        </p:spPr>
        <p:txBody>
          <a:bodyPr wrap="square" lIns="0" tIns="0" rIns="0" bIns="0" rtlCol="0" anchor="ctr"/>
          <a:lstStyle/>
          <a:p>
            <a:pPr indent="0" marL="0">
              <a:buNone/>
            </a:pPr>
            <a:r>
              <a:rPr lang="en-US" sz="1600" i="1" dirty="0">
                <a:solidFill>
                  <a:srgbClr val="C46A2B"/>
                </a:solidFill>
                <a:latin typeface="Calibri" pitchFamily="34" charset="0"/>
                <a:ea typeface="Calibri" pitchFamily="34" charset="-122"/>
                <a:cs typeface="Calibri" pitchFamily="34" charset="-120"/>
              </a:rPr>
              <a:t>Common pattern: design the practice with NIST, certify it with ISO. Pick one and apply it to a real use case first.</a:t>
            </a:r>
            <a:endParaRPr lang="en-US" sz="1600" dirty="0"/>
          </a:p>
        </p:txBody>
      </p:sp>
      <p:sp>
        <p:nvSpPr>
          <p:cNvPr id="31" name="Text 24"/>
          <p:cNvSpPr txBox="1"/>
          <p:nvPr/>
        </p:nvSpPr>
        <p:spPr>
          <a:xfrm>
            <a:off x="8899855" y="6446520"/>
            <a:ext cx="2743200" cy="228600"/>
          </a:xfrm>
          <a:prstGeom prst="rect">
            <a:avLst/>
          </a:prstGeom>
          <a:noFill/>
          <a:ln/>
        </p:spPr>
        <p:txBody>
          <a:bodyPr wrap="square" lIns="0" tIns="0" rIns="0" bIns="0" rtlCol="0" anchor="ctr"/>
          <a:lstStyle/>
          <a:p>
            <a:pPr algn="r" indent="0" marL="0">
              <a:buNone/>
            </a:pPr>
            <a:r>
              <a:rPr lang="en-US" sz="900" dirty="0">
                <a:solidFill>
                  <a:srgbClr val="8A96A3"/>
                </a:solidFill>
                <a:latin typeface="Calibri" pitchFamily="34" charset="0"/>
                <a:ea typeface="Calibri" pitchFamily="34" charset="-122"/>
                <a:cs typeface="Calibri" pitchFamily="34" charset="-120"/>
              </a:rPr>
              <a:t>SEMICON West  |  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182880"/>
            <a:ext cx="7315200" cy="274320"/>
          </a:xfrm>
          <a:prstGeom prst="rect">
            <a:avLst/>
          </a:prstGeom>
          <a:noFill/>
          <a:ln/>
        </p:spPr>
        <p:txBody>
          <a:bodyPr wrap="square" lIns="0" tIns="0" rIns="0" bIns="0" rtlCol="0" anchor="ctr"/>
          <a:lstStyle/>
          <a:p>
            <a:pPr indent="0" marL="0">
              <a:buNone/>
            </a:pPr>
            <a:r>
              <a:rPr lang="en-US" sz="1100" b="1" spc="200" kern="0" dirty="0">
                <a:solidFill>
                  <a:srgbClr val="C46A2B"/>
                </a:solidFill>
                <a:latin typeface="Calibri" pitchFamily="34" charset="0"/>
                <a:ea typeface="Calibri" pitchFamily="34" charset="-122"/>
                <a:cs typeface="Calibri" pitchFamily="34" charset="-120"/>
              </a:rPr>
              <a:t>EXAMPLE  |  ILLUSTRATIVE, REPLACE WITH YOUR CASE</a:t>
            </a:r>
            <a:endParaRPr lang="en-US" sz="1100" dirty="0"/>
          </a:p>
        </p:txBody>
      </p:sp>
      <p:sp>
        <p:nvSpPr>
          <p:cNvPr id="3" name="Text 1"/>
          <p:cNvSpPr txBox="1"/>
          <p:nvPr/>
        </p:nvSpPr>
        <p:spPr>
          <a:xfrm>
            <a:off x="548640" y="411480"/>
            <a:ext cx="11094415" cy="914400"/>
          </a:xfrm>
          <a:prstGeom prst="rect">
            <a:avLst/>
          </a:prstGeom>
          <a:noFill/>
          <a:ln/>
        </p:spPr>
        <p:txBody>
          <a:bodyPr wrap="square" lIns="0" tIns="0" rIns="0" bIns="0" rtlCol="0" anchor="t"/>
          <a:lstStyle/>
          <a:p>
            <a:pPr indent="0" marL="0">
              <a:buNone/>
            </a:pPr>
            <a:r>
              <a:rPr lang="en-US" sz="3400" b="1" dirty="0">
                <a:solidFill>
                  <a:srgbClr val="1B2229"/>
                </a:solidFill>
                <a:latin typeface="Calibri" pitchFamily="34" charset="0"/>
                <a:ea typeface="Calibri" pitchFamily="34" charset="-122"/>
                <a:cs typeface="Calibri" pitchFamily="34" charset="-120"/>
              </a:rPr>
              <a:t>Governed data turns a scramble into a same-day decision</a:t>
            </a:r>
            <a:endParaRPr lang="en-US" sz="3400" dirty="0"/>
          </a:p>
        </p:txBody>
      </p:sp>
      <p:sp>
        <p:nvSpPr>
          <p:cNvPr id="4" name="Shape 2"/>
          <p:cNvSpPr/>
          <p:nvPr/>
        </p:nvSpPr>
        <p:spPr>
          <a:xfrm>
            <a:off x="548640" y="1783080"/>
            <a:ext cx="2606040" cy="3017520"/>
          </a:xfrm>
          <a:prstGeom prst="rect">
            <a:avLst/>
          </a:prstGeom>
          <a:solidFill>
            <a:srgbClr val="EEF1F4"/>
          </a:solidFill>
          <a:ln w="12700">
            <a:solidFill>
              <a:srgbClr val="EEF1F4"/>
            </a:solidFill>
            <a:prstDash val="solid"/>
          </a:ln>
          <a:effectLst>
            <a:outerShdw sx="100000" sy="100000" kx="0" ky="0" algn="bl" rotWithShape="0" blurRad="76200" dist="19050" dir="5400000">
              <a:srgbClr val="000000">
                <a:alpha val="12000"/>
              </a:srgbClr>
            </a:outerShdw>
          </a:effectLst>
        </p:spPr>
      </p:sp>
      <p:sp>
        <p:nvSpPr>
          <p:cNvPr id="5" name="Shape 3"/>
          <p:cNvSpPr/>
          <p:nvPr/>
        </p:nvSpPr>
        <p:spPr>
          <a:xfrm>
            <a:off x="822960" y="2057400"/>
            <a:ext cx="640080" cy="640080"/>
          </a:xfrm>
          <a:prstGeom prst="roundRect">
            <a:avLst>
              <a:gd name="adj" fmla="val 11429"/>
            </a:avLst>
          </a:prstGeom>
          <a:solidFill>
            <a:srgbClr val="1B2229"/>
          </a:solidFill>
          <a:ln w="12700">
            <a:solidFill>
              <a:srgbClr val="1B2229"/>
            </a:solidFill>
            <a:prstDash val="solid"/>
          </a:ln>
        </p:spPr>
      </p:sp>
      <p:pic>
        <p:nvPicPr>
          <p:cNvPr id="6" name="Image 0" descr="preencoded.png">    </p:cNvPr>
          <p:cNvPicPr>
            <a:picLocks noChangeAspect="1"/>
          </p:cNvPicPr>
          <p:nvPr/>
        </p:nvPicPr>
        <p:blipFill>
          <a:blip r:embed="rId1"/>
          <a:stretch>
            <a:fillRect/>
          </a:stretch>
        </p:blipFill>
        <p:spPr>
          <a:xfrm>
            <a:off x="963778" y="2198218"/>
            <a:ext cx="358445" cy="358445"/>
          </a:xfrm>
          <a:prstGeom prst="rect">
            <a:avLst/>
          </a:prstGeom>
        </p:spPr>
      </p:pic>
      <p:sp>
        <p:nvSpPr>
          <p:cNvPr id="7" name="Text 4"/>
          <p:cNvSpPr txBox="1"/>
          <p:nvPr/>
        </p:nvSpPr>
        <p:spPr>
          <a:xfrm>
            <a:off x="1600200" y="2057400"/>
            <a:ext cx="1371600" cy="274320"/>
          </a:xfrm>
          <a:prstGeom prst="rect">
            <a:avLst/>
          </a:prstGeom>
          <a:noFill/>
          <a:ln/>
        </p:spPr>
        <p:txBody>
          <a:bodyPr wrap="square" lIns="0" tIns="0" rIns="0" bIns="0" rtlCol="0" anchor="ctr"/>
          <a:lstStyle/>
          <a:p>
            <a:pPr indent="0" marL="0">
              <a:buNone/>
            </a:pPr>
            <a:r>
              <a:rPr lang="en-US" sz="1200" b="1" dirty="0">
                <a:solidFill>
                  <a:srgbClr val="8A96A3"/>
                </a:solidFill>
                <a:latin typeface="Calibri" pitchFamily="34" charset="0"/>
                <a:ea typeface="Calibri" pitchFamily="34" charset="-122"/>
                <a:cs typeface="Calibri" pitchFamily="34" charset="-120"/>
              </a:rPr>
              <a:t>Step 1</a:t>
            </a:r>
            <a:endParaRPr lang="en-US" sz="1200" dirty="0"/>
          </a:p>
        </p:txBody>
      </p:sp>
      <p:sp>
        <p:nvSpPr>
          <p:cNvPr id="8" name="Text 5"/>
          <p:cNvSpPr txBox="1"/>
          <p:nvPr/>
        </p:nvSpPr>
        <p:spPr>
          <a:xfrm>
            <a:off x="1600200" y="2313432"/>
            <a:ext cx="1463040" cy="411480"/>
          </a:xfrm>
          <a:prstGeom prst="rect">
            <a:avLst/>
          </a:prstGeom>
          <a:noFill/>
          <a:ln/>
        </p:spPr>
        <p:txBody>
          <a:bodyPr wrap="square" lIns="0" tIns="0" rIns="0" bIns="0" rtlCol="0" anchor="ctr"/>
          <a:lstStyle/>
          <a:p>
            <a:pPr indent="0" marL="0">
              <a:buNone/>
            </a:pPr>
            <a:r>
              <a:rPr lang="en-US" sz="2000" b="1" dirty="0">
                <a:solidFill>
                  <a:srgbClr val="1B2229"/>
                </a:solidFill>
                <a:latin typeface="Calibri" pitchFamily="34" charset="0"/>
                <a:ea typeface="Calibri" pitchFamily="34" charset="-122"/>
                <a:cs typeface="Calibri" pitchFamily="34" charset="-120"/>
              </a:rPr>
              <a:t>Detect</a:t>
            </a:r>
            <a:endParaRPr lang="en-US" sz="2000" dirty="0"/>
          </a:p>
        </p:txBody>
      </p:sp>
      <p:sp>
        <p:nvSpPr>
          <p:cNvPr id="9" name="Text 6"/>
          <p:cNvSpPr txBox="1"/>
          <p:nvPr/>
        </p:nvSpPr>
        <p:spPr>
          <a:xfrm>
            <a:off x="822960" y="2971800"/>
            <a:ext cx="2057400" cy="2240280"/>
          </a:xfrm>
          <a:prstGeom prst="rect">
            <a:avLst/>
          </a:prstGeom>
          <a:noFill/>
          <a:ln/>
        </p:spPr>
        <p:txBody>
          <a:bodyPr wrap="square" lIns="0" tIns="0" rIns="0" bIns="0" rtlCol="0" anchor="t"/>
          <a:lstStyle/>
          <a:p>
            <a:pPr indent="0" marL="0">
              <a:buNone/>
            </a:pPr>
            <a:r>
              <a:rPr lang="en-US" sz="1400" dirty="0">
                <a:solidFill>
                  <a:srgbClr val="5A6672"/>
                </a:solidFill>
                <a:latin typeface="Calibri" pitchFamily="34" charset="0"/>
                <a:ea typeface="Calibri" pitchFamily="34" charset="-122"/>
                <a:cs typeface="Calibri" pitchFamily="34" charset="-120"/>
              </a:rPr>
              <a:t>An external signal flags an outage at a specialty gas supplier. The model scores it high because the site is a sole source.</a:t>
            </a:r>
            <a:endParaRPr lang="en-US" sz="1400" dirty="0"/>
          </a:p>
        </p:txBody>
      </p:sp>
      <p:sp>
        <p:nvSpPr>
          <p:cNvPr id="10" name="Shape 7"/>
          <p:cNvSpPr/>
          <p:nvPr/>
        </p:nvSpPr>
        <p:spPr>
          <a:xfrm>
            <a:off x="3337560" y="1783080"/>
            <a:ext cx="2606040" cy="3017520"/>
          </a:xfrm>
          <a:prstGeom prst="rect">
            <a:avLst/>
          </a:prstGeom>
          <a:solidFill>
            <a:srgbClr val="EEF1F4"/>
          </a:solidFill>
          <a:ln w="12700">
            <a:solidFill>
              <a:srgbClr val="EEF1F4"/>
            </a:solidFill>
            <a:prstDash val="solid"/>
          </a:ln>
          <a:effectLst>
            <a:outerShdw sx="100000" sy="100000" kx="0" ky="0" algn="bl" rotWithShape="0" blurRad="76200" dist="19050" dir="5400000">
              <a:srgbClr val="000000">
                <a:alpha val="12000"/>
              </a:srgbClr>
            </a:outerShdw>
          </a:effectLst>
        </p:spPr>
      </p:sp>
      <p:sp>
        <p:nvSpPr>
          <p:cNvPr id="11" name="Shape 8"/>
          <p:cNvSpPr/>
          <p:nvPr/>
        </p:nvSpPr>
        <p:spPr>
          <a:xfrm>
            <a:off x="3611880" y="2057400"/>
            <a:ext cx="640080" cy="640080"/>
          </a:xfrm>
          <a:prstGeom prst="roundRect">
            <a:avLst>
              <a:gd name="adj" fmla="val 11429"/>
            </a:avLst>
          </a:prstGeom>
          <a:solidFill>
            <a:srgbClr val="1B2229"/>
          </a:solidFill>
          <a:ln w="12700">
            <a:solidFill>
              <a:srgbClr val="1B2229"/>
            </a:solidFill>
            <a:prstDash val="solid"/>
          </a:ln>
        </p:spPr>
      </p:sp>
      <p:pic>
        <p:nvPicPr>
          <p:cNvPr id="12" name="Image 1" descr="preencoded.png">    </p:cNvPr>
          <p:cNvPicPr>
            <a:picLocks noChangeAspect="1"/>
          </p:cNvPicPr>
          <p:nvPr/>
        </p:nvPicPr>
        <p:blipFill>
          <a:blip r:embed="rId2"/>
          <a:stretch>
            <a:fillRect/>
          </a:stretch>
        </p:blipFill>
        <p:spPr>
          <a:xfrm>
            <a:off x="3752698" y="2198218"/>
            <a:ext cx="358445" cy="358445"/>
          </a:xfrm>
          <a:prstGeom prst="rect">
            <a:avLst/>
          </a:prstGeom>
        </p:spPr>
      </p:pic>
      <p:sp>
        <p:nvSpPr>
          <p:cNvPr id="13" name="Text 9"/>
          <p:cNvSpPr txBox="1"/>
          <p:nvPr/>
        </p:nvSpPr>
        <p:spPr>
          <a:xfrm>
            <a:off x="4389120" y="2057400"/>
            <a:ext cx="1371600" cy="274320"/>
          </a:xfrm>
          <a:prstGeom prst="rect">
            <a:avLst/>
          </a:prstGeom>
          <a:noFill/>
          <a:ln/>
        </p:spPr>
        <p:txBody>
          <a:bodyPr wrap="square" lIns="0" tIns="0" rIns="0" bIns="0" rtlCol="0" anchor="ctr"/>
          <a:lstStyle/>
          <a:p>
            <a:pPr indent="0" marL="0">
              <a:buNone/>
            </a:pPr>
            <a:r>
              <a:rPr lang="en-US" sz="1200" b="1" dirty="0">
                <a:solidFill>
                  <a:srgbClr val="8A96A3"/>
                </a:solidFill>
                <a:latin typeface="Calibri" pitchFamily="34" charset="0"/>
                <a:ea typeface="Calibri" pitchFamily="34" charset="-122"/>
                <a:cs typeface="Calibri" pitchFamily="34" charset="-120"/>
              </a:rPr>
              <a:t>Step 2</a:t>
            </a:r>
            <a:endParaRPr lang="en-US" sz="1200" dirty="0"/>
          </a:p>
        </p:txBody>
      </p:sp>
      <p:sp>
        <p:nvSpPr>
          <p:cNvPr id="14" name="Text 10"/>
          <p:cNvSpPr txBox="1"/>
          <p:nvPr/>
        </p:nvSpPr>
        <p:spPr>
          <a:xfrm>
            <a:off x="4389120" y="2313432"/>
            <a:ext cx="1463040" cy="411480"/>
          </a:xfrm>
          <a:prstGeom prst="rect">
            <a:avLst/>
          </a:prstGeom>
          <a:noFill/>
          <a:ln/>
        </p:spPr>
        <p:txBody>
          <a:bodyPr wrap="square" lIns="0" tIns="0" rIns="0" bIns="0" rtlCol="0" anchor="ctr"/>
          <a:lstStyle/>
          <a:p>
            <a:pPr indent="0" marL="0">
              <a:buNone/>
            </a:pPr>
            <a:r>
              <a:rPr lang="en-US" sz="2000" b="1" dirty="0">
                <a:solidFill>
                  <a:srgbClr val="1B2229"/>
                </a:solidFill>
                <a:latin typeface="Calibri" pitchFamily="34" charset="0"/>
                <a:ea typeface="Calibri" pitchFamily="34" charset="-122"/>
                <a:cs typeface="Calibri" pitchFamily="34" charset="-120"/>
              </a:rPr>
              <a:t>Assess</a:t>
            </a:r>
            <a:endParaRPr lang="en-US" sz="2000" dirty="0"/>
          </a:p>
        </p:txBody>
      </p:sp>
      <p:sp>
        <p:nvSpPr>
          <p:cNvPr id="15" name="Text 11"/>
          <p:cNvSpPr txBox="1"/>
          <p:nvPr/>
        </p:nvSpPr>
        <p:spPr>
          <a:xfrm>
            <a:off x="3611880" y="2971800"/>
            <a:ext cx="2057400" cy="2240280"/>
          </a:xfrm>
          <a:prstGeom prst="rect">
            <a:avLst/>
          </a:prstGeom>
          <a:noFill/>
          <a:ln/>
        </p:spPr>
        <p:txBody>
          <a:bodyPr wrap="square" lIns="0" tIns="0" rIns="0" bIns="0" rtlCol="0" anchor="t"/>
          <a:lstStyle/>
          <a:p>
            <a:pPr indent="0" marL="0">
              <a:buNone/>
            </a:pPr>
            <a:r>
              <a:rPr lang="en-US" sz="1400" dirty="0">
                <a:solidFill>
                  <a:srgbClr val="5A6672"/>
                </a:solidFill>
                <a:latin typeface="Calibri" pitchFamily="34" charset="0"/>
                <a:ea typeface="Calibri" pitchFamily="34" charset="-122"/>
                <a:cs typeface="Calibri" pitchFamily="34" charset="-120"/>
              </a:rPr>
              <a:t>The governed sub-tier map shows which parts, products, and customers depend on that site, with confidence on each link.</a:t>
            </a:r>
            <a:endParaRPr lang="en-US" sz="1400" dirty="0"/>
          </a:p>
        </p:txBody>
      </p:sp>
      <p:sp>
        <p:nvSpPr>
          <p:cNvPr id="16" name="Shape 12"/>
          <p:cNvSpPr/>
          <p:nvPr/>
        </p:nvSpPr>
        <p:spPr>
          <a:xfrm>
            <a:off x="6126480" y="1783080"/>
            <a:ext cx="2606040" cy="3017520"/>
          </a:xfrm>
          <a:prstGeom prst="rect">
            <a:avLst/>
          </a:prstGeom>
          <a:solidFill>
            <a:srgbClr val="EEF1F4"/>
          </a:solidFill>
          <a:ln w="12700">
            <a:solidFill>
              <a:srgbClr val="EEF1F4"/>
            </a:solidFill>
            <a:prstDash val="solid"/>
          </a:ln>
          <a:effectLst>
            <a:outerShdw sx="100000" sy="100000" kx="0" ky="0" algn="bl" rotWithShape="0" blurRad="76200" dist="19050" dir="5400000">
              <a:srgbClr val="000000">
                <a:alpha val="12000"/>
              </a:srgbClr>
            </a:outerShdw>
          </a:effectLst>
        </p:spPr>
      </p:sp>
      <p:sp>
        <p:nvSpPr>
          <p:cNvPr id="17" name="Shape 13"/>
          <p:cNvSpPr/>
          <p:nvPr/>
        </p:nvSpPr>
        <p:spPr>
          <a:xfrm>
            <a:off x="6400800" y="2057400"/>
            <a:ext cx="640080" cy="640080"/>
          </a:xfrm>
          <a:prstGeom prst="roundRect">
            <a:avLst>
              <a:gd name="adj" fmla="val 11429"/>
            </a:avLst>
          </a:prstGeom>
          <a:solidFill>
            <a:srgbClr val="C46A2B"/>
          </a:solidFill>
          <a:ln w="12700">
            <a:solidFill>
              <a:srgbClr val="C46A2B"/>
            </a:solidFill>
            <a:prstDash val="solid"/>
          </a:ln>
        </p:spPr>
      </p:sp>
      <p:pic>
        <p:nvPicPr>
          <p:cNvPr id="18" name="Image 2" descr="preencoded.png">    </p:cNvPr>
          <p:cNvPicPr>
            <a:picLocks noChangeAspect="1"/>
          </p:cNvPicPr>
          <p:nvPr/>
        </p:nvPicPr>
        <p:blipFill>
          <a:blip r:embed="rId3"/>
          <a:stretch>
            <a:fillRect/>
          </a:stretch>
        </p:blipFill>
        <p:spPr>
          <a:xfrm>
            <a:off x="6541618" y="2198218"/>
            <a:ext cx="358445" cy="358445"/>
          </a:xfrm>
          <a:prstGeom prst="rect">
            <a:avLst/>
          </a:prstGeom>
        </p:spPr>
      </p:pic>
      <p:sp>
        <p:nvSpPr>
          <p:cNvPr id="19" name="Text 14"/>
          <p:cNvSpPr txBox="1"/>
          <p:nvPr/>
        </p:nvSpPr>
        <p:spPr>
          <a:xfrm>
            <a:off x="7178040" y="2057400"/>
            <a:ext cx="1371600" cy="274320"/>
          </a:xfrm>
          <a:prstGeom prst="rect">
            <a:avLst/>
          </a:prstGeom>
          <a:noFill/>
          <a:ln/>
        </p:spPr>
        <p:txBody>
          <a:bodyPr wrap="square" lIns="0" tIns="0" rIns="0" bIns="0" rtlCol="0" anchor="ctr"/>
          <a:lstStyle/>
          <a:p>
            <a:pPr indent="0" marL="0">
              <a:buNone/>
            </a:pPr>
            <a:r>
              <a:rPr lang="en-US" sz="1200" b="1" dirty="0">
                <a:solidFill>
                  <a:srgbClr val="8A96A3"/>
                </a:solidFill>
                <a:latin typeface="Calibri" pitchFamily="34" charset="0"/>
                <a:ea typeface="Calibri" pitchFamily="34" charset="-122"/>
                <a:cs typeface="Calibri" pitchFamily="34" charset="-120"/>
              </a:rPr>
              <a:t>Step 3</a:t>
            </a:r>
            <a:endParaRPr lang="en-US" sz="1200" dirty="0"/>
          </a:p>
        </p:txBody>
      </p:sp>
      <p:sp>
        <p:nvSpPr>
          <p:cNvPr id="20" name="Text 15"/>
          <p:cNvSpPr txBox="1"/>
          <p:nvPr/>
        </p:nvSpPr>
        <p:spPr>
          <a:xfrm>
            <a:off x="7178040" y="2313432"/>
            <a:ext cx="1463040" cy="411480"/>
          </a:xfrm>
          <a:prstGeom prst="rect">
            <a:avLst/>
          </a:prstGeom>
          <a:noFill/>
          <a:ln/>
        </p:spPr>
        <p:txBody>
          <a:bodyPr wrap="square" lIns="0" tIns="0" rIns="0" bIns="0" rtlCol="0" anchor="ctr"/>
          <a:lstStyle/>
          <a:p>
            <a:pPr indent="0" marL="0">
              <a:buNone/>
            </a:pPr>
            <a:r>
              <a:rPr lang="en-US" sz="2000" b="1" dirty="0">
                <a:solidFill>
                  <a:srgbClr val="1B2229"/>
                </a:solidFill>
                <a:latin typeface="Calibri" pitchFamily="34" charset="0"/>
                <a:ea typeface="Calibri" pitchFamily="34" charset="-122"/>
                <a:cs typeface="Calibri" pitchFamily="34" charset="-120"/>
              </a:rPr>
              <a:t>Decide</a:t>
            </a:r>
            <a:endParaRPr lang="en-US" sz="2000" dirty="0"/>
          </a:p>
        </p:txBody>
      </p:sp>
      <p:sp>
        <p:nvSpPr>
          <p:cNvPr id="21" name="Text 16"/>
          <p:cNvSpPr txBox="1"/>
          <p:nvPr/>
        </p:nvSpPr>
        <p:spPr>
          <a:xfrm>
            <a:off x="6400800" y="2971800"/>
            <a:ext cx="2057400" cy="2240280"/>
          </a:xfrm>
          <a:prstGeom prst="rect">
            <a:avLst/>
          </a:prstGeom>
          <a:noFill/>
          <a:ln/>
        </p:spPr>
        <p:txBody>
          <a:bodyPr wrap="square" lIns="0" tIns="0" rIns="0" bIns="0" rtlCol="0" anchor="t"/>
          <a:lstStyle/>
          <a:p>
            <a:pPr indent="0" marL="0">
              <a:buNone/>
            </a:pPr>
            <a:r>
              <a:rPr lang="en-US" sz="1400" dirty="0">
                <a:solidFill>
                  <a:srgbClr val="5A6672"/>
                </a:solidFill>
                <a:latin typeface="Calibri" pitchFamily="34" charset="0"/>
                <a:ea typeface="Calibri" pitchFamily="34" charset="-122"/>
                <a:cs typeface="Calibri" pitchFamily="34" charset="-120"/>
              </a:rPr>
              <a:t>The part owner reviews the evidence, confirms exposure with tier 1, and approves an allocation plan.</a:t>
            </a:r>
            <a:endParaRPr lang="en-US" sz="1400" dirty="0"/>
          </a:p>
        </p:txBody>
      </p:sp>
      <p:sp>
        <p:nvSpPr>
          <p:cNvPr id="22" name="Shape 17"/>
          <p:cNvSpPr/>
          <p:nvPr/>
        </p:nvSpPr>
        <p:spPr>
          <a:xfrm>
            <a:off x="8915400" y="1783080"/>
            <a:ext cx="2606040" cy="3017520"/>
          </a:xfrm>
          <a:prstGeom prst="rect">
            <a:avLst/>
          </a:prstGeom>
          <a:solidFill>
            <a:srgbClr val="EEF1F4"/>
          </a:solidFill>
          <a:ln w="12700">
            <a:solidFill>
              <a:srgbClr val="EEF1F4"/>
            </a:solidFill>
            <a:prstDash val="solid"/>
          </a:ln>
          <a:effectLst>
            <a:outerShdw sx="100000" sy="100000" kx="0" ky="0" algn="bl" rotWithShape="0" blurRad="76200" dist="19050" dir="5400000">
              <a:srgbClr val="000000">
                <a:alpha val="12000"/>
              </a:srgbClr>
            </a:outerShdw>
          </a:effectLst>
        </p:spPr>
      </p:sp>
      <p:sp>
        <p:nvSpPr>
          <p:cNvPr id="23" name="Shape 18"/>
          <p:cNvSpPr/>
          <p:nvPr/>
        </p:nvSpPr>
        <p:spPr>
          <a:xfrm>
            <a:off x="9189720" y="2057400"/>
            <a:ext cx="640080" cy="640080"/>
          </a:xfrm>
          <a:prstGeom prst="roundRect">
            <a:avLst>
              <a:gd name="adj" fmla="val 11429"/>
            </a:avLst>
          </a:prstGeom>
          <a:solidFill>
            <a:srgbClr val="1B2229"/>
          </a:solidFill>
          <a:ln w="12700">
            <a:solidFill>
              <a:srgbClr val="1B2229"/>
            </a:solidFill>
            <a:prstDash val="solid"/>
          </a:ln>
        </p:spPr>
      </p:sp>
      <p:pic>
        <p:nvPicPr>
          <p:cNvPr id="24" name="Image 3" descr="preencoded.png">    </p:cNvPr>
          <p:cNvPicPr>
            <a:picLocks noChangeAspect="1"/>
          </p:cNvPicPr>
          <p:nvPr/>
        </p:nvPicPr>
        <p:blipFill>
          <a:blip r:embed="rId4"/>
          <a:stretch>
            <a:fillRect/>
          </a:stretch>
        </p:blipFill>
        <p:spPr>
          <a:xfrm>
            <a:off x="9330538" y="2198218"/>
            <a:ext cx="358445" cy="358445"/>
          </a:xfrm>
          <a:prstGeom prst="rect">
            <a:avLst/>
          </a:prstGeom>
        </p:spPr>
      </p:pic>
      <p:sp>
        <p:nvSpPr>
          <p:cNvPr id="25" name="Text 19"/>
          <p:cNvSpPr txBox="1"/>
          <p:nvPr/>
        </p:nvSpPr>
        <p:spPr>
          <a:xfrm>
            <a:off x="9966960" y="2057400"/>
            <a:ext cx="1371600" cy="274320"/>
          </a:xfrm>
          <a:prstGeom prst="rect">
            <a:avLst/>
          </a:prstGeom>
          <a:noFill/>
          <a:ln/>
        </p:spPr>
        <p:txBody>
          <a:bodyPr wrap="square" lIns="0" tIns="0" rIns="0" bIns="0" rtlCol="0" anchor="ctr"/>
          <a:lstStyle/>
          <a:p>
            <a:pPr indent="0" marL="0">
              <a:buNone/>
            </a:pPr>
            <a:r>
              <a:rPr lang="en-US" sz="1200" b="1" dirty="0">
                <a:solidFill>
                  <a:srgbClr val="8A96A3"/>
                </a:solidFill>
                <a:latin typeface="Calibri" pitchFamily="34" charset="0"/>
                <a:ea typeface="Calibri" pitchFamily="34" charset="-122"/>
                <a:cs typeface="Calibri" pitchFamily="34" charset="-120"/>
              </a:rPr>
              <a:t>Step 4</a:t>
            </a:r>
            <a:endParaRPr lang="en-US" sz="1200" dirty="0"/>
          </a:p>
        </p:txBody>
      </p:sp>
      <p:sp>
        <p:nvSpPr>
          <p:cNvPr id="26" name="Text 20"/>
          <p:cNvSpPr txBox="1"/>
          <p:nvPr/>
        </p:nvSpPr>
        <p:spPr>
          <a:xfrm>
            <a:off x="9966960" y="2313432"/>
            <a:ext cx="1463040" cy="411480"/>
          </a:xfrm>
          <a:prstGeom prst="rect">
            <a:avLst/>
          </a:prstGeom>
          <a:noFill/>
          <a:ln/>
        </p:spPr>
        <p:txBody>
          <a:bodyPr wrap="square" lIns="0" tIns="0" rIns="0" bIns="0" rtlCol="0" anchor="ctr"/>
          <a:lstStyle/>
          <a:p>
            <a:pPr indent="0" marL="0">
              <a:buNone/>
            </a:pPr>
            <a:r>
              <a:rPr lang="en-US" sz="2000" b="1" dirty="0">
                <a:solidFill>
                  <a:srgbClr val="1B2229"/>
                </a:solidFill>
                <a:latin typeface="Calibri" pitchFamily="34" charset="0"/>
                <a:ea typeface="Calibri" pitchFamily="34" charset="-122"/>
                <a:cs typeface="Calibri" pitchFamily="34" charset="-120"/>
              </a:rPr>
              <a:t>Act</a:t>
            </a:r>
            <a:endParaRPr lang="en-US" sz="2000" dirty="0"/>
          </a:p>
        </p:txBody>
      </p:sp>
      <p:sp>
        <p:nvSpPr>
          <p:cNvPr id="27" name="Text 21"/>
          <p:cNvSpPr txBox="1"/>
          <p:nvPr/>
        </p:nvSpPr>
        <p:spPr>
          <a:xfrm>
            <a:off x="9189720" y="2971800"/>
            <a:ext cx="2057400" cy="2240280"/>
          </a:xfrm>
          <a:prstGeom prst="rect">
            <a:avLst/>
          </a:prstGeom>
          <a:noFill/>
          <a:ln/>
        </p:spPr>
        <p:txBody>
          <a:bodyPr wrap="square" lIns="0" tIns="0" rIns="0" bIns="0" rtlCol="0" anchor="t"/>
          <a:lstStyle/>
          <a:p>
            <a:pPr indent="0" marL="0">
              <a:buNone/>
            </a:pPr>
            <a:r>
              <a:rPr lang="en-US" sz="1400" dirty="0">
                <a:solidFill>
                  <a:srgbClr val="5A6672"/>
                </a:solidFill>
                <a:latin typeface="Calibri" pitchFamily="34" charset="0"/>
                <a:ea typeface="Calibri" pitchFamily="34" charset="-122"/>
                <a:cs typeface="Calibri" pitchFamily="34" charset="-120"/>
              </a:rPr>
              <a:t>Buyers start alternate-source qualification and account teams warn affected customers early.</a:t>
            </a:r>
            <a:endParaRPr lang="en-US" sz="1400" dirty="0"/>
          </a:p>
        </p:txBody>
      </p:sp>
      <p:sp>
        <p:nvSpPr>
          <p:cNvPr id="28" name="Text 22"/>
          <p:cNvSpPr txBox="1"/>
          <p:nvPr/>
        </p:nvSpPr>
        <p:spPr>
          <a:xfrm>
            <a:off x="548640" y="5120640"/>
            <a:ext cx="11094415" cy="411480"/>
          </a:xfrm>
          <a:prstGeom prst="rect">
            <a:avLst/>
          </a:prstGeom>
          <a:noFill/>
          <a:ln/>
        </p:spPr>
        <p:txBody>
          <a:bodyPr wrap="square" lIns="0" tIns="0" rIns="0" bIns="0" rtlCol="0" anchor="ctr"/>
          <a:lstStyle/>
          <a:p>
            <a:pPr indent="0" marL="0">
              <a:buNone/>
            </a:pPr>
            <a:r>
              <a:rPr lang="en-US" sz="1600" i="1" dirty="0">
                <a:solidFill>
                  <a:srgbClr val="C46A2B"/>
                </a:solidFill>
                <a:latin typeface="Calibri" pitchFamily="34" charset="0"/>
                <a:ea typeface="Calibri" pitchFamily="34" charset="-122"/>
                <a:cs typeface="Calibri" pitchFamily="34" charset="-120"/>
              </a:rPr>
              <a:t>The human decision stays in the loop. Governance makes it faster, not optional.</a:t>
            </a:r>
            <a:endParaRPr lang="en-US" sz="1600" dirty="0"/>
          </a:p>
        </p:txBody>
      </p:sp>
      <p:sp>
        <p:nvSpPr>
          <p:cNvPr id="29" name="Text 23"/>
          <p:cNvSpPr txBox="1"/>
          <p:nvPr/>
        </p:nvSpPr>
        <p:spPr>
          <a:xfrm>
            <a:off x="8899855" y="6446520"/>
            <a:ext cx="2743200" cy="228600"/>
          </a:xfrm>
          <a:prstGeom prst="rect">
            <a:avLst/>
          </a:prstGeom>
          <a:noFill/>
          <a:ln/>
        </p:spPr>
        <p:txBody>
          <a:bodyPr wrap="square" lIns="0" tIns="0" rIns="0" bIns="0" rtlCol="0" anchor="ctr"/>
          <a:lstStyle/>
          <a:p>
            <a:pPr algn="r" indent="0" marL="0">
              <a:buNone/>
            </a:pPr>
            <a:r>
              <a:rPr lang="en-US" sz="900" dirty="0">
                <a:solidFill>
                  <a:srgbClr val="8A96A3"/>
                </a:solidFill>
                <a:latin typeface="Calibri" pitchFamily="34" charset="0"/>
                <a:ea typeface="Calibri" pitchFamily="34" charset="-122"/>
                <a:cs typeface="Calibri" pitchFamily="34" charset="-120"/>
              </a:rPr>
              <a:t>SEMICON West  |  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182880"/>
            <a:ext cx="7315200" cy="274320"/>
          </a:xfrm>
          <a:prstGeom prst="rect">
            <a:avLst/>
          </a:prstGeom>
          <a:noFill/>
          <a:ln/>
        </p:spPr>
        <p:txBody>
          <a:bodyPr wrap="square" lIns="0" tIns="0" rIns="0" bIns="0" rtlCol="0" anchor="ctr"/>
          <a:lstStyle/>
          <a:p>
            <a:pPr indent="0" marL="0">
              <a:buNone/>
            </a:pPr>
            <a:r>
              <a:rPr lang="en-US" sz="1100" b="1" spc="200" kern="0" dirty="0">
                <a:solidFill>
                  <a:srgbClr val="C46A2B"/>
                </a:solidFill>
                <a:latin typeface="Calibri" pitchFamily="34" charset="0"/>
                <a:ea typeface="Calibri" pitchFamily="34" charset="-122"/>
                <a:cs typeface="Calibri" pitchFamily="34" charset="-120"/>
              </a:rPr>
              <a:t>TAKEAWAYS</a:t>
            </a:r>
            <a:endParaRPr lang="en-US" sz="1100" dirty="0"/>
          </a:p>
        </p:txBody>
      </p:sp>
      <p:sp>
        <p:nvSpPr>
          <p:cNvPr id="3" name="Text 1"/>
          <p:cNvSpPr txBox="1"/>
          <p:nvPr/>
        </p:nvSpPr>
        <p:spPr>
          <a:xfrm>
            <a:off x="548640" y="411480"/>
            <a:ext cx="11094415" cy="914400"/>
          </a:xfrm>
          <a:prstGeom prst="rect">
            <a:avLst/>
          </a:prstGeom>
          <a:noFill/>
          <a:ln/>
        </p:spPr>
        <p:txBody>
          <a:bodyPr wrap="square" lIns="0" tIns="0" rIns="0" bIns="0" rtlCol="0" anchor="t"/>
          <a:lstStyle/>
          <a:p>
            <a:pPr indent="0" marL="0">
              <a:buNone/>
            </a:pPr>
            <a:r>
              <a:rPr lang="en-US" sz="3400" b="1" dirty="0">
                <a:solidFill>
                  <a:srgbClr val="1B2229"/>
                </a:solidFill>
                <a:latin typeface="Calibri" pitchFamily="34" charset="0"/>
                <a:ea typeface="Calibri" pitchFamily="34" charset="-122"/>
                <a:cs typeface="Calibri" pitchFamily="34" charset="-120"/>
              </a:rPr>
              <a:t>Three things you can start next quarter</a:t>
            </a:r>
            <a:endParaRPr lang="en-US" sz="3400" dirty="0"/>
          </a:p>
        </p:txBody>
      </p:sp>
      <p:sp>
        <p:nvSpPr>
          <p:cNvPr id="4" name="Text 2"/>
          <p:cNvSpPr txBox="1"/>
          <p:nvPr/>
        </p:nvSpPr>
        <p:spPr>
          <a:xfrm>
            <a:off x="548640" y="1691640"/>
            <a:ext cx="731520" cy="1188720"/>
          </a:xfrm>
          <a:prstGeom prst="rect">
            <a:avLst/>
          </a:prstGeom>
          <a:noFill/>
          <a:ln/>
        </p:spPr>
        <p:txBody>
          <a:bodyPr wrap="square" lIns="0" tIns="0" rIns="0" bIns="0" rtlCol="0" anchor="ctr"/>
          <a:lstStyle/>
          <a:p>
            <a:pPr indent="0" marL="0">
              <a:buNone/>
            </a:pPr>
            <a:r>
              <a:rPr lang="en-US" sz="5400" b="1" dirty="0">
                <a:solidFill>
                  <a:srgbClr val="C46A2B"/>
                </a:solidFill>
                <a:latin typeface="Calibri" pitchFamily="34" charset="0"/>
                <a:ea typeface="Calibri" pitchFamily="34" charset="-122"/>
                <a:cs typeface="Calibri" pitchFamily="34" charset="-120"/>
              </a:rPr>
              <a:t>1</a:t>
            </a:r>
            <a:endParaRPr lang="en-US" sz="5400" dirty="0"/>
          </a:p>
        </p:txBody>
      </p:sp>
      <p:sp>
        <p:nvSpPr>
          <p:cNvPr id="5" name="Shape 3"/>
          <p:cNvSpPr/>
          <p:nvPr/>
        </p:nvSpPr>
        <p:spPr>
          <a:xfrm>
            <a:off x="1417320" y="1691640"/>
            <a:ext cx="10195560" cy="1188720"/>
          </a:xfrm>
          <a:prstGeom prst="rect">
            <a:avLst/>
          </a:prstGeom>
          <a:solidFill>
            <a:srgbClr val="EEF1F4"/>
          </a:solidFill>
          <a:ln w="12700">
            <a:solidFill>
              <a:srgbClr val="EEF1F4"/>
            </a:solidFill>
            <a:prstDash val="solid"/>
          </a:ln>
        </p:spPr>
      </p:sp>
      <p:sp>
        <p:nvSpPr>
          <p:cNvPr id="6" name="Shape 4"/>
          <p:cNvSpPr/>
          <p:nvPr/>
        </p:nvSpPr>
        <p:spPr>
          <a:xfrm>
            <a:off x="1645920" y="1993392"/>
            <a:ext cx="585216" cy="585216"/>
          </a:xfrm>
          <a:prstGeom prst="roundRect">
            <a:avLst>
              <a:gd name="adj" fmla="val 12500"/>
            </a:avLst>
          </a:prstGeom>
          <a:solidFill>
            <a:srgbClr val="1B2229"/>
          </a:solidFill>
          <a:ln w="12700">
            <a:solidFill>
              <a:srgbClr val="1B2229"/>
            </a:solidFill>
            <a:prstDash val="solid"/>
          </a:ln>
        </p:spPr>
      </p:sp>
      <p:pic>
        <p:nvPicPr>
          <p:cNvPr id="7" name="Image 0" descr="preencoded.png">    </p:cNvPr>
          <p:cNvPicPr>
            <a:picLocks noChangeAspect="1"/>
          </p:cNvPicPr>
          <p:nvPr/>
        </p:nvPicPr>
        <p:blipFill>
          <a:blip r:embed="rId1"/>
          <a:stretch>
            <a:fillRect/>
          </a:stretch>
        </p:blipFill>
        <p:spPr>
          <a:xfrm>
            <a:off x="1774668" y="2122140"/>
            <a:ext cx="327721" cy="327721"/>
          </a:xfrm>
          <a:prstGeom prst="rect">
            <a:avLst/>
          </a:prstGeom>
        </p:spPr>
      </p:pic>
      <p:sp>
        <p:nvSpPr>
          <p:cNvPr id="8" name="Text 5"/>
          <p:cNvSpPr txBox="1"/>
          <p:nvPr/>
        </p:nvSpPr>
        <p:spPr>
          <a:xfrm>
            <a:off x="2468880" y="1828800"/>
            <a:ext cx="8869680" cy="411480"/>
          </a:xfrm>
          <a:prstGeom prst="rect">
            <a:avLst/>
          </a:prstGeom>
          <a:noFill/>
          <a:ln/>
        </p:spPr>
        <p:txBody>
          <a:bodyPr wrap="square" lIns="0" tIns="0" rIns="0" bIns="0" rtlCol="0" anchor="ctr"/>
          <a:lstStyle/>
          <a:p>
            <a:pPr indent="0" marL="0">
              <a:buNone/>
            </a:pPr>
            <a:r>
              <a:rPr lang="en-US" sz="1900" b="1" dirty="0">
                <a:solidFill>
                  <a:srgbClr val="1B2229"/>
                </a:solidFill>
                <a:latin typeface="Calibri" pitchFamily="34" charset="0"/>
                <a:ea typeface="Calibri" pitchFamily="34" charset="-122"/>
                <a:cs typeface="Calibri" pitchFamily="34" charset="-120"/>
              </a:rPr>
              <a:t>Map your riskiest input</a:t>
            </a:r>
            <a:endParaRPr lang="en-US" sz="1900" dirty="0"/>
          </a:p>
        </p:txBody>
      </p:sp>
      <p:sp>
        <p:nvSpPr>
          <p:cNvPr id="9" name="Text 6"/>
          <p:cNvSpPr txBox="1"/>
          <p:nvPr/>
        </p:nvSpPr>
        <p:spPr>
          <a:xfrm>
            <a:off x="2468880" y="2240280"/>
            <a:ext cx="8869680" cy="548640"/>
          </a:xfrm>
          <a:prstGeom prst="rect">
            <a:avLst/>
          </a:prstGeom>
          <a:noFill/>
          <a:ln/>
        </p:spPr>
        <p:txBody>
          <a:bodyPr wrap="square" lIns="0" tIns="0" rIns="0" bIns="0" rtlCol="0" anchor="t"/>
          <a:lstStyle/>
          <a:p>
            <a:pPr indent="0" marL="0">
              <a:buNone/>
            </a:pPr>
            <a:r>
              <a:rPr lang="en-US" sz="1500" dirty="0">
                <a:solidFill>
                  <a:srgbClr val="5A6672"/>
                </a:solidFill>
                <a:latin typeface="Calibri" pitchFamily="34" charset="0"/>
                <a:ea typeface="Calibri" pitchFamily="34" charset="-122"/>
                <a:cs typeface="Calibri" pitchFamily="34" charset="-120"/>
              </a:rPr>
              <a:t>Pick one sole- or single-source material and trace it as far down the tiers as you can.</a:t>
            </a:r>
            <a:endParaRPr lang="en-US" sz="1500" dirty="0"/>
          </a:p>
        </p:txBody>
      </p:sp>
      <p:sp>
        <p:nvSpPr>
          <p:cNvPr id="10" name="Text 7"/>
          <p:cNvSpPr txBox="1"/>
          <p:nvPr/>
        </p:nvSpPr>
        <p:spPr>
          <a:xfrm>
            <a:off x="548640" y="3154680"/>
            <a:ext cx="731520" cy="1188720"/>
          </a:xfrm>
          <a:prstGeom prst="rect">
            <a:avLst/>
          </a:prstGeom>
          <a:noFill/>
          <a:ln/>
        </p:spPr>
        <p:txBody>
          <a:bodyPr wrap="square" lIns="0" tIns="0" rIns="0" bIns="0" rtlCol="0" anchor="ctr"/>
          <a:lstStyle/>
          <a:p>
            <a:pPr indent="0" marL="0">
              <a:buNone/>
            </a:pPr>
            <a:r>
              <a:rPr lang="en-US" sz="5400" b="1" dirty="0">
                <a:solidFill>
                  <a:srgbClr val="C46A2B"/>
                </a:solidFill>
                <a:latin typeface="Calibri" pitchFamily="34" charset="0"/>
                <a:ea typeface="Calibri" pitchFamily="34" charset="-122"/>
                <a:cs typeface="Calibri" pitchFamily="34" charset="-120"/>
              </a:rPr>
              <a:t>2</a:t>
            </a:r>
            <a:endParaRPr lang="en-US" sz="5400" dirty="0"/>
          </a:p>
        </p:txBody>
      </p:sp>
      <p:sp>
        <p:nvSpPr>
          <p:cNvPr id="11" name="Shape 8"/>
          <p:cNvSpPr/>
          <p:nvPr/>
        </p:nvSpPr>
        <p:spPr>
          <a:xfrm>
            <a:off x="1417320" y="3154680"/>
            <a:ext cx="10195560" cy="1188720"/>
          </a:xfrm>
          <a:prstGeom prst="rect">
            <a:avLst/>
          </a:prstGeom>
          <a:solidFill>
            <a:srgbClr val="EEF1F4"/>
          </a:solidFill>
          <a:ln w="12700">
            <a:solidFill>
              <a:srgbClr val="EEF1F4"/>
            </a:solidFill>
            <a:prstDash val="solid"/>
          </a:ln>
        </p:spPr>
      </p:sp>
      <p:sp>
        <p:nvSpPr>
          <p:cNvPr id="12" name="Shape 9"/>
          <p:cNvSpPr/>
          <p:nvPr/>
        </p:nvSpPr>
        <p:spPr>
          <a:xfrm>
            <a:off x="1645920" y="3456432"/>
            <a:ext cx="585216" cy="585216"/>
          </a:xfrm>
          <a:prstGeom prst="roundRect">
            <a:avLst>
              <a:gd name="adj" fmla="val 12500"/>
            </a:avLst>
          </a:prstGeom>
          <a:solidFill>
            <a:srgbClr val="1B2229"/>
          </a:solidFill>
          <a:ln w="12700">
            <a:solidFill>
              <a:srgbClr val="1B2229"/>
            </a:solidFill>
            <a:prstDash val="solid"/>
          </a:ln>
        </p:spPr>
      </p:sp>
      <p:pic>
        <p:nvPicPr>
          <p:cNvPr id="13" name="Image 1" descr="preencoded.png">    </p:cNvPr>
          <p:cNvPicPr>
            <a:picLocks noChangeAspect="1"/>
          </p:cNvPicPr>
          <p:nvPr/>
        </p:nvPicPr>
        <p:blipFill>
          <a:blip r:embed="rId2"/>
          <a:stretch>
            <a:fillRect/>
          </a:stretch>
        </p:blipFill>
        <p:spPr>
          <a:xfrm>
            <a:off x="1774668" y="3585180"/>
            <a:ext cx="327721" cy="327721"/>
          </a:xfrm>
          <a:prstGeom prst="rect">
            <a:avLst/>
          </a:prstGeom>
        </p:spPr>
      </p:pic>
      <p:sp>
        <p:nvSpPr>
          <p:cNvPr id="14" name="Text 10"/>
          <p:cNvSpPr txBox="1"/>
          <p:nvPr/>
        </p:nvSpPr>
        <p:spPr>
          <a:xfrm>
            <a:off x="2468880" y="3291840"/>
            <a:ext cx="8869680" cy="411480"/>
          </a:xfrm>
          <a:prstGeom prst="rect">
            <a:avLst/>
          </a:prstGeom>
          <a:noFill/>
          <a:ln/>
        </p:spPr>
        <p:txBody>
          <a:bodyPr wrap="square" lIns="0" tIns="0" rIns="0" bIns="0" rtlCol="0" anchor="ctr"/>
          <a:lstStyle/>
          <a:p>
            <a:pPr indent="0" marL="0">
              <a:buNone/>
            </a:pPr>
            <a:r>
              <a:rPr lang="en-US" sz="1900" b="1" dirty="0">
                <a:solidFill>
                  <a:srgbClr val="1B2229"/>
                </a:solidFill>
                <a:latin typeface="Calibri" pitchFamily="34" charset="0"/>
                <a:ea typeface="Calibri" pitchFamily="34" charset="-122"/>
                <a:cs typeface="Calibri" pitchFamily="34" charset="-120"/>
              </a:rPr>
              <a:t>Give every critical record an owner</a:t>
            </a:r>
            <a:endParaRPr lang="en-US" sz="1900" dirty="0"/>
          </a:p>
        </p:txBody>
      </p:sp>
      <p:sp>
        <p:nvSpPr>
          <p:cNvPr id="15" name="Text 11"/>
          <p:cNvSpPr txBox="1"/>
          <p:nvPr/>
        </p:nvSpPr>
        <p:spPr>
          <a:xfrm>
            <a:off x="2468880" y="3703320"/>
            <a:ext cx="8869680" cy="548640"/>
          </a:xfrm>
          <a:prstGeom prst="rect">
            <a:avLst/>
          </a:prstGeom>
          <a:noFill/>
          <a:ln/>
        </p:spPr>
        <p:txBody>
          <a:bodyPr wrap="square" lIns="0" tIns="0" rIns="0" bIns="0" rtlCol="0" anchor="t"/>
          <a:lstStyle/>
          <a:p>
            <a:pPr indent="0" marL="0">
              <a:buNone/>
            </a:pPr>
            <a:r>
              <a:rPr lang="en-US" sz="1500" dirty="0">
                <a:solidFill>
                  <a:srgbClr val="5A6672"/>
                </a:solidFill>
                <a:latin typeface="Calibri" pitchFamily="34" charset="0"/>
                <a:ea typeface="Calibri" pitchFamily="34" charset="-122"/>
                <a:cs typeface="Calibri" pitchFamily="34" charset="-120"/>
              </a:rPr>
              <a:t>Name who keeps each critical part and supplier record accurate, and agree data-use terms with your key suppliers.</a:t>
            </a:r>
            <a:endParaRPr lang="en-US" sz="1500" dirty="0"/>
          </a:p>
        </p:txBody>
      </p:sp>
      <p:sp>
        <p:nvSpPr>
          <p:cNvPr id="16" name="Text 12"/>
          <p:cNvSpPr txBox="1"/>
          <p:nvPr/>
        </p:nvSpPr>
        <p:spPr>
          <a:xfrm>
            <a:off x="548640" y="4617720"/>
            <a:ext cx="731520" cy="1188720"/>
          </a:xfrm>
          <a:prstGeom prst="rect">
            <a:avLst/>
          </a:prstGeom>
          <a:noFill/>
          <a:ln/>
        </p:spPr>
        <p:txBody>
          <a:bodyPr wrap="square" lIns="0" tIns="0" rIns="0" bIns="0" rtlCol="0" anchor="ctr"/>
          <a:lstStyle/>
          <a:p>
            <a:pPr indent="0" marL="0">
              <a:buNone/>
            </a:pPr>
            <a:r>
              <a:rPr lang="en-US" sz="5400" b="1" dirty="0">
                <a:solidFill>
                  <a:srgbClr val="C46A2B"/>
                </a:solidFill>
                <a:latin typeface="Calibri" pitchFamily="34" charset="0"/>
                <a:ea typeface="Calibri" pitchFamily="34" charset="-122"/>
                <a:cs typeface="Calibri" pitchFamily="34" charset="-120"/>
              </a:rPr>
              <a:t>3</a:t>
            </a:r>
            <a:endParaRPr lang="en-US" sz="5400" dirty="0"/>
          </a:p>
        </p:txBody>
      </p:sp>
      <p:sp>
        <p:nvSpPr>
          <p:cNvPr id="17" name="Shape 13"/>
          <p:cNvSpPr/>
          <p:nvPr/>
        </p:nvSpPr>
        <p:spPr>
          <a:xfrm>
            <a:off x="1417320" y="4617720"/>
            <a:ext cx="10195560" cy="1188720"/>
          </a:xfrm>
          <a:prstGeom prst="rect">
            <a:avLst/>
          </a:prstGeom>
          <a:solidFill>
            <a:srgbClr val="EEF1F4"/>
          </a:solidFill>
          <a:ln w="12700">
            <a:solidFill>
              <a:srgbClr val="EEF1F4"/>
            </a:solidFill>
            <a:prstDash val="solid"/>
          </a:ln>
        </p:spPr>
      </p:sp>
      <p:sp>
        <p:nvSpPr>
          <p:cNvPr id="18" name="Shape 14"/>
          <p:cNvSpPr/>
          <p:nvPr/>
        </p:nvSpPr>
        <p:spPr>
          <a:xfrm>
            <a:off x="1645920" y="4919472"/>
            <a:ext cx="585216" cy="585216"/>
          </a:xfrm>
          <a:prstGeom prst="roundRect">
            <a:avLst>
              <a:gd name="adj" fmla="val 12500"/>
            </a:avLst>
          </a:prstGeom>
          <a:solidFill>
            <a:srgbClr val="1B2229"/>
          </a:solidFill>
          <a:ln w="12700">
            <a:solidFill>
              <a:srgbClr val="1B2229"/>
            </a:solidFill>
            <a:prstDash val="solid"/>
          </a:ln>
        </p:spPr>
      </p:sp>
      <p:pic>
        <p:nvPicPr>
          <p:cNvPr id="19" name="Image 2" descr="preencoded.png">    </p:cNvPr>
          <p:cNvPicPr>
            <a:picLocks noChangeAspect="1"/>
          </p:cNvPicPr>
          <p:nvPr/>
        </p:nvPicPr>
        <p:blipFill>
          <a:blip r:embed="rId3"/>
          <a:stretch>
            <a:fillRect/>
          </a:stretch>
        </p:blipFill>
        <p:spPr>
          <a:xfrm>
            <a:off x="1774668" y="5048220"/>
            <a:ext cx="327721" cy="327721"/>
          </a:xfrm>
          <a:prstGeom prst="rect">
            <a:avLst/>
          </a:prstGeom>
        </p:spPr>
      </p:pic>
      <p:sp>
        <p:nvSpPr>
          <p:cNvPr id="20" name="Text 15"/>
          <p:cNvSpPr txBox="1"/>
          <p:nvPr/>
        </p:nvSpPr>
        <p:spPr>
          <a:xfrm>
            <a:off x="2468880" y="4754880"/>
            <a:ext cx="8869680" cy="411480"/>
          </a:xfrm>
          <a:prstGeom prst="rect">
            <a:avLst/>
          </a:prstGeom>
          <a:noFill/>
          <a:ln/>
        </p:spPr>
        <p:txBody>
          <a:bodyPr wrap="square" lIns="0" tIns="0" rIns="0" bIns="0" rtlCol="0" anchor="ctr"/>
          <a:lstStyle/>
          <a:p>
            <a:pPr indent="0" marL="0">
              <a:buNone/>
            </a:pPr>
            <a:r>
              <a:rPr lang="en-US" sz="1900" b="1" dirty="0">
                <a:solidFill>
                  <a:srgbClr val="1B2229"/>
                </a:solidFill>
                <a:latin typeface="Calibri" pitchFamily="34" charset="0"/>
                <a:ea typeface="Calibri" pitchFamily="34" charset="-122"/>
                <a:cs typeface="Calibri" pitchFamily="34" charset="-120"/>
              </a:rPr>
              <a:t>Put AI behind validation and a person</a:t>
            </a:r>
            <a:endParaRPr lang="en-US" sz="1900" dirty="0"/>
          </a:p>
        </p:txBody>
      </p:sp>
      <p:sp>
        <p:nvSpPr>
          <p:cNvPr id="21" name="Text 16"/>
          <p:cNvSpPr txBox="1"/>
          <p:nvPr/>
        </p:nvSpPr>
        <p:spPr>
          <a:xfrm>
            <a:off x="2468880" y="5166360"/>
            <a:ext cx="8869680" cy="548640"/>
          </a:xfrm>
          <a:prstGeom prst="rect">
            <a:avLst/>
          </a:prstGeom>
          <a:noFill/>
          <a:ln/>
        </p:spPr>
        <p:txBody>
          <a:bodyPr wrap="square" lIns="0" tIns="0" rIns="0" bIns="0" rtlCol="0" anchor="t"/>
          <a:lstStyle/>
          <a:p>
            <a:pPr indent="0" marL="0">
              <a:buNone/>
            </a:pPr>
            <a:r>
              <a:rPr lang="en-US" sz="1500" dirty="0">
                <a:solidFill>
                  <a:srgbClr val="5A6672"/>
                </a:solidFill>
                <a:latin typeface="Calibri" pitchFamily="34" charset="0"/>
                <a:ea typeface="Calibri" pitchFamily="34" charset="-122"/>
                <a:cs typeface="Calibri" pitchFamily="34" charset="-120"/>
              </a:rPr>
              <a:t>Test any risk model against past disruptions, and keep a named human decision point for actions it informs.</a:t>
            </a:r>
            <a:endParaRPr lang="en-US" sz="1500" dirty="0"/>
          </a:p>
        </p:txBody>
      </p:sp>
      <p:sp>
        <p:nvSpPr>
          <p:cNvPr id="22" name="Text 17"/>
          <p:cNvSpPr txBox="1"/>
          <p:nvPr/>
        </p:nvSpPr>
        <p:spPr>
          <a:xfrm>
            <a:off x="8899855" y="6446520"/>
            <a:ext cx="2743200" cy="228600"/>
          </a:xfrm>
          <a:prstGeom prst="rect">
            <a:avLst/>
          </a:prstGeom>
          <a:noFill/>
          <a:ln/>
        </p:spPr>
        <p:txBody>
          <a:bodyPr wrap="square" lIns="0" tIns="0" rIns="0" bIns="0" rtlCol="0" anchor="ctr"/>
          <a:lstStyle/>
          <a:p>
            <a:pPr algn="r" indent="0" marL="0">
              <a:buNone/>
            </a:pPr>
            <a:r>
              <a:rPr lang="en-US" sz="900" dirty="0">
                <a:solidFill>
                  <a:srgbClr val="8A96A3"/>
                </a:solidFill>
                <a:latin typeface="Calibri" pitchFamily="34" charset="0"/>
                <a:ea typeface="Calibri" pitchFamily="34" charset="-122"/>
                <a:cs typeface="Calibri" pitchFamily="34" charset="-120"/>
              </a:rPr>
              <a:t>SEMICON West  |  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B2229"/>
        </a:solidFill>
      </p:bgPr>
    </p:bg>
    <p:spTree>
      <p:nvGrpSpPr>
        <p:cNvPr id="1" name=""/>
        <p:cNvGrpSpPr/>
        <p:nvPr/>
      </p:nvGrpSpPr>
      <p:grpSpPr>
        <a:xfrm>
          <a:off x="0" y="0"/>
          <a:ext cx="0" cy="0"/>
          <a:chOff x="0" y="0"/>
          <a:chExt cx="0" cy="0"/>
        </a:xfrm>
      </p:grpSpPr>
      <p:sp>
        <p:nvSpPr>
          <p:cNvPr id="2" name="Shape 0"/>
          <p:cNvSpPr/>
          <p:nvPr/>
        </p:nvSpPr>
        <p:spPr>
          <a:xfrm>
            <a:off x="548640" y="1280160"/>
            <a:ext cx="914400" cy="914400"/>
          </a:xfrm>
          <a:prstGeom prst="roundRect">
            <a:avLst>
              <a:gd name="adj" fmla="val 8000"/>
            </a:avLst>
          </a:prstGeom>
          <a:solidFill>
            <a:srgbClr val="C46A2B"/>
          </a:solidFill>
          <a:ln w="12700">
            <a:solidFill>
              <a:srgbClr val="C46A2B"/>
            </a:solidFill>
            <a:prstDash val="solid"/>
          </a:ln>
        </p:spPr>
      </p:sp>
      <p:pic>
        <p:nvPicPr>
          <p:cNvPr id="3" name="Image 0" descr="preencoded.png">    </p:cNvPr>
          <p:cNvPicPr>
            <a:picLocks noChangeAspect="1"/>
          </p:cNvPicPr>
          <p:nvPr/>
        </p:nvPicPr>
        <p:blipFill>
          <a:blip r:embed="rId1"/>
          <a:stretch>
            <a:fillRect/>
          </a:stretch>
        </p:blipFill>
        <p:spPr>
          <a:xfrm>
            <a:off x="749808" y="1481328"/>
            <a:ext cx="512064" cy="512064"/>
          </a:xfrm>
          <a:prstGeom prst="rect">
            <a:avLst/>
          </a:prstGeom>
        </p:spPr>
      </p:pic>
      <p:sp>
        <p:nvSpPr>
          <p:cNvPr id="4" name="Text 1"/>
          <p:cNvSpPr txBox="1"/>
          <p:nvPr/>
        </p:nvSpPr>
        <p:spPr>
          <a:xfrm>
            <a:off x="548640" y="2423160"/>
            <a:ext cx="7315200" cy="1005840"/>
          </a:xfrm>
          <a:prstGeom prst="rect">
            <a:avLst/>
          </a:prstGeom>
          <a:noFill/>
          <a:ln/>
        </p:spPr>
        <p:txBody>
          <a:bodyPr wrap="square" lIns="0" tIns="0" rIns="0" bIns="0" rtlCol="0" anchor="ctr"/>
          <a:lstStyle/>
          <a:p>
            <a:pPr indent="0" marL="0">
              <a:buNone/>
            </a:pPr>
            <a:r>
              <a:rPr lang="en-US" sz="5400" b="1" dirty="0">
                <a:solidFill>
                  <a:srgbClr val="FFFFFF"/>
                </a:solidFill>
                <a:latin typeface="Calibri" pitchFamily="34" charset="0"/>
                <a:ea typeface="Calibri" pitchFamily="34" charset="-122"/>
                <a:cs typeface="Calibri" pitchFamily="34" charset="-120"/>
              </a:rPr>
              <a:t>Questions</a:t>
            </a:r>
            <a:endParaRPr lang="en-US" sz="5400" dirty="0"/>
          </a:p>
        </p:txBody>
      </p:sp>
      <p:sp>
        <p:nvSpPr>
          <p:cNvPr id="5" name="Text 2"/>
          <p:cNvSpPr txBox="1"/>
          <p:nvPr/>
        </p:nvSpPr>
        <p:spPr>
          <a:xfrm>
            <a:off x="548640" y="3520440"/>
            <a:ext cx="8229600" cy="548640"/>
          </a:xfrm>
          <a:prstGeom prst="rect">
            <a:avLst/>
          </a:prstGeom>
          <a:noFill/>
          <a:ln/>
        </p:spPr>
        <p:txBody>
          <a:bodyPr wrap="square" lIns="0" tIns="0" rIns="0" bIns="0" rtlCol="0" anchor="ctr"/>
          <a:lstStyle/>
          <a:p>
            <a:pPr indent="0" marL="0">
              <a:buNone/>
            </a:pPr>
            <a:r>
              <a:rPr lang="en-US" sz="2200" i="1" dirty="0">
                <a:solidFill>
                  <a:srgbClr val="E8B48F"/>
                </a:solidFill>
                <a:latin typeface="Calibri" pitchFamily="34" charset="0"/>
                <a:ea typeface="Calibri" pitchFamily="34" charset="-122"/>
                <a:cs typeface="Calibri" pitchFamily="34" charset="-120"/>
              </a:rPr>
              <a:t>See your risk sooner. Act on it with data you can defend.</a:t>
            </a:r>
            <a:endParaRPr lang="en-US" sz="2200" dirty="0"/>
          </a:p>
        </p:txBody>
      </p:sp>
      <p:sp>
        <p:nvSpPr>
          <p:cNvPr id="6" name="Text 3"/>
          <p:cNvSpPr txBox="1"/>
          <p:nvPr/>
        </p:nvSpPr>
        <p:spPr>
          <a:xfrm>
            <a:off x="548640" y="4846320"/>
            <a:ext cx="6400800" cy="73152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[Your Name]</a:t>
            </a:r>
            <a:endParaRPr lang="en-US" sz="1600" dirty="0"/>
          </a:p>
          <a:p>
            <a:pPr indent="0" marL="0">
              <a:buNone/>
            </a:pPr>
            <a:r>
              <a:rPr lang="en-US" sz="1600" dirty="0">
                <a:solidFill>
                  <a:srgbClr val="8A96A3"/>
                </a:solidFill>
                <a:latin typeface="Calibri" pitchFamily="34" charset="0"/>
                <a:ea typeface="Calibri" pitchFamily="34" charset="-122"/>
                <a:cs typeface="Calibri" pitchFamily="34" charset="-120"/>
              </a:rPr>
              <a:t>[email or LinkedIn URL]</a:t>
            </a:r>
            <a:endParaRPr lang="en-US" sz="1600" dirty="0"/>
          </a:p>
        </p:txBody>
      </p:sp>
      <p:sp>
        <p:nvSpPr>
          <p:cNvPr id="7" name="Shape 4"/>
          <p:cNvSpPr/>
          <p:nvPr/>
        </p:nvSpPr>
        <p:spPr>
          <a:xfrm>
            <a:off x="9326880" y="4206240"/>
            <a:ext cx="2286000" cy="1920240"/>
          </a:xfrm>
          <a:prstGeom prst="roundRect">
            <a:avLst>
              <a:gd name="adj" fmla="val 3810"/>
            </a:avLst>
          </a:prstGeom>
          <a:solidFill>
            <a:srgbClr val="27303A"/>
          </a:solidFill>
          <a:ln w="12700">
            <a:solidFill>
              <a:srgbClr val="3A4552"/>
            </a:solidFill>
            <a:prstDash val="dash"/>
          </a:ln>
        </p:spPr>
      </p:sp>
      <p:sp>
        <p:nvSpPr>
          <p:cNvPr id="8" name="Text 5"/>
          <p:cNvSpPr txBox="1"/>
          <p:nvPr/>
        </p:nvSpPr>
        <p:spPr>
          <a:xfrm>
            <a:off x="9326880" y="4206240"/>
            <a:ext cx="2286000" cy="1920240"/>
          </a:xfrm>
          <a:prstGeom prst="rect">
            <a:avLst/>
          </a:prstGeom>
          <a:noFill/>
          <a:ln/>
        </p:spPr>
        <p:txBody>
          <a:bodyPr wrap="square" lIns="0" tIns="0" rIns="0" bIns="0" rtlCol="0" anchor="ctr"/>
          <a:lstStyle/>
          <a:p>
            <a:pPr algn="ctr" indent="0" marL="0">
              <a:buNone/>
            </a:pPr>
            <a:r>
              <a:rPr lang="en-US" sz="1400" dirty="0">
                <a:solidFill>
                  <a:srgbClr val="8A96A3"/>
                </a:solidFill>
                <a:latin typeface="Calibri" pitchFamily="34" charset="0"/>
                <a:ea typeface="Calibri" pitchFamily="34" charset="-122"/>
                <a:cs typeface="Calibri" pitchFamily="34" charset="-120"/>
              </a:rPr>
              <a:t>[QR code]</a:t>
            </a:r>
            <a:endParaRPr lang="en-US" sz="1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182880"/>
            <a:ext cx="7315200" cy="274320"/>
          </a:xfrm>
          <a:prstGeom prst="rect">
            <a:avLst/>
          </a:prstGeom>
          <a:noFill/>
          <a:ln/>
        </p:spPr>
        <p:txBody>
          <a:bodyPr wrap="square" lIns="0" tIns="0" rIns="0" bIns="0" rtlCol="0" anchor="ctr"/>
          <a:lstStyle/>
          <a:p>
            <a:pPr indent="0" marL="0">
              <a:buNone/>
            </a:pPr>
            <a:r>
              <a:rPr lang="en-US" sz="1100" b="1" spc="200" kern="0" dirty="0">
                <a:solidFill>
                  <a:srgbClr val="C46A2B"/>
                </a:solidFill>
                <a:latin typeface="Calibri" pitchFamily="34" charset="0"/>
                <a:ea typeface="Calibri" pitchFamily="34" charset="-122"/>
                <a:cs typeface="Calibri" pitchFamily="34" charset="-120"/>
              </a:rPr>
              <a:t>BACKUP</a:t>
            </a:r>
            <a:endParaRPr lang="en-US" sz="1100" dirty="0"/>
          </a:p>
        </p:txBody>
      </p:sp>
      <p:sp>
        <p:nvSpPr>
          <p:cNvPr id="3" name="Text 1"/>
          <p:cNvSpPr txBox="1"/>
          <p:nvPr/>
        </p:nvSpPr>
        <p:spPr>
          <a:xfrm>
            <a:off x="548640" y="411480"/>
            <a:ext cx="11094415" cy="914400"/>
          </a:xfrm>
          <a:prstGeom prst="rect">
            <a:avLst/>
          </a:prstGeom>
          <a:noFill/>
          <a:ln/>
        </p:spPr>
        <p:txBody>
          <a:bodyPr wrap="square" lIns="0" tIns="0" rIns="0" bIns="0" rtlCol="0" anchor="t"/>
          <a:lstStyle/>
          <a:p>
            <a:pPr indent="0" marL="0">
              <a:buNone/>
            </a:pPr>
            <a:r>
              <a:rPr lang="en-US" sz="3400" b="1" dirty="0">
                <a:solidFill>
                  <a:srgbClr val="1B2229"/>
                </a:solidFill>
                <a:latin typeface="Calibri" pitchFamily="34" charset="0"/>
                <a:ea typeface="Calibri" pitchFamily="34" charset="-122"/>
                <a:cs typeface="Calibri" pitchFamily="34" charset="-120"/>
              </a:rPr>
              <a:t>AI on ungoverned data scales the error, not the insight</a:t>
            </a:r>
            <a:endParaRPr lang="en-US" sz="3400" dirty="0"/>
          </a:p>
        </p:txBody>
      </p:sp>
      <p:sp>
        <p:nvSpPr>
          <p:cNvPr id="4" name="Shape 2"/>
          <p:cNvSpPr/>
          <p:nvPr/>
        </p:nvSpPr>
        <p:spPr>
          <a:xfrm>
            <a:off x="548640" y="1691640"/>
            <a:ext cx="5394960" cy="3886200"/>
          </a:xfrm>
          <a:prstGeom prst="rect">
            <a:avLst/>
          </a:prstGeom>
          <a:solidFill>
            <a:srgbClr val="F6E1DE"/>
          </a:solidFill>
          <a:ln w="12700">
            <a:solidFill>
              <a:srgbClr val="F6E1DE"/>
            </a:solidFill>
            <a:prstDash val="solid"/>
          </a:ln>
        </p:spPr>
      </p:sp>
      <p:sp>
        <p:nvSpPr>
          <p:cNvPr id="5" name="Text 3"/>
          <p:cNvSpPr txBox="1"/>
          <p:nvPr/>
        </p:nvSpPr>
        <p:spPr>
          <a:xfrm>
            <a:off x="868680" y="1874520"/>
            <a:ext cx="4754880" cy="502920"/>
          </a:xfrm>
          <a:prstGeom prst="rect">
            <a:avLst/>
          </a:prstGeom>
          <a:noFill/>
          <a:ln/>
        </p:spPr>
        <p:txBody>
          <a:bodyPr wrap="square" lIns="0" tIns="0" rIns="0" bIns="0" rtlCol="0" anchor="ctr"/>
          <a:lstStyle/>
          <a:p>
            <a:pPr indent="0" marL="0">
              <a:buNone/>
            </a:pPr>
            <a:r>
              <a:rPr lang="en-US" sz="2200" b="1" dirty="0">
                <a:solidFill>
                  <a:srgbClr val="A63D32"/>
                </a:solidFill>
                <a:latin typeface="Calibri" pitchFamily="34" charset="0"/>
                <a:ea typeface="Calibri" pitchFamily="34" charset="-122"/>
                <a:cs typeface="Calibri" pitchFamily="34" charset="-120"/>
              </a:rPr>
              <a:t>Without governance</a:t>
            </a:r>
            <a:endParaRPr lang="en-US" sz="2200" dirty="0"/>
          </a:p>
        </p:txBody>
      </p:sp>
      <p:pic>
        <p:nvPicPr>
          <p:cNvPr id="6" name="Image 0" descr="preencoded.png">    </p:cNvPr>
          <p:cNvPicPr>
            <a:picLocks noChangeAspect="1"/>
          </p:cNvPicPr>
          <p:nvPr/>
        </p:nvPicPr>
        <p:blipFill>
          <a:blip r:embed="rId1"/>
          <a:stretch>
            <a:fillRect/>
          </a:stretch>
        </p:blipFill>
        <p:spPr>
          <a:xfrm>
            <a:off x="868680" y="2660904"/>
            <a:ext cx="310896" cy="310896"/>
          </a:xfrm>
          <a:prstGeom prst="rect">
            <a:avLst/>
          </a:prstGeom>
        </p:spPr>
      </p:pic>
      <p:sp>
        <p:nvSpPr>
          <p:cNvPr id="7" name="Text 4"/>
          <p:cNvSpPr txBox="1"/>
          <p:nvPr/>
        </p:nvSpPr>
        <p:spPr>
          <a:xfrm>
            <a:off x="1371600" y="2606040"/>
            <a:ext cx="4297680" cy="685800"/>
          </a:xfrm>
          <a:prstGeom prst="rect">
            <a:avLst/>
          </a:prstGeom>
          <a:noFill/>
          <a:ln/>
        </p:spPr>
        <p:txBody>
          <a:bodyPr wrap="square" lIns="0" tIns="0" rIns="0" bIns="0" rtlCol="0" anchor="t"/>
          <a:lstStyle/>
          <a:p>
            <a:pPr indent="0" marL="0">
              <a:buNone/>
            </a:pPr>
            <a:r>
              <a:rPr lang="en-US" sz="1500" dirty="0">
                <a:solidFill>
                  <a:srgbClr val="1B2229"/>
                </a:solidFill>
                <a:latin typeface="Calibri" pitchFamily="34" charset="0"/>
                <a:ea typeface="Calibri" pitchFamily="34" charset="-122"/>
                <a:cs typeface="Calibri" pitchFamily="34" charset="-120"/>
              </a:rPr>
              <a:t>Risk scores built on mismatched part and supplier IDs</a:t>
            </a:r>
            <a:endParaRPr lang="en-US" sz="1500" dirty="0"/>
          </a:p>
        </p:txBody>
      </p:sp>
      <p:pic>
        <p:nvPicPr>
          <p:cNvPr id="8" name="Image 1" descr="preencoded.png">    </p:cNvPr>
          <p:cNvPicPr>
            <a:picLocks noChangeAspect="1"/>
          </p:cNvPicPr>
          <p:nvPr/>
        </p:nvPicPr>
        <p:blipFill>
          <a:blip r:embed="rId2"/>
          <a:stretch>
            <a:fillRect/>
          </a:stretch>
        </p:blipFill>
        <p:spPr>
          <a:xfrm>
            <a:off x="868680" y="3465576"/>
            <a:ext cx="310896" cy="310896"/>
          </a:xfrm>
          <a:prstGeom prst="rect">
            <a:avLst/>
          </a:prstGeom>
        </p:spPr>
      </p:pic>
      <p:sp>
        <p:nvSpPr>
          <p:cNvPr id="9" name="Text 5"/>
          <p:cNvSpPr txBox="1"/>
          <p:nvPr/>
        </p:nvSpPr>
        <p:spPr>
          <a:xfrm>
            <a:off x="1371600" y="3410712"/>
            <a:ext cx="4297680" cy="685800"/>
          </a:xfrm>
          <a:prstGeom prst="rect">
            <a:avLst/>
          </a:prstGeom>
          <a:noFill/>
          <a:ln/>
        </p:spPr>
        <p:txBody>
          <a:bodyPr wrap="square" lIns="0" tIns="0" rIns="0" bIns="0" rtlCol="0" anchor="t"/>
          <a:lstStyle/>
          <a:p>
            <a:pPr indent="0" marL="0">
              <a:buNone/>
            </a:pPr>
            <a:r>
              <a:rPr lang="en-US" sz="1500" dirty="0">
                <a:solidFill>
                  <a:srgbClr val="1B2229"/>
                </a:solidFill>
                <a:latin typeface="Calibri" pitchFamily="34" charset="0"/>
                <a:ea typeface="Calibri" pitchFamily="34" charset="-122"/>
                <a:cs typeface="Calibri" pitchFamily="34" charset="-120"/>
              </a:rPr>
              <a:t>A clean dashboard hides stale lead times</a:t>
            </a:r>
            <a:endParaRPr lang="en-US" sz="1500" dirty="0"/>
          </a:p>
        </p:txBody>
      </p:sp>
      <p:pic>
        <p:nvPicPr>
          <p:cNvPr id="10" name="Image 2" descr="preencoded.png">    </p:cNvPr>
          <p:cNvPicPr>
            <a:picLocks noChangeAspect="1"/>
          </p:cNvPicPr>
          <p:nvPr/>
        </p:nvPicPr>
        <p:blipFill>
          <a:blip r:embed="rId3"/>
          <a:stretch>
            <a:fillRect/>
          </a:stretch>
        </p:blipFill>
        <p:spPr>
          <a:xfrm>
            <a:off x="868680" y="4270248"/>
            <a:ext cx="310896" cy="310896"/>
          </a:xfrm>
          <a:prstGeom prst="rect">
            <a:avLst/>
          </a:prstGeom>
        </p:spPr>
      </p:pic>
      <p:sp>
        <p:nvSpPr>
          <p:cNvPr id="11" name="Text 6"/>
          <p:cNvSpPr txBox="1"/>
          <p:nvPr/>
        </p:nvSpPr>
        <p:spPr>
          <a:xfrm>
            <a:off x="1371600" y="4215384"/>
            <a:ext cx="4297680" cy="685800"/>
          </a:xfrm>
          <a:prstGeom prst="rect">
            <a:avLst/>
          </a:prstGeom>
          <a:noFill/>
          <a:ln/>
        </p:spPr>
        <p:txBody>
          <a:bodyPr wrap="square" lIns="0" tIns="0" rIns="0" bIns="0" rtlCol="0" anchor="t"/>
          <a:lstStyle/>
          <a:p>
            <a:pPr indent="0" marL="0">
              <a:buNone/>
            </a:pPr>
            <a:r>
              <a:rPr lang="en-US" sz="1500" dirty="0">
                <a:solidFill>
                  <a:srgbClr val="1B2229"/>
                </a:solidFill>
                <a:latin typeface="Calibri" pitchFamily="34" charset="0"/>
                <a:ea typeface="Calibri" pitchFamily="34" charset="-122"/>
                <a:cs typeface="Calibri" pitchFamily="34" charset="-120"/>
              </a:rPr>
              <a:t>No one can explain why a supplier was flagged</a:t>
            </a:r>
            <a:endParaRPr lang="en-US" sz="1500" dirty="0"/>
          </a:p>
        </p:txBody>
      </p:sp>
      <p:pic>
        <p:nvPicPr>
          <p:cNvPr id="12" name="Image 3" descr="preencoded.png">    </p:cNvPr>
          <p:cNvPicPr>
            <a:picLocks noChangeAspect="1"/>
          </p:cNvPicPr>
          <p:nvPr/>
        </p:nvPicPr>
        <p:blipFill>
          <a:blip r:embed="rId4"/>
          <a:stretch>
            <a:fillRect/>
          </a:stretch>
        </p:blipFill>
        <p:spPr>
          <a:xfrm>
            <a:off x="868680" y="5074920"/>
            <a:ext cx="310896" cy="310896"/>
          </a:xfrm>
          <a:prstGeom prst="rect">
            <a:avLst/>
          </a:prstGeom>
        </p:spPr>
      </p:pic>
      <p:sp>
        <p:nvSpPr>
          <p:cNvPr id="13" name="Text 7"/>
          <p:cNvSpPr txBox="1"/>
          <p:nvPr/>
        </p:nvSpPr>
        <p:spPr>
          <a:xfrm>
            <a:off x="1371600" y="5020056"/>
            <a:ext cx="4297680" cy="685800"/>
          </a:xfrm>
          <a:prstGeom prst="rect">
            <a:avLst/>
          </a:prstGeom>
          <a:noFill/>
          <a:ln/>
        </p:spPr>
        <p:txBody>
          <a:bodyPr wrap="square" lIns="0" tIns="0" rIns="0" bIns="0" rtlCol="0" anchor="t"/>
          <a:lstStyle/>
          <a:p>
            <a:pPr indent="0" marL="0">
              <a:buNone/>
            </a:pPr>
            <a:r>
              <a:rPr lang="en-US" sz="1500" dirty="0">
                <a:solidFill>
                  <a:srgbClr val="1B2229"/>
                </a:solidFill>
                <a:latin typeface="Calibri" pitchFamily="34" charset="0"/>
                <a:ea typeface="Calibri" pitchFamily="34" charset="-122"/>
                <a:cs typeface="Calibri" pitchFamily="34" charset="-120"/>
              </a:rPr>
              <a:t>Planners stop trusting it and go back to spreadsheets</a:t>
            </a:r>
            <a:endParaRPr lang="en-US" sz="1500" dirty="0"/>
          </a:p>
        </p:txBody>
      </p:sp>
      <p:sp>
        <p:nvSpPr>
          <p:cNvPr id="14" name="Shape 8"/>
          <p:cNvSpPr/>
          <p:nvPr/>
        </p:nvSpPr>
        <p:spPr>
          <a:xfrm>
            <a:off x="6217920" y="1691640"/>
            <a:ext cx="5394960" cy="3886200"/>
          </a:xfrm>
          <a:prstGeom prst="rect">
            <a:avLst/>
          </a:prstGeom>
          <a:solidFill>
            <a:srgbClr val="DDEFEC"/>
          </a:solidFill>
          <a:ln w="12700">
            <a:solidFill>
              <a:srgbClr val="DDEFEC"/>
            </a:solidFill>
            <a:prstDash val="solid"/>
          </a:ln>
        </p:spPr>
      </p:sp>
      <p:sp>
        <p:nvSpPr>
          <p:cNvPr id="15" name="Text 9"/>
          <p:cNvSpPr txBox="1"/>
          <p:nvPr/>
        </p:nvSpPr>
        <p:spPr>
          <a:xfrm>
            <a:off x="6537960" y="1874520"/>
            <a:ext cx="4754880" cy="502920"/>
          </a:xfrm>
          <a:prstGeom prst="rect">
            <a:avLst/>
          </a:prstGeom>
          <a:noFill/>
          <a:ln/>
        </p:spPr>
        <p:txBody>
          <a:bodyPr wrap="square" lIns="0" tIns="0" rIns="0" bIns="0" rtlCol="0" anchor="ctr"/>
          <a:lstStyle/>
          <a:p>
            <a:pPr indent="0" marL="0">
              <a:buNone/>
            </a:pPr>
            <a:r>
              <a:rPr lang="en-US" sz="2200" b="1" dirty="0">
                <a:solidFill>
                  <a:srgbClr val="2F7F7A"/>
                </a:solidFill>
                <a:latin typeface="Calibri" pitchFamily="34" charset="0"/>
                <a:ea typeface="Calibri" pitchFamily="34" charset="-122"/>
                <a:cs typeface="Calibri" pitchFamily="34" charset="-120"/>
              </a:rPr>
              <a:t>With governance</a:t>
            </a:r>
            <a:endParaRPr lang="en-US" sz="2200" dirty="0"/>
          </a:p>
        </p:txBody>
      </p:sp>
      <p:pic>
        <p:nvPicPr>
          <p:cNvPr id="16" name="Image 4" descr="preencoded.png">    </p:cNvPr>
          <p:cNvPicPr>
            <a:picLocks noChangeAspect="1"/>
          </p:cNvPicPr>
          <p:nvPr/>
        </p:nvPicPr>
        <p:blipFill>
          <a:blip r:embed="rId5"/>
          <a:stretch>
            <a:fillRect/>
          </a:stretch>
        </p:blipFill>
        <p:spPr>
          <a:xfrm>
            <a:off x="6537960" y="2660904"/>
            <a:ext cx="310896" cy="310896"/>
          </a:xfrm>
          <a:prstGeom prst="rect">
            <a:avLst/>
          </a:prstGeom>
        </p:spPr>
      </p:pic>
      <p:sp>
        <p:nvSpPr>
          <p:cNvPr id="17" name="Text 10"/>
          <p:cNvSpPr txBox="1"/>
          <p:nvPr/>
        </p:nvSpPr>
        <p:spPr>
          <a:xfrm>
            <a:off x="7040880" y="2606040"/>
            <a:ext cx="4297680" cy="685800"/>
          </a:xfrm>
          <a:prstGeom prst="rect">
            <a:avLst/>
          </a:prstGeom>
          <a:noFill/>
          <a:ln/>
        </p:spPr>
        <p:txBody>
          <a:bodyPr wrap="square" lIns="0" tIns="0" rIns="0" bIns="0" rtlCol="0" anchor="t"/>
          <a:lstStyle/>
          <a:p>
            <a:pPr indent="0" marL="0">
              <a:buNone/>
            </a:pPr>
            <a:r>
              <a:rPr lang="en-US" sz="1500" dirty="0">
                <a:solidFill>
                  <a:srgbClr val="1B2229"/>
                </a:solidFill>
                <a:latin typeface="Calibri" pitchFamily="34" charset="0"/>
                <a:ea typeface="Calibri" pitchFamily="34" charset="-122"/>
                <a:cs typeface="Calibri" pitchFamily="34" charset="-120"/>
              </a:rPr>
              <a:t>Scores trace back to named, quality-checked sources</a:t>
            </a:r>
            <a:endParaRPr lang="en-US" sz="1500" dirty="0"/>
          </a:p>
        </p:txBody>
      </p:sp>
      <p:pic>
        <p:nvPicPr>
          <p:cNvPr id="18" name="Image 5" descr="preencoded.png">    </p:cNvPr>
          <p:cNvPicPr>
            <a:picLocks noChangeAspect="1"/>
          </p:cNvPicPr>
          <p:nvPr/>
        </p:nvPicPr>
        <p:blipFill>
          <a:blip r:embed="rId6"/>
          <a:stretch>
            <a:fillRect/>
          </a:stretch>
        </p:blipFill>
        <p:spPr>
          <a:xfrm>
            <a:off x="6537960" y="3465576"/>
            <a:ext cx="310896" cy="310896"/>
          </a:xfrm>
          <a:prstGeom prst="rect">
            <a:avLst/>
          </a:prstGeom>
        </p:spPr>
      </p:pic>
      <p:sp>
        <p:nvSpPr>
          <p:cNvPr id="19" name="Text 11"/>
          <p:cNvSpPr txBox="1"/>
          <p:nvPr/>
        </p:nvSpPr>
        <p:spPr>
          <a:xfrm>
            <a:off x="7040880" y="3410712"/>
            <a:ext cx="4297680" cy="685800"/>
          </a:xfrm>
          <a:prstGeom prst="rect">
            <a:avLst/>
          </a:prstGeom>
          <a:noFill/>
          <a:ln/>
        </p:spPr>
        <p:txBody>
          <a:bodyPr wrap="square" lIns="0" tIns="0" rIns="0" bIns="0" rtlCol="0" anchor="t"/>
          <a:lstStyle/>
          <a:p>
            <a:pPr indent="0" marL="0">
              <a:buNone/>
            </a:pPr>
            <a:r>
              <a:rPr lang="en-US" sz="1500" dirty="0">
                <a:solidFill>
                  <a:srgbClr val="1B2229"/>
                </a:solidFill>
                <a:latin typeface="Calibri" pitchFamily="34" charset="0"/>
                <a:ea typeface="Calibri" pitchFamily="34" charset="-122"/>
                <a:cs typeface="Calibri" pitchFamily="34" charset="-120"/>
              </a:rPr>
              <a:t>Input confidence is shown next to every output</a:t>
            </a:r>
            <a:endParaRPr lang="en-US" sz="1500" dirty="0"/>
          </a:p>
        </p:txBody>
      </p:sp>
      <p:pic>
        <p:nvPicPr>
          <p:cNvPr id="20" name="Image 6" descr="preencoded.png">    </p:cNvPr>
          <p:cNvPicPr>
            <a:picLocks noChangeAspect="1"/>
          </p:cNvPicPr>
          <p:nvPr/>
        </p:nvPicPr>
        <p:blipFill>
          <a:blip r:embed="rId7"/>
          <a:stretch>
            <a:fillRect/>
          </a:stretch>
        </p:blipFill>
        <p:spPr>
          <a:xfrm>
            <a:off x="6537960" y="4270248"/>
            <a:ext cx="310896" cy="310896"/>
          </a:xfrm>
          <a:prstGeom prst="rect">
            <a:avLst/>
          </a:prstGeom>
        </p:spPr>
      </p:pic>
      <p:sp>
        <p:nvSpPr>
          <p:cNvPr id="21" name="Text 12"/>
          <p:cNvSpPr txBox="1"/>
          <p:nvPr/>
        </p:nvSpPr>
        <p:spPr>
          <a:xfrm>
            <a:off x="7040880" y="4215384"/>
            <a:ext cx="4297680" cy="685800"/>
          </a:xfrm>
          <a:prstGeom prst="rect">
            <a:avLst/>
          </a:prstGeom>
          <a:noFill/>
          <a:ln/>
        </p:spPr>
        <p:txBody>
          <a:bodyPr wrap="square" lIns="0" tIns="0" rIns="0" bIns="0" rtlCol="0" anchor="t"/>
          <a:lstStyle/>
          <a:p>
            <a:pPr indent="0" marL="0">
              <a:buNone/>
            </a:pPr>
            <a:r>
              <a:rPr lang="en-US" sz="1500" dirty="0">
                <a:solidFill>
                  <a:srgbClr val="1B2229"/>
                </a:solidFill>
                <a:latin typeface="Calibri" pitchFamily="34" charset="0"/>
                <a:ea typeface="Calibri" pitchFamily="34" charset="-122"/>
                <a:cs typeface="Calibri" pitchFamily="34" charset="-120"/>
              </a:rPr>
              <a:t>Models are validated against past disruptions</a:t>
            </a:r>
            <a:endParaRPr lang="en-US" sz="1500" dirty="0"/>
          </a:p>
        </p:txBody>
      </p:sp>
      <p:pic>
        <p:nvPicPr>
          <p:cNvPr id="22" name="Image 7" descr="preencoded.png">    </p:cNvPr>
          <p:cNvPicPr>
            <a:picLocks noChangeAspect="1"/>
          </p:cNvPicPr>
          <p:nvPr/>
        </p:nvPicPr>
        <p:blipFill>
          <a:blip r:embed="rId8"/>
          <a:stretch>
            <a:fillRect/>
          </a:stretch>
        </p:blipFill>
        <p:spPr>
          <a:xfrm>
            <a:off x="6537960" y="5074920"/>
            <a:ext cx="310896" cy="310896"/>
          </a:xfrm>
          <a:prstGeom prst="rect">
            <a:avLst/>
          </a:prstGeom>
        </p:spPr>
      </p:pic>
      <p:sp>
        <p:nvSpPr>
          <p:cNvPr id="23" name="Text 13"/>
          <p:cNvSpPr txBox="1"/>
          <p:nvPr/>
        </p:nvSpPr>
        <p:spPr>
          <a:xfrm>
            <a:off x="7040880" y="5020056"/>
            <a:ext cx="4297680" cy="685800"/>
          </a:xfrm>
          <a:prstGeom prst="rect">
            <a:avLst/>
          </a:prstGeom>
          <a:noFill/>
          <a:ln/>
        </p:spPr>
        <p:txBody>
          <a:bodyPr wrap="square" lIns="0" tIns="0" rIns="0" bIns="0" rtlCol="0" anchor="t"/>
          <a:lstStyle/>
          <a:p>
            <a:pPr indent="0" marL="0">
              <a:buNone/>
            </a:pPr>
            <a:r>
              <a:rPr lang="en-US" sz="1500" dirty="0">
                <a:solidFill>
                  <a:srgbClr val="1B2229"/>
                </a:solidFill>
                <a:latin typeface="Calibri" pitchFamily="34" charset="0"/>
                <a:ea typeface="Calibri" pitchFamily="34" charset="-122"/>
                <a:cs typeface="Calibri" pitchFamily="34" charset="-120"/>
              </a:rPr>
              <a:t>A named person owns each decision the model informs</a:t>
            </a:r>
            <a:endParaRPr lang="en-US" sz="1500" dirty="0"/>
          </a:p>
        </p:txBody>
      </p:sp>
      <p:sp>
        <p:nvSpPr>
          <p:cNvPr id="24" name="Text 14"/>
          <p:cNvSpPr txBox="1"/>
          <p:nvPr/>
        </p:nvSpPr>
        <p:spPr>
          <a:xfrm>
            <a:off x="8899855" y="6446520"/>
            <a:ext cx="2743200" cy="228600"/>
          </a:xfrm>
          <a:prstGeom prst="rect">
            <a:avLst/>
          </a:prstGeom>
          <a:noFill/>
          <a:ln/>
        </p:spPr>
        <p:txBody>
          <a:bodyPr wrap="square" lIns="0" tIns="0" rIns="0" bIns="0" rtlCol="0" anchor="ctr"/>
          <a:lstStyle/>
          <a:p>
            <a:pPr algn="r" indent="0" marL="0">
              <a:buNone/>
            </a:pPr>
            <a:r>
              <a:rPr lang="en-US" sz="900" dirty="0">
                <a:solidFill>
                  <a:srgbClr val="8A96A3"/>
                </a:solidFill>
                <a:latin typeface="Calibri" pitchFamily="34" charset="0"/>
                <a:ea typeface="Calibri" pitchFamily="34" charset="-122"/>
                <a:cs typeface="Calibri" pitchFamily="34" charset="-120"/>
              </a:rPr>
              <a:t>SEMICON West  |  17</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182880"/>
            <a:ext cx="7315200" cy="274320"/>
          </a:xfrm>
          <a:prstGeom prst="rect">
            <a:avLst/>
          </a:prstGeom>
          <a:noFill/>
          <a:ln/>
        </p:spPr>
        <p:txBody>
          <a:bodyPr wrap="square" lIns="0" tIns="0" rIns="0" bIns="0" rtlCol="0" anchor="ctr"/>
          <a:lstStyle/>
          <a:p>
            <a:pPr indent="0" marL="0">
              <a:buNone/>
            </a:pPr>
            <a:r>
              <a:rPr lang="en-US" sz="1100" b="1" spc="200" kern="0" dirty="0">
                <a:solidFill>
                  <a:srgbClr val="C46A2B"/>
                </a:solidFill>
                <a:latin typeface="Calibri" pitchFamily="34" charset="0"/>
                <a:ea typeface="Calibri" pitchFamily="34" charset="-122"/>
                <a:cs typeface="Calibri" pitchFamily="34" charset="-120"/>
              </a:rPr>
              <a:t>APPENDIX</a:t>
            </a:r>
            <a:endParaRPr lang="en-US" sz="1100" dirty="0"/>
          </a:p>
        </p:txBody>
      </p:sp>
      <p:sp>
        <p:nvSpPr>
          <p:cNvPr id="3" name="Text 1"/>
          <p:cNvSpPr txBox="1"/>
          <p:nvPr/>
        </p:nvSpPr>
        <p:spPr>
          <a:xfrm>
            <a:off x="548640" y="411480"/>
            <a:ext cx="11094415" cy="914400"/>
          </a:xfrm>
          <a:prstGeom prst="rect">
            <a:avLst/>
          </a:prstGeom>
          <a:noFill/>
          <a:ln/>
        </p:spPr>
        <p:txBody>
          <a:bodyPr wrap="square" lIns="0" tIns="0" rIns="0" bIns="0" rtlCol="0" anchor="t"/>
          <a:lstStyle/>
          <a:p>
            <a:pPr indent="0" marL="0">
              <a:buNone/>
            </a:pPr>
            <a:r>
              <a:rPr lang="en-US" sz="3400" b="1" dirty="0">
                <a:solidFill>
                  <a:srgbClr val="1B2229"/>
                </a:solidFill>
                <a:latin typeface="Calibri" pitchFamily="34" charset="0"/>
                <a:ea typeface="Calibri" pitchFamily="34" charset="-122"/>
                <a:cs typeface="Calibri" pitchFamily="34" charset="-120"/>
              </a:rPr>
              <a:t>Sources</a:t>
            </a:r>
            <a:endParaRPr lang="en-US" sz="3400" dirty="0"/>
          </a:p>
        </p:txBody>
      </p:sp>
      <p:sp>
        <p:nvSpPr>
          <p:cNvPr id="4" name="Text 2"/>
          <p:cNvSpPr txBox="1"/>
          <p:nvPr/>
        </p:nvSpPr>
        <p:spPr>
          <a:xfrm>
            <a:off x="548640" y="1554480"/>
            <a:ext cx="11094415" cy="4572000"/>
          </a:xfrm>
          <a:prstGeom prst="rect">
            <a:avLst/>
          </a:prstGeom>
          <a:noFill/>
          <a:ln/>
        </p:spPr>
        <p:txBody>
          <a:bodyPr wrap="square" lIns="0" tIns="0" rIns="0" bIns="0" rtlCol="0" anchor="t"/>
          <a:lstStyle/>
          <a:p>
            <a:pPr indent="0" marL="0">
              <a:spcAft>
                <a:spcPts val="500"/>
              </a:spcAft>
              <a:buNone/>
            </a:pPr>
            <a:r>
              <a:rPr lang="en-US" sz="1100" dirty="0">
                <a:solidFill>
                  <a:srgbClr val="1B2229"/>
                </a:solidFill>
                <a:latin typeface="Calibri" pitchFamily="34" charset="0"/>
                <a:ea typeface="Calibri" pitchFamily="34" charset="-122"/>
                <a:cs typeface="Calibri" pitchFamily="34" charset="-120"/>
              </a:rPr>
              <a:t>SIA &amp; BCG (May 2024). Emerging Resilience in the Semiconductor Supply Chain. </a:t>
            </a:r>
            <a:pPr indent="0" marL="0">
              <a:spcAft>
                <a:spcPts val="500"/>
              </a:spcAft>
              <a:buNone/>
            </a:pPr>
            <a:r>
              <a:rPr lang="en-US" sz="1100" u="sng" dirty="0">
                <a:solidFill>
                  <a:srgbClr val="2F7F7A"/>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https://www.semiconductors.org/emerging-resilience-in-the-semiconductor-supply-chain/</a:t>
            </a:r>
            <a:endParaRPr lang="en-US" sz="1100" dirty="0"/>
          </a:p>
          <a:p>
            <a:pPr indent="0" marL="0">
              <a:spcAft>
                <a:spcPts val="500"/>
              </a:spcAft>
              <a:buNone/>
            </a:pPr>
            <a:r>
              <a:rPr lang="en-US" sz="1100" dirty="0">
                <a:solidFill>
                  <a:srgbClr val="1B2229"/>
                </a:solidFill>
                <a:latin typeface="Calibri" pitchFamily="34" charset="0"/>
                <a:ea typeface="Calibri" pitchFamily="34" charset="-122"/>
                <a:cs typeface="Calibri" pitchFamily="34" charset="-120"/>
              </a:rPr>
              <a:t>USGS (2025). Mineral Commodity Summaries 2025: Gallium; Germanium. </a:t>
            </a:r>
            <a:pPr indent="0" marL="0">
              <a:spcAft>
                <a:spcPts val="500"/>
              </a:spcAft>
              <a:buNone/>
            </a:pPr>
            <a:r>
              <a:rPr lang="en-US" sz="1100" u="sng" dirty="0">
                <a:solidFill>
                  <a:srgbClr val="2F7F7A"/>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https://pubs.usgs.gov/publication/mcs2025</a:t>
            </a:r>
            <a:endParaRPr lang="en-US" sz="1100" dirty="0"/>
          </a:p>
          <a:p>
            <a:pPr indent="0" marL="0">
              <a:spcAft>
                <a:spcPts val="500"/>
              </a:spcAft>
              <a:buNone/>
            </a:pPr>
            <a:r>
              <a:rPr lang="en-US" sz="1100" dirty="0">
                <a:solidFill>
                  <a:srgbClr val="1B2229"/>
                </a:solidFill>
                <a:latin typeface="Calibri" pitchFamily="34" charset="0"/>
                <a:ea typeface="Calibri" pitchFamily="34" charset="-122"/>
                <a:cs typeface="Calibri" pitchFamily="34" charset="-120"/>
              </a:rPr>
              <a:t>Gartner (Feb 5, 2025). Supply chain GenAI productivity gains survey. </a:t>
            </a:r>
            <a:pPr indent="0" marL="0">
              <a:spcAft>
                <a:spcPts val="500"/>
              </a:spcAft>
              <a:buNone/>
            </a:pPr>
            <a:r>
              <a:rPr lang="en-US" sz="1100" u="sng" dirty="0">
                <a:solidFill>
                  <a:srgbClr val="2F7F7A"/>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https://www.gartner.com/en/newsroom/press-releases/2025-02-05-gartner-survey-supply-chain-genai-productivity-gains-at-individual-level-while-creating-new-complications-for-organizations</a:t>
            </a:r>
            <a:endParaRPr lang="en-US" sz="1100" dirty="0"/>
          </a:p>
          <a:p>
            <a:pPr indent="0" marL="0">
              <a:spcAft>
                <a:spcPts val="500"/>
              </a:spcAft>
              <a:buNone/>
            </a:pPr>
            <a:r>
              <a:rPr lang="en-US" sz="1100" dirty="0">
                <a:solidFill>
                  <a:srgbClr val="1B2229"/>
                </a:solidFill>
                <a:latin typeface="Calibri" pitchFamily="34" charset="0"/>
                <a:ea typeface="Calibri" pitchFamily="34" charset="-122"/>
                <a:cs typeface="Calibri" pitchFamily="34" charset="-120"/>
              </a:rPr>
              <a:t>Gartner (Jun 11, 2025). Just 23% of supply chain organizations have a formal AI strategy. </a:t>
            </a:r>
            <a:pPr indent="0" marL="0">
              <a:spcAft>
                <a:spcPts val="500"/>
              </a:spcAft>
              <a:buNone/>
            </a:pPr>
            <a:r>
              <a:rPr lang="en-US" sz="1100" u="sng" dirty="0">
                <a:solidFill>
                  <a:srgbClr val="2F7F7A"/>
                </a:solidFill>
                <a:latin typeface="Calibri" pitchFamily="34" charset="0"/>
                <a:ea typeface="Calibri" pitchFamily="34" charset="-122"/>
                <a:cs typeface="Calibri" pitchFamily="34" charset="-120"/>
                <a:hlinkClick r:id="rId4" invalidUrl="" action="" tgtFrame="" tooltip="" history="1" highlightClick="0" endSnd="0">
                  <a:extLst>
                    <a:ext uri="{A12FA001-AC4F-418D-AE19-62706E023703}">
                      <ahyp:hlinkClr xmlns:ahyp="http://schemas.microsoft.com/office/drawing/2018/hyperlinkcolor" val="tx"/>
                    </a:ext>
                  </a:extLst>
                </a:hlinkClick>
              </a:rPr>
              <a:t>https://www.gartner.com/en/newsroom/2025-06-11-gartner-survey-shows-just-23-percent-of-supply-chain-organizations-have-a-formal-ai-strategy</a:t>
            </a:r>
            <a:endParaRPr lang="en-US" sz="1100" dirty="0"/>
          </a:p>
          <a:p>
            <a:pPr indent="0" marL="0">
              <a:spcAft>
                <a:spcPts val="500"/>
              </a:spcAft>
              <a:buNone/>
            </a:pPr>
            <a:r>
              <a:rPr lang="en-US" sz="1100" dirty="0">
                <a:solidFill>
                  <a:srgbClr val="1B2229"/>
                </a:solidFill>
                <a:latin typeface="Calibri" pitchFamily="34" charset="0"/>
                <a:ea typeface="Calibri" pitchFamily="34" charset="-122"/>
                <a:cs typeface="Calibri" pitchFamily="34" charset="-120"/>
              </a:rPr>
              <a:t>McKinsey (2021). Succeeding in the AI supply-chain revolution. </a:t>
            </a:r>
            <a:pPr indent="0" marL="0">
              <a:spcAft>
                <a:spcPts val="500"/>
              </a:spcAft>
              <a:buNone/>
            </a:pPr>
            <a:r>
              <a:rPr lang="en-US" sz="1100" u="sng" dirty="0">
                <a:solidFill>
                  <a:srgbClr val="2F7F7A"/>
                </a:solidFill>
                <a:latin typeface="Calibri" pitchFamily="34" charset="0"/>
                <a:ea typeface="Calibri" pitchFamily="34" charset="-122"/>
                <a:cs typeface="Calibri" pitchFamily="34" charset="-120"/>
                <a:hlinkClick r:id="rId5" invalidUrl="" action="" tgtFrame="" tooltip="" history="1" highlightClick="0" endSnd="0">
                  <a:extLst>
                    <a:ext uri="{A12FA001-AC4F-418D-AE19-62706E023703}">
                      <ahyp:hlinkClr xmlns:ahyp="http://schemas.microsoft.com/office/drawing/2018/hyperlinkcolor" val="tx"/>
                    </a:ext>
                  </a:extLst>
                </a:hlinkClick>
              </a:rPr>
              <a:t>https://www.mckinsey.com/industries/metals-and-mining/our-insights/succeeding-in-the-ai-supply-chain-revolution</a:t>
            </a:r>
            <a:endParaRPr lang="en-US" sz="1100" dirty="0"/>
          </a:p>
          <a:p>
            <a:pPr indent="0" marL="0">
              <a:spcAft>
                <a:spcPts val="500"/>
              </a:spcAft>
              <a:buNone/>
            </a:pPr>
            <a:r>
              <a:rPr lang="en-US" sz="1100" dirty="0">
                <a:solidFill>
                  <a:srgbClr val="1B2229"/>
                </a:solidFill>
                <a:latin typeface="Calibri" pitchFamily="34" charset="0"/>
                <a:ea typeface="Calibri" pitchFamily="34" charset="-122"/>
                <a:cs typeface="Calibri" pitchFamily="34" charset="-120"/>
              </a:rPr>
              <a:t>Synergy (2025). Strengthening the global semiconductor supply chain in 2025. </a:t>
            </a:r>
            <a:pPr indent="0" marL="0">
              <a:spcAft>
                <a:spcPts val="500"/>
              </a:spcAft>
              <a:buNone/>
            </a:pPr>
            <a:r>
              <a:rPr lang="en-US" sz="1100" u="sng" dirty="0">
                <a:solidFill>
                  <a:srgbClr val="2F7F7A"/>
                </a:solidFill>
                <a:latin typeface="Calibri" pitchFamily="34" charset="0"/>
                <a:ea typeface="Calibri" pitchFamily="34" charset="-122"/>
                <a:cs typeface="Calibri" pitchFamily="34" charset="-120"/>
                <a:hlinkClick r:id="rId6" invalidUrl="" action="" tgtFrame="" tooltip="" history="1" highlightClick="0" endSnd="0">
                  <a:extLst>
                    <a:ext uri="{A12FA001-AC4F-418D-AE19-62706E023703}">
                      <ahyp:hlinkClr xmlns:ahyp="http://schemas.microsoft.com/office/drawing/2018/hyperlinkcolor" val="tx"/>
                    </a:ext>
                  </a:extLst>
                </a:hlinkClick>
              </a:rPr>
              <a:t>https://synergy-inc.com/blogs/strengthening-the-global-semiconductor-supply-chain-challenges-and-opportunities-in-2025-2</a:t>
            </a:r>
            <a:endParaRPr lang="en-US" sz="1100" dirty="0"/>
          </a:p>
          <a:p>
            <a:pPr indent="0" marL="0">
              <a:spcAft>
                <a:spcPts val="500"/>
              </a:spcAft>
              <a:buNone/>
            </a:pPr>
            <a:r>
              <a:rPr lang="en-US" sz="1100" dirty="0">
                <a:solidFill>
                  <a:srgbClr val="1B2229"/>
                </a:solidFill>
                <a:latin typeface="Calibri" pitchFamily="34" charset="0"/>
                <a:ea typeface="Calibri" pitchFamily="34" charset="-122"/>
                <a:cs typeface="Calibri" pitchFamily="34" charset="-120"/>
              </a:rPr>
              <a:t>Exiger. Chip challenges: semiconductors and supply chain risks. </a:t>
            </a:r>
            <a:pPr indent="0" marL="0">
              <a:spcAft>
                <a:spcPts val="500"/>
              </a:spcAft>
              <a:buNone/>
            </a:pPr>
            <a:r>
              <a:rPr lang="en-US" sz="1100" u="sng" dirty="0">
                <a:solidFill>
                  <a:srgbClr val="2F7F7A"/>
                </a:solidFill>
                <a:latin typeface="Calibri" pitchFamily="34" charset="0"/>
                <a:ea typeface="Calibri" pitchFamily="34" charset="-122"/>
                <a:cs typeface="Calibri" pitchFamily="34" charset="-120"/>
                <a:hlinkClick r:id="rId7" invalidUrl="" action="" tgtFrame="" tooltip="" history="1" highlightClick="0" endSnd="0">
                  <a:extLst>
                    <a:ext uri="{A12FA001-AC4F-418D-AE19-62706E023703}">
                      <ahyp:hlinkClr xmlns:ahyp="http://schemas.microsoft.com/office/drawing/2018/hyperlinkcolor" val="tx"/>
                    </a:ext>
                  </a:extLst>
                </a:hlinkClick>
              </a:rPr>
              <a:t>https://www.exiger.com/perspectives/chip-challenges-semiconductors-and-supply-chain-risks/</a:t>
            </a:r>
            <a:endParaRPr lang="en-US" sz="1100" dirty="0"/>
          </a:p>
          <a:p>
            <a:pPr indent="0" marL="0">
              <a:spcAft>
                <a:spcPts val="500"/>
              </a:spcAft>
              <a:buNone/>
            </a:pPr>
            <a:r>
              <a:rPr lang="en-US" sz="1100" dirty="0">
                <a:solidFill>
                  <a:srgbClr val="1B2229"/>
                </a:solidFill>
                <a:latin typeface="Calibri" pitchFamily="34" charset="0"/>
                <a:ea typeface="Calibri" pitchFamily="34" charset="-122"/>
                <a:cs typeface="Calibri" pitchFamily="34" charset="-120"/>
              </a:rPr>
              <a:t>Wiley Online Library, article app5.70046. </a:t>
            </a:r>
            <a:pPr indent="0" marL="0">
              <a:spcAft>
                <a:spcPts val="500"/>
              </a:spcAft>
              <a:buNone/>
            </a:pPr>
            <a:r>
              <a:rPr lang="en-US" sz="1100" u="sng" dirty="0">
                <a:solidFill>
                  <a:srgbClr val="2F7F7A"/>
                </a:solidFill>
                <a:latin typeface="Calibri" pitchFamily="34" charset="0"/>
                <a:ea typeface="Calibri" pitchFamily="34" charset="-122"/>
                <a:cs typeface="Calibri" pitchFamily="34" charset="-120"/>
                <a:hlinkClick r:id="rId8" invalidUrl="" action="" tgtFrame="" tooltip="" history="1" highlightClick="0" endSnd="0">
                  <a:extLst>
                    <a:ext uri="{A12FA001-AC4F-418D-AE19-62706E023703}">
                      <ahyp:hlinkClr xmlns:ahyp="http://schemas.microsoft.com/office/drawing/2018/hyperlinkcolor" val="tx"/>
                    </a:ext>
                  </a:extLst>
                </a:hlinkClick>
              </a:rPr>
              <a:t>https://onlinelibrary.wiley.com/doi/full/10.1002/app5.70046</a:t>
            </a:r>
            <a:endParaRPr lang="en-US" sz="1100" dirty="0"/>
          </a:p>
          <a:p>
            <a:pPr indent="0" marL="0">
              <a:spcAft>
                <a:spcPts val="500"/>
              </a:spcAft>
              <a:buNone/>
            </a:pPr>
            <a:r>
              <a:rPr lang="en-US" sz="1100" dirty="0">
                <a:solidFill>
                  <a:srgbClr val="1B2229"/>
                </a:solidFill>
                <a:latin typeface="Calibri" pitchFamily="34" charset="0"/>
                <a:ea typeface="Calibri" pitchFamily="34" charset="-122"/>
                <a:cs typeface="Calibri" pitchFamily="34" charset="-120"/>
              </a:rPr>
              <a:t>Altium. Supply chain resilience, AI demand, and the semiconductor shortage. </a:t>
            </a:r>
            <a:pPr indent="0" marL="0">
              <a:spcAft>
                <a:spcPts val="500"/>
              </a:spcAft>
              <a:buNone/>
            </a:pPr>
            <a:r>
              <a:rPr lang="en-US" sz="1100" u="sng" dirty="0">
                <a:solidFill>
                  <a:srgbClr val="2F7F7A"/>
                </a:solidFill>
                <a:latin typeface="Calibri" pitchFamily="34" charset="0"/>
                <a:ea typeface="Calibri" pitchFamily="34" charset="-122"/>
                <a:cs typeface="Calibri" pitchFamily="34" charset="-120"/>
                <a:hlinkClick r:id="rId9" invalidUrl="" action="" tgtFrame="" tooltip="" history="1" highlightClick="0" endSnd="0">
                  <a:extLst>
                    <a:ext uri="{A12FA001-AC4F-418D-AE19-62706E023703}">
                      <ahyp:hlinkClr xmlns:ahyp="http://schemas.microsoft.com/office/drawing/2018/hyperlinkcolor" val="tx"/>
                    </a:ext>
                  </a:extLst>
                </a:hlinkClick>
              </a:rPr>
              <a:t>https://resources.altium.com/p/supply-chain-resilience-ai-demand-semiconductor-shortage</a:t>
            </a:r>
            <a:endParaRPr lang="en-US" sz="1100" dirty="0"/>
          </a:p>
          <a:p>
            <a:pPr indent="0" marL="0">
              <a:spcAft>
                <a:spcPts val="500"/>
              </a:spcAft>
              <a:buNone/>
            </a:pPr>
            <a:r>
              <a:rPr lang="en-US" sz="1100" dirty="0">
                <a:solidFill>
                  <a:srgbClr val="1B2229"/>
                </a:solidFill>
                <a:latin typeface="Calibri" pitchFamily="34" charset="0"/>
                <a:ea typeface="Calibri" pitchFamily="34" charset="-122"/>
                <a:cs typeface="Calibri" pitchFamily="34" charset="-120"/>
              </a:rPr>
              <a:t>Fox Business video on AI-driven supply chain mapping. </a:t>
            </a:r>
            <a:pPr indent="0" marL="0">
              <a:spcAft>
                <a:spcPts val="500"/>
              </a:spcAft>
              <a:buNone/>
            </a:pPr>
            <a:r>
              <a:rPr lang="en-US" sz="1100" u="sng" dirty="0">
                <a:solidFill>
                  <a:srgbClr val="2F7F7A"/>
                </a:solidFill>
                <a:latin typeface="Calibri" pitchFamily="34" charset="0"/>
                <a:ea typeface="Calibri" pitchFamily="34" charset="-122"/>
                <a:cs typeface="Calibri" pitchFamily="34" charset="-120"/>
                <a:hlinkClick r:id="rId10" invalidUrl="" action="" tgtFrame="" tooltip="" history="1" highlightClick="0" endSnd="0">
                  <a:extLst>
                    <a:ext uri="{A12FA001-AC4F-418D-AE19-62706E023703}">
                      <ahyp:hlinkClr xmlns:ahyp="http://schemas.microsoft.com/office/drawing/2018/hyperlinkcolor" val="tx"/>
                    </a:ext>
                  </a:extLst>
                </a:hlinkClick>
              </a:rPr>
              <a:t>https://www.foxbusiness.com/video/6394872288112</a:t>
            </a:r>
            <a:endParaRPr lang="en-US" sz="1100" dirty="0"/>
          </a:p>
          <a:p>
            <a:pPr indent="0" marL="0">
              <a:spcAft>
                <a:spcPts val="500"/>
              </a:spcAft>
              <a:buNone/>
            </a:pPr>
            <a:r>
              <a:rPr lang="en-US" sz="1100" dirty="0">
                <a:solidFill>
                  <a:srgbClr val="1B2229"/>
                </a:solidFill>
                <a:latin typeface="Calibri" pitchFamily="34" charset="0"/>
                <a:ea typeface="Calibri" pitchFamily="34" charset="-122"/>
                <a:cs typeface="Calibri" pitchFamily="34" charset="-120"/>
              </a:rPr>
              <a:t>NIST AI Risk Management Framework. </a:t>
            </a:r>
            <a:pPr indent="0" marL="0">
              <a:spcAft>
                <a:spcPts val="500"/>
              </a:spcAft>
              <a:buNone/>
            </a:pPr>
            <a:r>
              <a:rPr lang="en-US" sz="1100" u="sng" dirty="0">
                <a:solidFill>
                  <a:srgbClr val="2F7F7A"/>
                </a:solidFill>
                <a:latin typeface="Calibri" pitchFamily="34" charset="0"/>
                <a:ea typeface="Calibri" pitchFamily="34" charset="-122"/>
                <a:cs typeface="Calibri" pitchFamily="34" charset="-120"/>
                <a:hlinkClick r:id="rId11" invalidUrl="" action="" tgtFrame="" tooltip="" history="1" highlightClick="0" endSnd="0">
                  <a:extLst>
                    <a:ext uri="{A12FA001-AC4F-418D-AE19-62706E023703}">
                      <ahyp:hlinkClr xmlns:ahyp="http://schemas.microsoft.com/office/drawing/2018/hyperlinkcolor" val="tx"/>
                    </a:ext>
                  </a:extLst>
                </a:hlinkClick>
              </a:rPr>
              <a:t>https://www.nist.gov/itl/ai-risk-management-framework</a:t>
            </a:r>
            <a:endParaRPr lang="en-US" sz="1100" dirty="0"/>
          </a:p>
          <a:p>
            <a:pPr indent="0" marL="0">
              <a:spcAft>
                <a:spcPts val="500"/>
              </a:spcAft>
              <a:buNone/>
            </a:pPr>
            <a:r>
              <a:rPr lang="en-US" sz="1100" dirty="0">
                <a:solidFill>
                  <a:srgbClr val="1B2229"/>
                </a:solidFill>
                <a:latin typeface="Calibri" pitchFamily="34" charset="0"/>
                <a:ea typeface="Calibri" pitchFamily="34" charset="-122"/>
                <a:cs typeface="Calibri" pitchFamily="34" charset="-120"/>
              </a:rPr>
              <a:t>ISO/IEC 42001: AI management systems. </a:t>
            </a:r>
            <a:pPr indent="0" marL="0">
              <a:spcAft>
                <a:spcPts val="500"/>
              </a:spcAft>
              <a:buNone/>
            </a:pPr>
            <a:r>
              <a:rPr lang="en-US" sz="1100" u="sng" dirty="0">
                <a:solidFill>
                  <a:srgbClr val="2F7F7A"/>
                </a:solidFill>
                <a:latin typeface="Calibri" pitchFamily="34" charset="0"/>
                <a:ea typeface="Calibri" pitchFamily="34" charset="-122"/>
                <a:cs typeface="Calibri" pitchFamily="34" charset="-120"/>
                <a:hlinkClick r:id="rId12" invalidUrl="" action="" tgtFrame="" tooltip="" history="1" highlightClick="0" endSnd="0">
                  <a:extLst>
                    <a:ext uri="{A12FA001-AC4F-418D-AE19-62706E023703}">
                      <ahyp:hlinkClr xmlns:ahyp="http://schemas.microsoft.com/office/drawing/2018/hyperlinkcolor" val="tx"/>
                    </a:ext>
                  </a:extLst>
                </a:hlinkClick>
              </a:rPr>
              <a:t>https://www.iso.org/standard/81230.html</a:t>
            </a:r>
            <a:endParaRPr lang="en-US" sz="1100" dirty="0"/>
          </a:p>
        </p:txBody>
      </p:sp>
      <p:sp>
        <p:nvSpPr>
          <p:cNvPr id="5" name="Text 3"/>
          <p:cNvSpPr txBox="1"/>
          <p:nvPr/>
        </p:nvSpPr>
        <p:spPr>
          <a:xfrm>
            <a:off x="8899855" y="6446520"/>
            <a:ext cx="2743200" cy="228600"/>
          </a:xfrm>
          <a:prstGeom prst="rect">
            <a:avLst/>
          </a:prstGeom>
          <a:noFill/>
          <a:ln/>
        </p:spPr>
        <p:txBody>
          <a:bodyPr wrap="square" lIns="0" tIns="0" rIns="0" bIns="0" rtlCol="0" anchor="ctr"/>
          <a:lstStyle/>
          <a:p>
            <a:pPr algn="r" indent="0" marL="0">
              <a:buNone/>
            </a:pPr>
            <a:r>
              <a:rPr lang="en-US" sz="900" dirty="0">
                <a:solidFill>
                  <a:srgbClr val="8A96A3"/>
                </a:solidFill>
                <a:latin typeface="Calibri" pitchFamily="34" charset="0"/>
                <a:ea typeface="Calibri" pitchFamily="34" charset="-122"/>
                <a:cs typeface="Calibri" pitchFamily="34" charset="-120"/>
              </a:rPr>
              <a:t>SEMICON West  |  18</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Addressing the risks associated with the global semiconductor supply chain</dc:title>
  <dc:subject>PptxGenJS Presentation</dc:subject>
  <dc:creator>PptxGenJS</dc:creator>
  <cp:lastModifiedBy>PptxGenJS</cp:lastModifiedBy>
  <cp:revision>1</cp:revision>
  <dcterms:created xsi:type="dcterms:W3CDTF">2026-09-28T11:45:49Z</dcterms:created>
  <dcterms:modified xsi:type="dcterms:W3CDTF">2026-09-28T11:45:49Z</dcterms:modified>
</cp:coreProperties>
</file>