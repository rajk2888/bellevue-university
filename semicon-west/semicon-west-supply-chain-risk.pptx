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to 0:40] Good morning, everyone. I'm [your name], [your role] at [your company]. For the next fifteen minutes I want to talk about where our supply chain is fragile, why better data alone hasn't fixed it, and how data and AI governance can help us see risk sooner and act on it with confidence. I'll leave about five minutes at the end for your questions. My background is in supply chain and data, so I'll keep this practical. Everything I'll show you is something a team can start on without a big new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to 1:45] Picture a supplier two tiers below you. You don't have a contract with them, and you may not know their name. Their plant goes down. Your tier 1 supplier finds out days later and puts the material on allocation. By the time it reaches your planners, the lead times in the system are already wrong, and the first signal many of us get is a customer ship date we're about to miss. This is an illustrative scenario, but most people in this room have lived some version of it. [Optional: swap in a real disruption you can speak to.] The pattern is what matters. The failure starts where we can see the least, and the delay comes from data we either don't have or don't trust. Keep this picture in mind, because I'll come back to it near the end and show how it plays out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to 2:50] Here's the chain at a very high level: design, materials and gases, equipment, the fab, assembly and test, and then our customers. Over decades we've optimized each of these steps for cost and performance, and that specialization is why the industry works. It's also why it's fragile. For a lot of inputs there are only a few qualified sources, and qualifying a new one can take months or longer. And each hand-off can cross a border, so a single product may carry exposure to several countries' policies, ports, and local events. Efficiency and fragility came from the same choices. I'm not arguing we should undo that specialization. It's what lets us build chips at all. The point is that when it breaks, it tends to break at a small number of places, and those are the places we need to understand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to 4:15] When I map risk, I group it into six types. Concentration comes first, because it multiplies everything else: sole-source inputs, or one site that feeds many of your products. Then geopolitics and trade, which covers export controls, entity lists, and tariffs. Natural hazards and utilities, meaning earthquakes, storms, drought, and power or water at key sites. Logistics delays for time-critical materials. Demand swings, where forecast whiplash turns into over-ordering and then shortages. And cyber and IP risk, both attacks on suppliers and leaks of the very data we'd need to share to manage the rest. None of these is new. What matters is that they tend to pile up on the same few nodes. A sole-source supplier in a region with trade exposure and seismic risk is a very different problem from any one of those alone. So the practical question is how we find those nodes before they find us. In most companies I've worked with, each of these risks has a different owner. Trade compliance watches export rules, logistics watches ports, and procurement watches suppliers. Nobody sees the overlap, and the overlap is where the real exposure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 to 5:15] Here's the uncomfortable part. We manage tier 1 well: contracts, purchase orders, scorecards, quarterly reviews. Tier 2 is whatever tier 1 chooses to tell us, and it's usually partial. Tier 3 and below, the raw materials, specialty gases, and sub-components, is mostly dark. And that's often exactly where the sole sources are. You don't need to map the whole tree. You need to decide which sub-tier nodes sit under your most critical parts, and then go get that data on purpose. That's a scoping decision before it's a technology decision. Start with the parts where a shortage would stop a line or break a customer commitment, and work down from there. A short, accurate map beats a complete one that nobody maintains. Which brings me to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 to 6:25] When I talk to supply chain teams, the problem is rarely a total lack of data. It sits in ERP and MRP, supplier portals, logistics feeds, MES and quality systems, and outside sources like news and trade data. The trouble is joining it up. The same part or supplier has different IDs in different systems. Nobody can say where a lead time came from or when it was last accurate. Master data like planned lead times and approved sources drifts away from reality between reviews. And partners hold back, because nobody ever agreed how shared data would be used, who could see it, or how long it would be kept. Every one of those is a governance problem more than a technology problem. Buying another tool won't fix mismatched IDs or missing agreements. Someone has to decide which ID is the master, who owns it, and what we promise partners about their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[6:25 to 7:35] This is why I worry about adding AI too early. If you train a risk model on mismatched IDs and stale lead times, you don't get insight. You get the same errors, faster, on a nicer dashboard. And when nobody can explain why a supplier was flagged, planners quietly go back to their spreadsheets. With governance, every score traces back to named sources, you can see how confident the inputs are, the model has been tested against disruptions you've already lived through, and a named person owns the decision. That's the difference between a tool people use and one they work around. I've seen well-built models get switched off within months, and the model was rarely the reason. People didn't trust the data under it, and nobody had agreed who acted on its output. So the order matters. Fix the data and the decision rights first, then scale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[7:35 to 8:55] So what do I mean by data and AI governance? I think of it as four layers, and you build from the bottom. The data foundation is common IDs for parts and suppliers, lineage so you know where a number came from, quality checks on the fields that drive risk decisions, and an owner for each critical record. On top of that, access and sharing: least-privilege access, data-use agreements with suppliers, and audit trails, because a map of your sole sources is sensitive data in its own right. Then AI model risk: validate models against events you've already lived through, monitor for drift, make outputs explainable, and log prompts and outputs for generative tools. And at the top, human oversight. Who decides, who gets escalated to, and who owns each action. If you skip a layer, the ones above it don't hold. Most teams want to start at the AI layer because that's where the excitement is. The work that pays off first is usually at the bottom, in the master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[8:55 to 10:05] Governance only earns its keep if you can tie each control to a risk it reduces and a number that shows it's working. For sole-source concentration, the control is a sub-tier map with a named owner for each critical part, and the measure is how many of those parts you can see down to tier 3. For an export control or trade change, it's clean classification of items and parties plus current country-of-origin data. The measure is how many hours it takes to go from a rule change to a report of what's affected. For demand swings, shared forecasts under agreed access terms, measured by forecast error and order variability. For AI, validate against past disruptions and monitor drift, then watch how often planners override the model and why. And for suppliers who won't share, data-use agreements and audit logs, measured by how many critical suppliers actually share sub-tier data. [Swap in any metric your organization already tracks.]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[10:05 to 11:15] You don't need to invent a governance model. Two are worth knowing. The NIST AI Risk Management Framework is voluntary and practical. It has four functions: Govern, Map, Measure, and Manage. Govern sets policies and accountability. Map is understanding where a model is used and what it could affect. Measure is testing and tracking those risks, and Manage is acting on them and continuing to monitor. ISO/IEC 42001 is a certifiable management system standard for AI, which matters when customers or regulators want proof rather than a policy document. A pattern I see often is to design the practice with NIST and certify it with ISO. Either way, the worst outcome is a framework on a shelf. Apply it to one real use case first. [Mention the framework your organization uses, if any.] A supplier risk score is a good candidate, because it touches every layer we just talked about and the people using it will tell you quickly whether it helps.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 to 12:30] [Replace this with your own case if you can share one. If you keep it, say that it's illustrative.] Let me walk through what this looks like when it works. This is an illustrative example. An outside signal flags an outage at a specialty gas supplier. The model ranks it high, and it can say why: that site is a sole source for material we use. Because the sub-tier map is governed, with common IDs, lineage, and an owner, we can see within hours which parts, products, and customers depend on that site, and how confident we are in each link. Then a person decides. The part owner looks at the evidence, confirms exposure with the tier 1 supplier, and approves an allocation plan. From there buyers start qualifying an alternate source, and account teams tell affected customers early instead of at the missed ship date. Notice what didn't change. A human still makes the call. Governance made that call faster and easier to defend. Compare that with the scenario I opened with, where the first signal was the missed ship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 to 13:30] If you take three things back, make them these. First, pick your single riskiest input, one sole- or single-source material, and trace it as far down the tiers as you can. It's small enough to finish in a quarter, and it will show you exactly where your data gaps are. Second, give every critical part and supplier record an owner, and agree on data-use terms with your key suppliers so they have a reason to share. Third, before you trust an AI risk score, test it against disruptions you've already lived through, and keep a named person in the decision. None of these needs a new budget line to start. They need someone with the authority to say this data matters and this person owns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[13:30 to 13:50, buffer to 15:00, then Q&amp;A to 20:00] The goal is simple: see your risk sooner, and act on it with data you can defend. Our industry is very good at controlling variation inside the fab. I think we can bring that same discipline to the data about our supply chain. Thank you. I'm happy to take questions. [See qa-prep.md for prepared answers. If time runs out, point people to the QR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29"/>
        </a:solidFill>
      </p:bgPr>
    </p:bg>
    <p:spTree>
      <p:nvGrpSpPr>
        <p:cNvPr id="1" name=""/>
        <p:cNvGrpSpPr/>
        <p:nvPr/>
      </p:nvGrpSpPr>
      <p:grpSpPr>
        <a:xfrm>
          <a:off x="0" y="0"/>
          <a:ext cx="0" cy="0"/>
          <a:chOff x="0" y="0"/>
          <a:chExt cx="0" cy="0"/>
        </a:xfrm>
      </p:grpSpPr>
      <p:sp>
        <p:nvSpPr>
          <p:cNvPr id="2" name="Shape 0"/>
          <p:cNvSpPr/>
          <p:nvPr/>
        </p:nvSpPr>
        <p:spPr>
          <a:xfrm>
            <a:off x="7818120" y="1188720"/>
            <a:ext cx="585216" cy="585216"/>
          </a:xfrm>
          <a:prstGeom prst="roundRect">
            <a:avLst>
              <a:gd name="adj" fmla="val 9375"/>
            </a:avLst>
          </a:prstGeom>
          <a:solidFill>
            <a:srgbClr val="27303A"/>
          </a:solidFill>
          <a:ln w="12700">
            <a:solidFill>
              <a:srgbClr val="3A4552"/>
            </a:solidFill>
            <a:prstDash val="solid"/>
          </a:ln>
        </p:spPr>
      </p:sp>
      <p:sp>
        <p:nvSpPr>
          <p:cNvPr id="3" name="Shape 1"/>
          <p:cNvSpPr/>
          <p:nvPr/>
        </p:nvSpPr>
        <p:spPr>
          <a:xfrm>
            <a:off x="8567928" y="1188720"/>
            <a:ext cx="585216" cy="585216"/>
          </a:xfrm>
          <a:prstGeom prst="roundRect">
            <a:avLst>
              <a:gd name="adj" fmla="val 9375"/>
            </a:avLst>
          </a:prstGeom>
          <a:solidFill>
            <a:srgbClr val="27303A"/>
          </a:solidFill>
          <a:ln w="12700">
            <a:solidFill>
              <a:srgbClr val="3A4552"/>
            </a:solidFill>
            <a:prstDash val="solid"/>
          </a:ln>
        </p:spPr>
      </p:sp>
      <p:sp>
        <p:nvSpPr>
          <p:cNvPr id="4" name="Shape 2"/>
          <p:cNvSpPr/>
          <p:nvPr/>
        </p:nvSpPr>
        <p:spPr>
          <a:xfrm>
            <a:off x="9317736" y="1188720"/>
            <a:ext cx="585216" cy="585216"/>
          </a:xfrm>
          <a:prstGeom prst="roundRect">
            <a:avLst>
              <a:gd name="adj" fmla="val 9375"/>
            </a:avLst>
          </a:prstGeom>
          <a:solidFill>
            <a:srgbClr val="27303A"/>
          </a:solidFill>
          <a:ln w="12700">
            <a:solidFill>
              <a:srgbClr val="3A4552"/>
            </a:solidFill>
            <a:prstDash val="solid"/>
          </a:ln>
        </p:spPr>
      </p:sp>
      <p:sp>
        <p:nvSpPr>
          <p:cNvPr id="5" name="Shape 3"/>
          <p:cNvSpPr/>
          <p:nvPr/>
        </p:nvSpPr>
        <p:spPr>
          <a:xfrm>
            <a:off x="10067544" y="1188720"/>
            <a:ext cx="585216" cy="585216"/>
          </a:xfrm>
          <a:prstGeom prst="roundRect">
            <a:avLst>
              <a:gd name="adj" fmla="val 9375"/>
            </a:avLst>
          </a:prstGeom>
          <a:solidFill>
            <a:srgbClr val="27303A"/>
          </a:solidFill>
          <a:ln w="12700">
            <a:solidFill>
              <a:srgbClr val="3A4552"/>
            </a:solidFill>
            <a:prstDash val="solid"/>
          </a:ln>
        </p:spPr>
      </p:sp>
      <p:sp>
        <p:nvSpPr>
          <p:cNvPr id="6" name="Shape 4"/>
          <p:cNvSpPr/>
          <p:nvPr/>
        </p:nvSpPr>
        <p:spPr>
          <a:xfrm>
            <a:off x="10817352" y="1188720"/>
            <a:ext cx="585216" cy="585216"/>
          </a:xfrm>
          <a:prstGeom prst="roundRect">
            <a:avLst>
              <a:gd name="adj" fmla="val 9375"/>
            </a:avLst>
          </a:prstGeom>
          <a:solidFill>
            <a:srgbClr val="27303A"/>
          </a:solidFill>
          <a:ln w="12700">
            <a:solidFill>
              <a:srgbClr val="3A4552"/>
            </a:solidFill>
            <a:prstDash val="solid"/>
          </a:ln>
        </p:spPr>
      </p:sp>
      <p:sp>
        <p:nvSpPr>
          <p:cNvPr id="7" name="Shape 5"/>
          <p:cNvSpPr/>
          <p:nvPr/>
        </p:nvSpPr>
        <p:spPr>
          <a:xfrm>
            <a:off x="7818120" y="1938528"/>
            <a:ext cx="585216" cy="585216"/>
          </a:xfrm>
          <a:prstGeom prst="roundRect">
            <a:avLst>
              <a:gd name="adj" fmla="val 9375"/>
            </a:avLst>
          </a:prstGeom>
          <a:solidFill>
            <a:srgbClr val="27303A"/>
          </a:solidFill>
          <a:ln w="12700">
            <a:solidFill>
              <a:srgbClr val="3A4552"/>
            </a:solidFill>
            <a:prstDash val="solid"/>
          </a:ln>
        </p:spPr>
      </p:sp>
      <p:sp>
        <p:nvSpPr>
          <p:cNvPr id="8" name="Shape 6"/>
          <p:cNvSpPr/>
          <p:nvPr/>
        </p:nvSpPr>
        <p:spPr>
          <a:xfrm>
            <a:off x="8567928" y="1938528"/>
            <a:ext cx="585216" cy="585216"/>
          </a:xfrm>
          <a:prstGeom prst="roundRect">
            <a:avLst>
              <a:gd name="adj" fmla="val 9375"/>
            </a:avLst>
          </a:prstGeom>
          <a:solidFill>
            <a:srgbClr val="27303A"/>
          </a:solidFill>
          <a:ln w="12700">
            <a:solidFill>
              <a:srgbClr val="3A4552"/>
            </a:solidFill>
            <a:prstDash val="solid"/>
          </a:ln>
        </p:spPr>
      </p:sp>
      <p:sp>
        <p:nvSpPr>
          <p:cNvPr id="9" name="Shape 7"/>
          <p:cNvSpPr/>
          <p:nvPr/>
        </p:nvSpPr>
        <p:spPr>
          <a:xfrm>
            <a:off x="9317736" y="1938528"/>
            <a:ext cx="585216" cy="585216"/>
          </a:xfrm>
          <a:prstGeom prst="roundRect">
            <a:avLst>
              <a:gd name="adj" fmla="val 9375"/>
            </a:avLst>
          </a:prstGeom>
          <a:solidFill>
            <a:srgbClr val="27303A"/>
          </a:solidFill>
          <a:ln w="12700">
            <a:solidFill>
              <a:srgbClr val="3A4552"/>
            </a:solidFill>
            <a:prstDash val="solid"/>
          </a:ln>
        </p:spPr>
      </p:sp>
      <p:sp>
        <p:nvSpPr>
          <p:cNvPr id="10" name="Shape 8"/>
          <p:cNvSpPr/>
          <p:nvPr/>
        </p:nvSpPr>
        <p:spPr>
          <a:xfrm>
            <a:off x="10067544" y="1938528"/>
            <a:ext cx="585216" cy="585216"/>
          </a:xfrm>
          <a:prstGeom prst="roundRect">
            <a:avLst>
              <a:gd name="adj" fmla="val 9375"/>
            </a:avLst>
          </a:prstGeom>
          <a:solidFill>
            <a:srgbClr val="C46A2B"/>
          </a:solidFill>
          <a:ln w="12700">
            <a:solidFill>
              <a:srgbClr val="C46A2B"/>
            </a:solidFill>
            <a:prstDash val="solid"/>
          </a:ln>
        </p:spPr>
      </p:sp>
      <p:sp>
        <p:nvSpPr>
          <p:cNvPr id="11" name="Shape 9"/>
          <p:cNvSpPr/>
          <p:nvPr/>
        </p:nvSpPr>
        <p:spPr>
          <a:xfrm>
            <a:off x="10817352" y="1938528"/>
            <a:ext cx="585216" cy="585216"/>
          </a:xfrm>
          <a:prstGeom prst="roundRect">
            <a:avLst>
              <a:gd name="adj" fmla="val 9375"/>
            </a:avLst>
          </a:prstGeom>
          <a:solidFill>
            <a:srgbClr val="27303A"/>
          </a:solidFill>
          <a:ln w="12700">
            <a:solidFill>
              <a:srgbClr val="3A4552"/>
            </a:solidFill>
            <a:prstDash val="solid"/>
          </a:ln>
        </p:spPr>
      </p:sp>
      <p:sp>
        <p:nvSpPr>
          <p:cNvPr id="12" name="Shape 10"/>
          <p:cNvSpPr/>
          <p:nvPr/>
        </p:nvSpPr>
        <p:spPr>
          <a:xfrm>
            <a:off x="7818120" y="2688336"/>
            <a:ext cx="585216" cy="585216"/>
          </a:xfrm>
          <a:prstGeom prst="roundRect">
            <a:avLst>
              <a:gd name="adj" fmla="val 9375"/>
            </a:avLst>
          </a:prstGeom>
          <a:solidFill>
            <a:srgbClr val="27303A"/>
          </a:solidFill>
          <a:ln w="12700">
            <a:solidFill>
              <a:srgbClr val="3A4552"/>
            </a:solidFill>
            <a:prstDash val="solid"/>
          </a:ln>
        </p:spPr>
      </p:sp>
      <p:sp>
        <p:nvSpPr>
          <p:cNvPr id="13" name="Shape 11"/>
          <p:cNvSpPr/>
          <p:nvPr/>
        </p:nvSpPr>
        <p:spPr>
          <a:xfrm>
            <a:off x="8567928" y="2688336"/>
            <a:ext cx="585216" cy="585216"/>
          </a:xfrm>
          <a:prstGeom prst="roundRect">
            <a:avLst>
              <a:gd name="adj" fmla="val 9375"/>
            </a:avLst>
          </a:prstGeom>
          <a:solidFill>
            <a:srgbClr val="27303A"/>
          </a:solidFill>
          <a:ln w="12700">
            <a:solidFill>
              <a:srgbClr val="3A4552"/>
            </a:solidFill>
            <a:prstDash val="solid"/>
          </a:ln>
        </p:spPr>
      </p:sp>
      <p:sp>
        <p:nvSpPr>
          <p:cNvPr id="14" name="Shape 12"/>
          <p:cNvSpPr/>
          <p:nvPr/>
        </p:nvSpPr>
        <p:spPr>
          <a:xfrm>
            <a:off x="9317736" y="2688336"/>
            <a:ext cx="585216" cy="585216"/>
          </a:xfrm>
          <a:prstGeom prst="roundRect">
            <a:avLst>
              <a:gd name="adj" fmla="val 9375"/>
            </a:avLst>
          </a:prstGeom>
          <a:solidFill>
            <a:srgbClr val="C46A2B"/>
          </a:solidFill>
          <a:ln w="12700">
            <a:solidFill>
              <a:srgbClr val="C46A2B"/>
            </a:solidFill>
            <a:prstDash val="solid"/>
          </a:ln>
        </p:spPr>
      </p:sp>
      <p:sp>
        <p:nvSpPr>
          <p:cNvPr id="15" name="Shape 13"/>
          <p:cNvSpPr/>
          <p:nvPr/>
        </p:nvSpPr>
        <p:spPr>
          <a:xfrm>
            <a:off x="10067544" y="2688336"/>
            <a:ext cx="585216" cy="585216"/>
          </a:xfrm>
          <a:prstGeom prst="roundRect">
            <a:avLst>
              <a:gd name="adj" fmla="val 9375"/>
            </a:avLst>
          </a:prstGeom>
          <a:solidFill>
            <a:srgbClr val="27303A"/>
          </a:solidFill>
          <a:ln w="12700">
            <a:solidFill>
              <a:srgbClr val="3A4552"/>
            </a:solidFill>
            <a:prstDash val="solid"/>
          </a:ln>
        </p:spPr>
      </p:sp>
      <p:sp>
        <p:nvSpPr>
          <p:cNvPr id="16" name="Shape 14"/>
          <p:cNvSpPr/>
          <p:nvPr/>
        </p:nvSpPr>
        <p:spPr>
          <a:xfrm>
            <a:off x="10817352" y="2688336"/>
            <a:ext cx="585216" cy="585216"/>
          </a:xfrm>
          <a:prstGeom prst="roundRect">
            <a:avLst>
              <a:gd name="adj" fmla="val 9375"/>
            </a:avLst>
          </a:prstGeom>
          <a:solidFill>
            <a:srgbClr val="27303A"/>
          </a:solidFill>
          <a:ln w="12700">
            <a:solidFill>
              <a:srgbClr val="3A4552"/>
            </a:solidFill>
            <a:prstDash val="solid"/>
          </a:ln>
        </p:spPr>
      </p:sp>
      <p:sp>
        <p:nvSpPr>
          <p:cNvPr id="17" name="Shape 15"/>
          <p:cNvSpPr/>
          <p:nvPr/>
        </p:nvSpPr>
        <p:spPr>
          <a:xfrm>
            <a:off x="7818120" y="3438144"/>
            <a:ext cx="585216" cy="585216"/>
          </a:xfrm>
          <a:prstGeom prst="roundRect">
            <a:avLst>
              <a:gd name="adj" fmla="val 9375"/>
            </a:avLst>
          </a:prstGeom>
          <a:solidFill>
            <a:srgbClr val="27303A"/>
          </a:solidFill>
          <a:ln w="12700">
            <a:solidFill>
              <a:srgbClr val="3A4552"/>
            </a:solidFill>
            <a:prstDash val="solid"/>
          </a:ln>
        </p:spPr>
      </p:sp>
      <p:sp>
        <p:nvSpPr>
          <p:cNvPr id="18" name="Shape 16"/>
          <p:cNvSpPr/>
          <p:nvPr/>
        </p:nvSpPr>
        <p:spPr>
          <a:xfrm>
            <a:off x="8567928" y="3438144"/>
            <a:ext cx="585216" cy="585216"/>
          </a:xfrm>
          <a:prstGeom prst="roundRect">
            <a:avLst>
              <a:gd name="adj" fmla="val 9375"/>
            </a:avLst>
          </a:prstGeom>
          <a:solidFill>
            <a:srgbClr val="C46A2B"/>
          </a:solidFill>
          <a:ln w="12700">
            <a:solidFill>
              <a:srgbClr val="C46A2B"/>
            </a:solidFill>
            <a:prstDash val="solid"/>
          </a:ln>
        </p:spPr>
      </p:sp>
      <p:sp>
        <p:nvSpPr>
          <p:cNvPr id="19" name="Shape 17"/>
          <p:cNvSpPr/>
          <p:nvPr/>
        </p:nvSpPr>
        <p:spPr>
          <a:xfrm>
            <a:off x="9317736" y="3438144"/>
            <a:ext cx="585216" cy="585216"/>
          </a:xfrm>
          <a:prstGeom prst="roundRect">
            <a:avLst>
              <a:gd name="adj" fmla="val 9375"/>
            </a:avLst>
          </a:prstGeom>
          <a:solidFill>
            <a:srgbClr val="27303A"/>
          </a:solidFill>
          <a:ln w="12700">
            <a:solidFill>
              <a:srgbClr val="3A4552"/>
            </a:solidFill>
            <a:prstDash val="solid"/>
          </a:ln>
        </p:spPr>
      </p:sp>
      <p:sp>
        <p:nvSpPr>
          <p:cNvPr id="20" name="Shape 18"/>
          <p:cNvSpPr/>
          <p:nvPr/>
        </p:nvSpPr>
        <p:spPr>
          <a:xfrm>
            <a:off x="10067544" y="3438144"/>
            <a:ext cx="585216" cy="585216"/>
          </a:xfrm>
          <a:prstGeom prst="roundRect">
            <a:avLst>
              <a:gd name="adj" fmla="val 9375"/>
            </a:avLst>
          </a:prstGeom>
          <a:solidFill>
            <a:srgbClr val="27303A"/>
          </a:solidFill>
          <a:ln w="12700">
            <a:solidFill>
              <a:srgbClr val="3A4552"/>
            </a:solidFill>
            <a:prstDash val="solid"/>
          </a:ln>
        </p:spPr>
      </p:sp>
      <p:sp>
        <p:nvSpPr>
          <p:cNvPr id="21" name="Shape 19"/>
          <p:cNvSpPr/>
          <p:nvPr/>
        </p:nvSpPr>
        <p:spPr>
          <a:xfrm>
            <a:off x="10817352" y="3438144"/>
            <a:ext cx="585216" cy="585216"/>
          </a:xfrm>
          <a:prstGeom prst="roundRect">
            <a:avLst>
              <a:gd name="adj" fmla="val 9375"/>
            </a:avLst>
          </a:prstGeom>
          <a:solidFill>
            <a:srgbClr val="27303A"/>
          </a:solidFill>
          <a:ln w="12700">
            <a:solidFill>
              <a:srgbClr val="3A4552"/>
            </a:solidFill>
            <a:prstDash val="solid"/>
          </a:ln>
        </p:spPr>
      </p:sp>
      <p:sp>
        <p:nvSpPr>
          <p:cNvPr id="22" name="Shape 20"/>
          <p:cNvSpPr/>
          <p:nvPr/>
        </p:nvSpPr>
        <p:spPr>
          <a:xfrm>
            <a:off x="7818120" y="4187952"/>
            <a:ext cx="585216" cy="585216"/>
          </a:xfrm>
          <a:prstGeom prst="roundRect">
            <a:avLst>
              <a:gd name="adj" fmla="val 9375"/>
            </a:avLst>
          </a:prstGeom>
          <a:solidFill>
            <a:srgbClr val="27303A"/>
          </a:solidFill>
          <a:ln w="12700">
            <a:solidFill>
              <a:srgbClr val="3A4552"/>
            </a:solidFill>
            <a:prstDash val="solid"/>
          </a:ln>
        </p:spPr>
      </p:sp>
      <p:sp>
        <p:nvSpPr>
          <p:cNvPr id="23" name="Shape 21"/>
          <p:cNvSpPr/>
          <p:nvPr/>
        </p:nvSpPr>
        <p:spPr>
          <a:xfrm>
            <a:off x="8567928" y="4187952"/>
            <a:ext cx="585216" cy="585216"/>
          </a:xfrm>
          <a:prstGeom prst="roundRect">
            <a:avLst>
              <a:gd name="adj" fmla="val 9375"/>
            </a:avLst>
          </a:prstGeom>
          <a:solidFill>
            <a:srgbClr val="27303A"/>
          </a:solidFill>
          <a:ln w="12700">
            <a:solidFill>
              <a:srgbClr val="3A4552"/>
            </a:solidFill>
            <a:prstDash val="solid"/>
          </a:ln>
        </p:spPr>
      </p:sp>
      <p:sp>
        <p:nvSpPr>
          <p:cNvPr id="24" name="Shape 22"/>
          <p:cNvSpPr/>
          <p:nvPr/>
        </p:nvSpPr>
        <p:spPr>
          <a:xfrm>
            <a:off x="9317736" y="4187952"/>
            <a:ext cx="585216" cy="585216"/>
          </a:xfrm>
          <a:prstGeom prst="roundRect">
            <a:avLst>
              <a:gd name="adj" fmla="val 9375"/>
            </a:avLst>
          </a:prstGeom>
          <a:solidFill>
            <a:srgbClr val="27303A"/>
          </a:solidFill>
          <a:ln w="12700">
            <a:solidFill>
              <a:srgbClr val="3A4552"/>
            </a:solidFill>
            <a:prstDash val="solid"/>
          </a:ln>
        </p:spPr>
      </p:sp>
      <p:sp>
        <p:nvSpPr>
          <p:cNvPr id="25" name="Shape 23"/>
          <p:cNvSpPr/>
          <p:nvPr/>
        </p:nvSpPr>
        <p:spPr>
          <a:xfrm>
            <a:off x="10067544" y="4187952"/>
            <a:ext cx="585216" cy="585216"/>
          </a:xfrm>
          <a:prstGeom prst="roundRect">
            <a:avLst>
              <a:gd name="adj" fmla="val 9375"/>
            </a:avLst>
          </a:prstGeom>
          <a:solidFill>
            <a:srgbClr val="27303A"/>
          </a:solidFill>
          <a:ln w="12700">
            <a:solidFill>
              <a:srgbClr val="3A4552"/>
            </a:solidFill>
            <a:prstDash val="solid"/>
          </a:ln>
        </p:spPr>
      </p:sp>
      <p:sp>
        <p:nvSpPr>
          <p:cNvPr id="26" name="Shape 24"/>
          <p:cNvSpPr/>
          <p:nvPr/>
        </p:nvSpPr>
        <p:spPr>
          <a:xfrm>
            <a:off x="10817352" y="4187952"/>
            <a:ext cx="585216" cy="585216"/>
          </a:xfrm>
          <a:prstGeom prst="roundRect">
            <a:avLst>
              <a:gd name="adj" fmla="val 9375"/>
            </a:avLst>
          </a:prstGeom>
          <a:solidFill>
            <a:srgbClr val="27303A"/>
          </a:solidFill>
          <a:ln w="12700">
            <a:solidFill>
              <a:srgbClr val="3A4552"/>
            </a:solidFill>
            <a:prstDash val="solid"/>
          </a:ln>
        </p:spPr>
      </p:sp>
      <p:sp>
        <p:nvSpPr>
          <p:cNvPr id="27" name="Text 25"/>
          <p:cNvSpPr txBox="1"/>
          <p:nvPr/>
        </p:nvSpPr>
        <p:spPr>
          <a:xfrm>
            <a:off x="548640" y="1188720"/>
            <a:ext cx="6766560" cy="320040"/>
          </a:xfrm>
          <a:prstGeom prst="rect">
            <a:avLst/>
          </a:prstGeom>
          <a:noFill/>
          <a:ln/>
        </p:spPr>
        <p:txBody>
          <a:bodyPr wrap="square" lIns="0" tIns="0" rIns="0" bIns="0" rtlCol="0" anchor="ctr"/>
          <a:lstStyle/>
          <a:p>
            <a:pPr indent="0" marL="0">
              <a:buNone/>
            </a:pPr>
            <a:r>
              <a:rPr lang="en-US" sz="1300" b="1" spc="300" kern="0" dirty="0">
                <a:solidFill>
                  <a:srgbClr val="C46A2B"/>
                </a:solidFill>
                <a:latin typeface="Calibri" pitchFamily="34" charset="0"/>
                <a:ea typeface="Calibri" pitchFamily="34" charset="-122"/>
                <a:cs typeface="Calibri" pitchFamily="34" charset="-120"/>
              </a:rPr>
              <a:t>SEMICON WEST</a:t>
            </a:r>
            <a:endParaRPr lang="en-US" sz="1300" dirty="0"/>
          </a:p>
        </p:txBody>
      </p:sp>
      <p:sp>
        <p:nvSpPr>
          <p:cNvPr id="28" name="Text 26"/>
          <p:cNvSpPr txBox="1"/>
          <p:nvPr/>
        </p:nvSpPr>
        <p:spPr>
          <a:xfrm>
            <a:off x="548640" y="1645920"/>
            <a:ext cx="6858000" cy="219456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Addressing the risks associated with the global semiconductor supply chain</a:t>
            </a:r>
            <a:endParaRPr lang="en-US" sz="3800" dirty="0"/>
          </a:p>
        </p:txBody>
      </p:sp>
      <p:sp>
        <p:nvSpPr>
          <p:cNvPr id="29" name="Text 27"/>
          <p:cNvSpPr txBox="1"/>
          <p:nvPr/>
        </p:nvSpPr>
        <p:spPr>
          <a:xfrm>
            <a:off x="548640" y="3931920"/>
            <a:ext cx="6766560" cy="548640"/>
          </a:xfrm>
          <a:prstGeom prst="rect">
            <a:avLst/>
          </a:prstGeom>
          <a:noFill/>
          <a:ln/>
        </p:spPr>
        <p:txBody>
          <a:bodyPr wrap="square" lIns="0" tIns="0" rIns="0" bIns="0" rtlCol="0" anchor="ctr"/>
          <a:lstStyle/>
          <a:p>
            <a:pPr indent="0" marL="0">
              <a:buNone/>
            </a:pPr>
            <a:r>
              <a:rPr lang="en-US" sz="2400" i="1" dirty="0">
                <a:solidFill>
                  <a:srgbClr val="E8B48F"/>
                </a:solidFill>
                <a:latin typeface="Calibri" pitchFamily="34" charset="0"/>
                <a:ea typeface="Calibri" pitchFamily="34" charset="-122"/>
                <a:cs typeface="Calibri" pitchFamily="34" charset="-120"/>
              </a:rPr>
              <a:t>Leveraging Data and AI Governance</a:t>
            </a:r>
            <a:endParaRPr lang="en-US" sz="2400" dirty="0"/>
          </a:p>
        </p:txBody>
      </p:sp>
      <p:sp>
        <p:nvSpPr>
          <p:cNvPr id="30" name="Text 28"/>
          <p:cNvSpPr txBox="1"/>
          <p:nvPr/>
        </p:nvSpPr>
        <p:spPr>
          <a:xfrm>
            <a:off x="548640" y="5120640"/>
            <a:ext cx="640080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[Your Name]</a:t>
            </a:r>
            <a:endParaRPr lang="en-US" sz="1600" dirty="0"/>
          </a:p>
          <a:p>
            <a:pPr indent="0" marL="0">
              <a:buNone/>
            </a:pPr>
            <a:r>
              <a:rPr lang="en-US" sz="1600" dirty="0">
                <a:solidFill>
                  <a:srgbClr val="8A96A3"/>
                </a:solidFill>
                <a:latin typeface="Calibri" pitchFamily="34" charset="0"/>
                <a:ea typeface="Calibri" pitchFamily="34" charset="-122"/>
                <a:cs typeface="Calibri" pitchFamily="34" charset="-120"/>
              </a:rPr>
              <a:t>[Title, Company]</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ILLUSTRATIVE SCENARIO</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One missing input can stall output downstream</a:t>
            </a:r>
            <a:endParaRPr lang="en-US" sz="3400" dirty="0"/>
          </a:p>
        </p:txBody>
      </p:sp>
      <p:sp>
        <p:nvSpPr>
          <p:cNvPr id="4" name="Shape 2"/>
          <p:cNvSpPr/>
          <p:nvPr/>
        </p:nvSpPr>
        <p:spPr>
          <a:xfrm>
            <a:off x="548640" y="1828800"/>
            <a:ext cx="2514600" cy="292608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5" name="Shape 3"/>
          <p:cNvSpPr/>
          <p:nvPr/>
        </p:nvSpPr>
        <p:spPr>
          <a:xfrm>
            <a:off x="822960" y="2148840"/>
            <a:ext cx="640080" cy="640080"/>
          </a:xfrm>
          <a:prstGeom prst="roundRect">
            <a:avLst>
              <a:gd name="adj" fmla="val 11429"/>
            </a:avLst>
          </a:prstGeom>
          <a:solidFill>
            <a:srgbClr val="1B2229"/>
          </a:solidFill>
          <a:ln w="12700">
            <a:solidFill>
              <a:srgbClr val="1B2229"/>
            </a:solidFill>
            <a:prstDash val="solid"/>
          </a:ln>
        </p:spPr>
      </p:sp>
      <p:pic>
        <p:nvPicPr>
          <p:cNvPr id="6" name="Image 0" descr="preencoded.png">    </p:cNvPr>
          <p:cNvPicPr>
            <a:picLocks noChangeAspect="1"/>
          </p:cNvPicPr>
          <p:nvPr/>
        </p:nvPicPr>
        <p:blipFill>
          <a:blip r:embed="rId1"/>
          <a:stretch>
            <a:fillRect/>
          </a:stretch>
        </p:blipFill>
        <p:spPr>
          <a:xfrm>
            <a:off x="963778" y="2289658"/>
            <a:ext cx="358445" cy="358445"/>
          </a:xfrm>
          <a:prstGeom prst="rect">
            <a:avLst/>
          </a:prstGeom>
        </p:spPr>
      </p:pic>
      <p:sp>
        <p:nvSpPr>
          <p:cNvPr id="7" name="Text 4"/>
          <p:cNvSpPr txBox="1"/>
          <p:nvPr/>
        </p:nvSpPr>
        <p:spPr>
          <a:xfrm>
            <a:off x="2331720" y="2148840"/>
            <a:ext cx="457200" cy="640080"/>
          </a:xfrm>
          <a:prstGeom prst="rect">
            <a:avLst/>
          </a:prstGeom>
          <a:noFill/>
          <a:ln/>
        </p:spPr>
        <p:txBody>
          <a:bodyPr wrap="square" lIns="0" tIns="0" rIns="0" bIns="0" rtlCol="0" anchor="ctr"/>
          <a:lstStyle/>
          <a:p>
            <a:pPr algn="r" indent="0" marL="0">
              <a:buNone/>
            </a:pPr>
            <a:r>
              <a:rPr lang="en-US" sz="3000" b="1" dirty="0">
                <a:solidFill>
                  <a:srgbClr val="8A96A3"/>
                </a:solidFill>
                <a:latin typeface="Calibri" pitchFamily="34" charset="0"/>
                <a:ea typeface="Calibri" pitchFamily="34" charset="-122"/>
                <a:cs typeface="Calibri" pitchFamily="34" charset="-120"/>
              </a:rPr>
              <a:t>1</a:t>
            </a:r>
            <a:endParaRPr lang="en-US" sz="3000" dirty="0"/>
          </a:p>
        </p:txBody>
      </p:sp>
      <p:sp>
        <p:nvSpPr>
          <p:cNvPr id="8" name="Text 5"/>
          <p:cNvSpPr txBox="1"/>
          <p:nvPr/>
        </p:nvSpPr>
        <p:spPr>
          <a:xfrm>
            <a:off x="822960" y="3017520"/>
            <a:ext cx="1965960" cy="731520"/>
          </a:xfrm>
          <a:prstGeom prst="rect">
            <a:avLst/>
          </a:prstGeom>
          <a:noFill/>
          <a:ln/>
        </p:spPr>
        <p:txBody>
          <a:bodyPr wrap="square" lIns="0" tIns="0" rIns="0" bIns="0" rtlCol="0" anchor="t"/>
          <a:lstStyle/>
          <a:p>
            <a:pPr indent="0" marL="0">
              <a:buNone/>
            </a:pPr>
            <a:r>
              <a:rPr lang="en-US" sz="1800" b="1" dirty="0">
                <a:solidFill>
                  <a:srgbClr val="1B2229"/>
                </a:solidFill>
                <a:latin typeface="Calibri" pitchFamily="34" charset="0"/>
                <a:ea typeface="Calibri" pitchFamily="34" charset="-122"/>
                <a:cs typeface="Calibri" pitchFamily="34" charset="-120"/>
              </a:rPr>
              <a:t>Sub-tier site goes down</a:t>
            </a:r>
            <a:endParaRPr lang="en-US" sz="1800" dirty="0"/>
          </a:p>
        </p:txBody>
      </p:sp>
      <p:sp>
        <p:nvSpPr>
          <p:cNvPr id="9" name="Text 6"/>
          <p:cNvSpPr txBox="1"/>
          <p:nvPr/>
        </p:nvSpPr>
        <p:spPr>
          <a:xfrm>
            <a:off x="822960" y="3749040"/>
            <a:ext cx="1965960" cy="8686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A sole-source supplier two tiers below you loses a plant</a:t>
            </a:r>
            <a:endParaRPr lang="en-US" sz="1400" dirty="0"/>
          </a:p>
        </p:txBody>
      </p:sp>
      <p:sp>
        <p:nvSpPr>
          <p:cNvPr id="10" name="Shape 7"/>
          <p:cNvSpPr/>
          <p:nvPr/>
        </p:nvSpPr>
        <p:spPr>
          <a:xfrm>
            <a:off x="3127248" y="3154680"/>
            <a:ext cx="146304" cy="274320"/>
          </a:xfrm>
          <a:prstGeom prst="chevron">
            <a:avLst/>
          </a:prstGeom>
          <a:solidFill>
            <a:srgbClr val="C46A2B"/>
          </a:solidFill>
          <a:ln w="12700">
            <a:solidFill>
              <a:srgbClr val="C46A2B"/>
            </a:solidFill>
            <a:prstDash val="solid"/>
          </a:ln>
        </p:spPr>
      </p:sp>
      <p:sp>
        <p:nvSpPr>
          <p:cNvPr id="11" name="Shape 8"/>
          <p:cNvSpPr/>
          <p:nvPr/>
        </p:nvSpPr>
        <p:spPr>
          <a:xfrm>
            <a:off x="3337560" y="1828800"/>
            <a:ext cx="2514600" cy="292608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12" name="Shape 9"/>
          <p:cNvSpPr/>
          <p:nvPr/>
        </p:nvSpPr>
        <p:spPr>
          <a:xfrm>
            <a:off x="3611880" y="2148840"/>
            <a:ext cx="640080" cy="640080"/>
          </a:xfrm>
          <a:prstGeom prst="roundRect">
            <a:avLst>
              <a:gd name="adj" fmla="val 11429"/>
            </a:avLst>
          </a:prstGeom>
          <a:solidFill>
            <a:srgbClr val="1B2229"/>
          </a:solidFill>
          <a:ln w="12700">
            <a:solidFill>
              <a:srgbClr val="1B2229"/>
            </a:solidFill>
            <a:prstDash val="solid"/>
          </a:ln>
        </p:spPr>
      </p:sp>
      <p:pic>
        <p:nvPicPr>
          <p:cNvPr id="13" name="Image 1" descr="preencoded.png">    </p:cNvPr>
          <p:cNvPicPr>
            <a:picLocks noChangeAspect="1"/>
          </p:cNvPicPr>
          <p:nvPr/>
        </p:nvPicPr>
        <p:blipFill>
          <a:blip r:embed="rId2"/>
          <a:stretch>
            <a:fillRect/>
          </a:stretch>
        </p:blipFill>
        <p:spPr>
          <a:xfrm>
            <a:off x="3752698" y="2289658"/>
            <a:ext cx="358445" cy="358445"/>
          </a:xfrm>
          <a:prstGeom prst="rect">
            <a:avLst/>
          </a:prstGeom>
        </p:spPr>
      </p:pic>
      <p:sp>
        <p:nvSpPr>
          <p:cNvPr id="14" name="Text 10"/>
          <p:cNvSpPr txBox="1"/>
          <p:nvPr/>
        </p:nvSpPr>
        <p:spPr>
          <a:xfrm>
            <a:off x="5120640" y="2148840"/>
            <a:ext cx="457200" cy="640080"/>
          </a:xfrm>
          <a:prstGeom prst="rect">
            <a:avLst/>
          </a:prstGeom>
          <a:noFill/>
          <a:ln/>
        </p:spPr>
        <p:txBody>
          <a:bodyPr wrap="square" lIns="0" tIns="0" rIns="0" bIns="0" rtlCol="0" anchor="ctr"/>
          <a:lstStyle/>
          <a:p>
            <a:pPr algn="r" indent="0" marL="0">
              <a:buNone/>
            </a:pPr>
            <a:r>
              <a:rPr lang="en-US" sz="3000" b="1" dirty="0">
                <a:solidFill>
                  <a:srgbClr val="8A96A3"/>
                </a:solidFill>
                <a:latin typeface="Calibri" pitchFamily="34" charset="0"/>
                <a:ea typeface="Calibri" pitchFamily="34" charset="-122"/>
                <a:cs typeface="Calibri" pitchFamily="34" charset="-120"/>
              </a:rPr>
              <a:t>2</a:t>
            </a:r>
            <a:endParaRPr lang="en-US" sz="3000" dirty="0"/>
          </a:p>
        </p:txBody>
      </p:sp>
      <p:sp>
        <p:nvSpPr>
          <p:cNvPr id="15" name="Text 11"/>
          <p:cNvSpPr txBox="1"/>
          <p:nvPr/>
        </p:nvSpPr>
        <p:spPr>
          <a:xfrm>
            <a:off x="3611880" y="3017520"/>
            <a:ext cx="1965960" cy="731520"/>
          </a:xfrm>
          <a:prstGeom prst="rect">
            <a:avLst/>
          </a:prstGeom>
          <a:noFill/>
          <a:ln/>
        </p:spPr>
        <p:txBody>
          <a:bodyPr wrap="square" lIns="0" tIns="0" rIns="0" bIns="0" rtlCol="0" anchor="t"/>
          <a:lstStyle/>
          <a:p>
            <a:pPr indent="0" marL="0">
              <a:buNone/>
            </a:pPr>
            <a:r>
              <a:rPr lang="en-US" sz="1800" b="1" dirty="0">
                <a:solidFill>
                  <a:srgbClr val="1B2229"/>
                </a:solidFill>
                <a:latin typeface="Calibri" pitchFamily="34" charset="0"/>
                <a:ea typeface="Calibri" pitchFamily="34" charset="-122"/>
                <a:cs typeface="Calibri" pitchFamily="34" charset="-120"/>
              </a:rPr>
              <a:t>Material goes on allocation</a:t>
            </a:r>
            <a:endParaRPr lang="en-US" sz="1800" dirty="0"/>
          </a:p>
        </p:txBody>
      </p:sp>
      <p:sp>
        <p:nvSpPr>
          <p:cNvPr id="16" name="Text 12"/>
          <p:cNvSpPr txBox="1"/>
          <p:nvPr/>
        </p:nvSpPr>
        <p:spPr>
          <a:xfrm>
            <a:off x="3611880" y="3749040"/>
            <a:ext cx="1965960" cy="8686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Your tier 1 learns late and rations what is left</a:t>
            </a:r>
            <a:endParaRPr lang="en-US" sz="1400" dirty="0"/>
          </a:p>
        </p:txBody>
      </p:sp>
      <p:sp>
        <p:nvSpPr>
          <p:cNvPr id="17" name="Shape 13"/>
          <p:cNvSpPr/>
          <p:nvPr/>
        </p:nvSpPr>
        <p:spPr>
          <a:xfrm>
            <a:off x="5916168" y="3154680"/>
            <a:ext cx="146304" cy="274320"/>
          </a:xfrm>
          <a:prstGeom prst="chevron">
            <a:avLst/>
          </a:prstGeom>
          <a:solidFill>
            <a:srgbClr val="C46A2B"/>
          </a:solidFill>
          <a:ln w="12700">
            <a:solidFill>
              <a:srgbClr val="C46A2B"/>
            </a:solidFill>
            <a:prstDash val="solid"/>
          </a:ln>
        </p:spPr>
      </p:sp>
      <p:sp>
        <p:nvSpPr>
          <p:cNvPr id="18" name="Shape 14"/>
          <p:cNvSpPr/>
          <p:nvPr/>
        </p:nvSpPr>
        <p:spPr>
          <a:xfrm>
            <a:off x="6126480" y="1828800"/>
            <a:ext cx="2514600" cy="292608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19" name="Shape 15"/>
          <p:cNvSpPr/>
          <p:nvPr/>
        </p:nvSpPr>
        <p:spPr>
          <a:xfrm>
            <a:off x="6400800" y="2148840"/>
            <a:ext cx="640080" cy="640080"/>
          </a:xfrm>
          <a:prstGeom prst="roundRect">
            <a:avLst>
              <a:gd name="adj" fmla="val 11429"/>
            </a:avLst>
          </a:prstGeom>
          <a:solidFill>
            <a:srgbClr val="1B2229"/>
          </a:solidFill>
          <a:ln w="12700">
            <a:solidFill>
              <a:srgbClr val="1B2229"/>
            </a:solidFill>
            <a:prstDash val="solid"/>
          </a:ln>
        </p:spPr>
      </p:sp>
      <p:pic>
        <p:nvPicPr>
          <p:cNvPr id="20" name="Image 2" descr="preencoded.png">    </p:cNvPr>
          <p:cNvPicPr>
            <a:picLocks noChangeAspect="1"/>
          </p:cNvPicPr>
          <p:nvPr/>
        </p:nvPicPr>
        <p:blipFill>
          <a:blip r:embed="rId3"/>
          <a:stretch>
            <a:fillRect/>
          </a:stretch>
        </p:blipFill>
        <p:spPr>
          <a:xfrm>
            <a:off x="6541618" y="2289658"/>
            <a:ext cx="358445" cy="358445"/>
          </a:xfrm>
          <a:prstGeom prst="rect">
            <a:avLst/>
          </a:prstGeom>
        </p:spPr>
      </p:pic>
      <p:sp>
        <p:nvSpPr>
          <p:cNvPr id="21" name="Text 16"/>
          <p:cNvSpPr txBox="1"/>
          <p:nvPr/>
        </p:nvSpPr>
        <p:spPr>
          <a:xfrm>
            <a:off x="7909560" y="2148840"/>
            <a:ext cx="457200" cy="640080"/>
          </a:xfrm>
          <a:prstGeom prst="rect">
            <a:avLst/>
          </a:prstGeom>
          <a:noFill/>
          <a:ln/>
        </p:spPr>
        <p:txBody>
          <a:bodyPr wrap="square" lIns="0" tIns="0" rIns="0" bIns="0" rtlCol="0" anchor="ctr"/>
          <a:lstStyle/>
          <a:p>
            <a:pPr algn="r" indent="0" marL="0">
              <a:buNone/>
            </a:pPr>
            <a:r>
              <a:rPr lang="en-US" sz="3000" b="1" dirty="0">
                <a:solidFill>
                  <a:srgbClr val="8A96A3"/>
                </a:solidFill>
                <a:latin typeface="Calibri" pitchFamily="34" charset="0"/>
                <a:ea typeface="Calibri" pitchFamily="34" charset="-122"/>
                <a:cs typeface="Calibri" pitchFamily="34" charset="-120"/>
              </a:rPr>
              <a:t>3</a:t>
            </a:r>
            <a:endParaRPr lang="en-US" sz="3000" dirty="0"/>
          </a:p>
        </p:txBody>
      </p:sp>
      <p:sp>
        <p:nvSpPr>
          <p:cNvPr id="22" name="Text 17"/>
          <p:cNvSpPr txBox="1"/>
          <p:nvPr/>
        </p:nvSpPr>
        <p:spPr>
          <a:xfrm>
            <a:off x="6400800" y="3017520"/>
            <a:ext cx="1965960" cy="731520"/>
          </a:xfrm>
          <a:prstGeom prst="rect">
            <a:avLst/>
          </a:prstGeom>
          <a:noFill/>
          <a:ln/>
        </p:spPr>
        <p:txBody>
          <a:bodyPr wrap="square" lIns="0" tIns="0" rIns="0" bIns="0" rtlCol="0" anchor="t"/>
          <a:lstStyle/>
          <a:p>
            <a:pPr indent="0" marL="0">
              <a:buNone/>
            </a:pPr>
            <a:r>
              <a:rPr lang="en-US" sz="1800" b="1" dirty="0">
                <a:solidFill>
                  <a:srgbClr val="1B2229"/>
                </a:solidFill>
                <a:latin typeface="Calibri" pitchFamily="34" charset="0"/>
                <a:ea typeface="Calibri" pitchFamily="34" charset="-122"/>
                <a:cs typeface="Calibri" pitchFamily="34" charset="-120"/>
              </a:rPr>
              <a:t>Production plans get cut</a:t>
            </a:r>
            <a:endParaRPr lang="en-US" sz="1800" dirty="0"/>
          </a:p>
        </p:txBody>
      </p:sp>
      <p:sp>
        <p:nvSpPr>
          <p:cNvPr id="23" name="Text 18"/>
          <p:cNvSpPr txBox="1"/>
          <p:nvPr/>
        </p:nvSpPr>
        <p:spPr>
          <a:xfrm>
            <a:off x="6400800" y="3749040"/>
            <a:ext cx="1965960" cy="8686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Planners scramble with lead times that no longer hold</a:t>
            </a:r>
            <a:endParaRPr lang="en-US" sz="1400" dirty="0"/>
          </a:p>
        </p:txBody>
      </p:sp>
      <p:sp>
        <p:nvSpPr>
          <p:cNvPr id="24" name="Shape 19"/>
          <p:cNvSpPr/>
          <p:nvPr/>
        </p:nvSpPr>
        <p:spPr>
          <a:xfrm>
            <a:off x="8705088" y="3154680"/>
            <a:ext cx="146304" cy="274320"/>
          </a:xfrm>
          <a:prstGeom prst="chevron">
            <a:avLst/>
          </a:prstGeom>
          <a:solidFill>
            <a:srgbClr val="C46A2B"/>
          </a:solidFill>
          <a:ln w="12700">
            <a:solidFill>
              <a:srgbClr val="C46A2B"/>
            </a:solidFill>
            <a:prstDash val="solid"/>
          </a:ln>
        </p:spPr>
      </p:sp>
      <p:sp>
        <p:nvSpPr>
          <p:cNvPr id="25" name="Shape 20"/>
          <p:cNvSpPr/>
          <p:nvPr/>
        </p:nvSpPr>
        <p:spPr>
          <a:xfrm>
            <a:off x="8915400" y="1828800"/>
            <a:ext cx="2514600" cy="2926080"/>
          </a:xfrm>
          <a:prstGeom prst="rect">
            <a:avLst/>
          </a:prstGeom>
          <a:solidFill>
            <a:srgbClr val="F6E6DA"/>
          </a:solidFill>
          <a:ln w="12700">
            <a:solidFill>
              <a:srgbClr val="F6E6DA"/>
            </a:solidFill>
            <a:prstDash val="solid"/>
          </a:ln>
          <a:effectLst>
            <a:outerShdw sx="100000" sy="100000" kx="0" ky="0" algn="bl" rotWithShape="0" blurRad="76200" dist="19050" dir="5400000">
              <a:srgbClr val="000000">
                <a:alpha val="12000"/>
              </a:srgbClr>
            </a:outerShdw>
          </a:effectLst>
        </p:spPr>
      </p:sp>
      <p:sp>
        <p:nvSpPr>
          <p:cNvPr id="26" name="Shape 21"/>
          <p:cNvSpPr/>
          <p:nvPr/>
        </p:nvSpPr>
        <p:spPr>
          <a:xfrm>
            <a:off x="9189720" y="2148840"/>
            <a:ext cx="640080" cy="640080"/>
          </a:xfrm>
          <a:prstGeom prst="roundRect">
            <a:avLst>
              <a:gd name="adj" fmla="val 11429"/>
            </a:avLst>
          </a:prstGeom>
          <a:solidFill>
            <a:srgbClr val="C46A2B"/>
          </a:solidFill>
          <a:ln w="12700">
            <a:solidFill>
              <a:srgbClr val="C46A2B"/>
            </a:solidFill>
            <a:prstDash val="solid"/>
          </a:ln>
        </p:spPr>
      </p:sp>
      <p:pic>
        <p:nvPicPr>
          <p:cNvPr id="27" name="Image 3" descr="preencoded.png">    </p:cNvPr>
          <p:cNvPicPr>
            <a:picLocks noChangeAspect="1"/>
          </p:cNvPicPr>
          <p:nvPr/>
        </p:nvPicPr>
        <p:blipFill>
          <a:blip r:embed="rId4"/>
          <a:stretch>
            <a:fillRect/>
          </a:stretch>
        </p:blipFill>
        <p:spPr>
          <a:xfrm>
            <a:off x="9330538" y="2289658"/>
            <a:ext cx="358445" cy="358445"/>
          </a:xfrm>
          <a:prstGeom prst="rect">
            <a:avLst/>
          </a:prstGeom>
        </p:spPr>
      </p:pic>
      <p:sp>
        <p:nvSpPr>
          <p:cNvPr id="28" name="Text 22"/>
          <p:cNvSpPr txBox="1"/>
          <p:nvPr/>
        </p:nvSpPr>
        <p:spPr>
          <a:xfrm>
            <a:off x="10698480" y="2148840"/>
            <a:ext cx="457200" cy="640080"/>
          </a:xfrm>
          <a:prstGeom prst="rect">
            <a:avLst/>
          </a:prstGeom>
          <a:noFill/>
          <a:ln/>
        </p:spPr>
        <p:txBody>
          <a:bodyPr wrap="square" lIns="0" tIns="0" rIns="0" bIns="0" rtlCol="0" anchor="ctr"/>
          <a:lstStyle/>
          <a:p>
            <a:pPr algn="r" indent="0" marL="0">
              <a:buNone/>
            </a:pPr>
            <a:r>
              <a:rPr lang="en-US" sz="3000" b="1" dirty="0">
                <a:solidFill>
                  <a:srgbClr val="8A96A3"/>
                </a:solidFill>
                <a:latin typeface="Calibri" pitchFamily="34" charset="0"/>
                <a:ea typeface="Calibri" pitchFamily="34" charset="-122"/>
                <a:cs typeface="Calibri" pitchFamily="34" charset="-120"/>
              </a:rPr>
              <a:t>4</a:t>
            </a:r>
            <a:endParaRPr lang="en-US" sz="3000" dirty="0"/>
          </a:p>
        </p:txBody>
      </p:sp>
      <p:sp>
        <p:nvSpPr>
          <p:cNvPr id="29" name="Text 23"/>
          <p:cNvSpPr txBox="1"/>
          <p:nvPr/>
        </p:nvSpPr>
        <p:spPr>
          <a:xfrm>
            <a:off x="9189720" y="3017520"/>
            <a:ext cx="1965960" cy="731520"/>
          </a:xfrm>
          <a:prstGeom prst="rect">
            <a:avLst/>
          </a:prstGeom>
          <a:noFill/>
          <a:ln/>
        </p:spPr>
        <p:txBody>
          <a:bodyPr wrap="square" lIns="0" tIns="0" rIns="0" bIns="0" rtlCol="0" anchor="t"/>
          <a:lstStyle/>
          <a:p>
            <a:pPr indent="0" marL="0">
              <a:buNone/>
            </a:pPr>
            <a:r>
              <a:rPr lang="en-US" sz="1800" b="1" dirty="0">
                <a:solidFill>
                  <a:srgbClr val="1B2229"/>
                </a:solidFill>
                <a:latin typeface="Calibri" pitchFamily="34" charset="0"/>
                <a:ea typeface="Calibri" pitchFamily="34" charset="-122"/>
                <a:cs typeface="Calibri" pitchFamily="34" charset="-120"/>
              </a:rPr>
              <a:t>Customer commits slip</a:t>
            </a:r>
            <a:endParaRPr lang="en-US" sz="1800" dirty="0"/>
          </a:p>
        </p:txBody>
      </p:sp>
      <p:sp>
        <p:nvSpPr>
          <p:cNvPr id="30" name="Text 24"/>
          <p:cNvSpPr txBox="1"/>
          <p:nvPr/>
        </p:nvSpPr>
        <p:spPr>
          <a:xfrm>
            <a:off x="9189720" y="3749040"/>
            <a:ext cx="1965960" cy="8686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The first you hear of it is a missed ship date</a:t>
            </a:r>
            <a:endParaRPr lang="en-US" sz="1400" dirty="0"/>
          </a:p>
        </p:txBody>
      </p:sp>
      <p:sp>
        <p:nvSpPr>
          <p:cNvPr id="31" name="Text 25"/>
          <p:cNvSpPr txBox="1"/>
          <p:nvPr/>
        </p:nvSpPr>
        <p:spPr>
          <a:xfrm>
            <a:off x="548640" y="5257800"/>
            <a:ext cx="11094415" cy="457200"/>
          </a:xfrm>
          <a:prstGeom prst="rect">
            <a:avLst/>
          </a:prstGeom>
          <a:noFill/>
          <a:ln/>
        </p:spPr>
        <p:txBody>
          <a:bodyPr wrap="square" lIns="0" tIns="0" rIns="0" bIns="0" rtlCol="0" anchor="ctr"/>
          <a:lstStyle/>
          <a:p>
            <a:pPr indent="0" marL="0">
              <a:buNone/>
            </a:pPr>
            <a:r>
              <a:rPr lang="en-US" sz="1800" i="1" dirty="0">
                <a:solidFill>
                  <a:srgbClr val="C46A2B"/>
                </a:solidFill>
                <a:latin typeface="Calibri" pitchFamily="34" charset="0"/>
                <a:ea typeface="Calibri" pitchFamily="34" charset="-122"/>
                <a:cs typeface="Calibri" pitchFamily="34" charset="-120"/>
              </a:rPr>
              <a:t>The failure starts where most of us have the least visibility.</a:t>
            </a:r>
            <a:endParaRPr lang="en-US" sz="1800" dirty="0"/>
          </a:p>
        </p:txBody>
      </p:sp>
      <p:sp>
        <p:nvSpPr>
          <p:cNvPr id="32" name="Text 26"/>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THE RISK MAP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Specialization made the chain efficient and fragile</a:t>
            </a:r>
            <a:endParaRPr lang="en-US" sz="3400" dirty="0"/>
          </a:p>
        </p:txBody>
      </p:sp>
      <p:sp>
        <p:nvSpPr>
          <p:cNvPr id="4" name="Shape 2"/>
          <p:cNvSpPr/>
          <p:nvPr/>
        </p:nvSpPr>
        <p:spPr>
          <a:xfrm>
            <a:off x="1348740" y="2606040"/>
            <a:ext cx="9494215" cy="0"/>
          </a:xfrm>
          <a:prstGeom prst="line">
            <a:avLst/>
          </a:prstGeom>
          <a:noFill/>
          <a:ln w="38100">
            <a:solidFill>
              <a:srgbClr val="D5DBE1"/>
            </a:solidFill>
            <a:prstDash val="solid"/>
          </a:ln>
        </p:spPr>
      </p:sp>
      <p:sp>
        <p:nvSpPr>
          <p:cNvPr id="5" name="Shape 3"/>
          <p:cNvSpPr/>
          <p:nvPr/>
        </p:nvSpPr>
        <p:spPr>
          <a:xfrm>
            <a:off x="845820" y="2103120"/>
            <a:ext cx="1005840" cy="1005840"/>
          </a:xfrm>
          <a:prstGeom prst="roundRect">
            <a:avLst>
              <a:gd name="adj" fmla="val 7273"/>
            </a:avLst>
          </a:prstGeom>
          <a:solidFill>
            <a:srgbClr val="1B2229"/>
          </a:solidFill>
          <a:ln w="12700">
            <a:solidFill>
              <a:srgbClr val="1B2229"/>
            </a:solidFill>
            <a:prstDash val="solid"/>
          </a:ln>
        </p:spPr>
      </p:sp>
      <p:pic>
        <p:nvPicPr>
          <p:cNvPr id="6" name="Image 0" descr="preencoded.png">    </p:cNvPr>
          <p:cNvPicPr>
            <a:picLocks noChangeAspect="1"/>
          </p:cNvPicPr>
          <p:nvPr/>
        </p:nvPicPr>
        <p:blipFill>
          <a:blip r:embed="rId1"/>
          <a:stretch>
            <a:fillRect/>
          </a:stretch>
        </p:blipFill>
        <p:spPr>
          <a:xfrm>
            <a:off x="1067105" y="2324405"/>
            <a:ext cx="563270" cy="563270"/>
          </a:xfrm>
          <a:prstGeom prst="rect">
            <a:avLst/>
          </a:prstGeom>
        </p:spPr>
      </p:pic>
      <p:sp>
        <p:nvSpPr>
          <p:cNvPr id="7" name="Text 4"/>
          <p:cNvSpPr txBox="1"/>
          <p:nvPr/>
        </p:nvSpPr>
        <p:spPr>
          <a:xfrm>
            <a:off x="548640" y="3246120"/>
            <a:ext cx="1600200" cy="457200"/>
          </a:xfrm>
          <a:prstGeom prst="rect">
            <a:avLst/>
          </a:prstGeom>
          <a:noFill/>
          <a:ln/>
        </p:spPr>
        <p:txBody>
          <a:bodyPr wrap="square" lIns="0" tIns="0" rIns="0" bIns="0" rtlCol="0" anchor="ctr"/>
          <a:lstStyle/>
          <a:p>
            <a:pPr algn="ctr" indent="0" marL="0">
              <a:buNone/>
            </a:pPr>
            <a:r>
              <a:rPr lang="en-US" sz="1500" b="1" dirty="0">
                <a:solidFill>
                  <a:srgbClr val="1B2229"/>
                </a:solidFill>
                <a:latin typeface="Calibri" pitchFamily="34" charset="0"/>
                <a:ea typeface="Calibri" pitchFamily="34" charset="-122"/>
                <a:cs typeface="Calibri" pitchFamily="34" charset="-120"/>
              </a:rPr>
              <a:t>Design &amp; IP</a:t>
            </a:r>
            <a:endParaRPr lang="en-US" sz="1500" dirty="0"/>
          </a:p>
        </p:txBody>
      </p:sp>
      <p:sp>
        <p:nvSpPr>
          <p:cNvPr id="8" name="Shape 5"/>
          <p:cNvSpPr/>
          <p:nvPr/>
        </p:nvSpPr>
        <p:spPr>
          <a:xfrm>
            <a:off x="2744663" y="2103120"/>
            <a:ext cx="1005840" cy="1005840"/>
          </a:xfrm>
          <a:prstGeom prst="roundRect">
            <a:avLst>
              <a:gd name="adj" fmla="val 7273"/>
            </a:avLst>
          </a:prstGeom>
          <a:solidFill>
            <a:srgbClr val="1B2229"/>
          </a:solidFill>
          <a:ln w="12700">
            <a:solidFill>
              <a:srgbClr val="1B2229"/>
            </a:solidFill>
            <a:prstDash val="solid"/>
          </a:ln>
        </p:spPr>
      </p:sp>
      <p:pic>
        <p:nvPicPr>
          <p:cNvPr id="9" name="Image 1" descr="preencoded.png">    </p:cNvPr>
          <p:cNvPicPr>
            <a:picLocks noChangeAspect="1"/>
          </p:cNvPicPr>
          <p:nvPr/>
        </p:nvPicPr>
        <p:blipFill>
          <a:blip r:embed="rId2"/>
          <a:stretch>
            <a:fillRect/>
          </a:stretch>
        </p:blipFill>
        <p:spPr>
          <a:xfrm>
            <a:off x="2965948" y="2324405"/>
            <a:ext cx="563270" cy="563270"/>
          </a:xfrm>
          <a:prstGeom prst="rect">
            <a:avLst/>
          </a:prstGeom>
        </p:spPr>
      </p:pic>
      <p:sp>
        <p:nvSpPr>
          <p:cNvPr id="10" name="Text 6"/>
          <p:cNvSpPr txBox="1"/>
          <p:nvPr/>
        </p:nvSpPr>
        <p:spPr>
          <a:xfrm>
            <a:off x="2447483" y="3246120"/>
            <a:ext cx="1600200" cy="457200"/>
          </a:xfrm>
          <a:prstGeom prst="rect">
            <a:avLst/>
          </a:prstGeom>
          <a:noFill/>
          <a:ln/>
        </p:spPr>
        <p:txBody>
          <a:bodyPr wrap="square" lIns="0" tIns="0" rIns="0" bIns="0" rtlCol="0" anchor="ctr"/>
          <a:lstStyle/>
          <a:p>
            <a:pPr algn="ctr" indent="0" marL="0">
              <a:buNone/>
            </a:pPr>
            <a:r>
              <a:rPr lang="en-US" sz="1500" b="1" dirty="0">
                <a:solidFill>
                  <a:srgbClr val="1B2229"/>
                </a:solidFill>
                <a:latin typeface="Calibri" pitchFamily="34" charset="0"/>
                <a:ea typeface="Calibri" pitchFamily="34" charset="-122"/>
                <a:cs typeface="Calibri" pitchFamily="34" charset="-120"/>
              </a:rPr>
              <a:t>Materials &amp; gases</a:t>
            </a:r>
            <a:endParaRPr lang="en-US" sz="1500" dirty="0"/>
          </a:p>
        </p:txBody>
      </p:sp>
      <p:sp>
        <p:nvSpPr>
          <p:cNvPr id="11" name="Shape 7"/>
          <p:cNvSpPr/>
          <p:nvPr/>
        </p:nvSpPr>
        <p:spPr>
          <a:xfrm>
            <a:off x="4643506" y="2103120"/>
            <a:ext cx="1005840" cy="1005840"/>
          </a:xfrm>
          <a:prstGeom prst="roundRect">
            <a:avLst>
              <a:gd name="adj" fmla="val 7273"/>
            </a:avLst>
          </a:prstGeom>
          <a:solidFill>
            <a:srgbClr val="1B2229"/>
          </a:solidFill>
          <a:ln w="12700">
            <a:solidFill>
              <a:srgbClr val="1B2229"/>
            </a:solidFill>
            <a:prstDash val="solid"/>
          </a:ln>
        </p:spPr>
      </p:sp>
      <p:pic>
        <p:nvPicPr>
          <p:cNvPr id="12" name="Image 2" descr="preencoded.png">    </p:cNvPr>
          <p:cNvPicPr>
            <a:picLocks noChangeAspect="1"/>
          </p:cNvPicPr>
          <p:nvPr/>
        </p:nvPicPr>
        <p:blipFill>
          <a:blip r:embed="rId3"/>
          <a:stretch>
            <a:fillRect/>
          </a:stretch>
        </p:blipFill>
        <p:spPr>
          <a:xfrm>
            <a:off x="4864791" y="2324405"/>
            <a:ext cx="563270" cy="563270"/>
          </a:xfrm>
          <a:prstGeom prst="rect">
            <a:avLst/>
          </a:prstGeom>
        </p:spPr>
      </p:pic>
      <p:sp>
        <p:nvSpPr>
          <p:cNvPr id="13" name="Text 8"/>
          <p:cNvSpPr txBox="1"/>
          <p:nvPr/>
        </p:nvSpPr>
        <p:spPr>
          <a:xfrm>
            <a:off x="4346326" y="3246120"/>
            <a:ext cx="1600200" cy="457200"/>
          </a:xfrm>
          <a:prstGeom prst="rect">
            <a:avLst/>
          </a:prstGeom>
          <a:noFill/>
          <a:ln/>
        </p:spPr>
        <p:txBody>
          <a:bodyPr wrap="square" lIns="0" tIns="0" rIns="0" bIns="0" rtlCol="0" anchor="ctr"/>
          <a:lstStyle/>
          <a:p>
            <a:pPr algn="ctr" indent="0" marL="0">
              <a:buNone/>
            </a:pPr>
            <a:r>
              <a:rPr lang="en-US" sz="1500" b="1" dirty="0">
                <a:solidFill>
                  <a:srgbClr val="1B2229"/>
                </a:solidFill>
                <a:latin typeface="Calibri" pitchFamily="34" charset="0"/>
                <a:ea typeface="Calibri" pitchFamily="34" charset="-122"/>
                <a:cs typeface="Calibri" pitchFamily="34" charset="-120"/>
              </a:rPr>
              <a:t>Equipment</a:t>
            </a:r>
            <a:endParaRPr lang="en-US" sz="1500" dirty="0"/>
          </a:p>
        </p:txBody>
      </p:sp>
      <p:sp>
        <p:nvSpPr>
          <p:cNvPr id="14" name="Shape 9"/>
          <p:cNvSpPr/>
          <p:nvPr/>
        </p:nvSpPr>
        <p:spPr>
          <a:xfrm>
            <a:off x="6542349" y="2103120"/>
            <a:ext cx="1005840" cy="1005840"/>
          </a:xfrm>
          <a:prstGeom prst="roundRect">
            <a:avLst>
              <a:gd name="adj" fmla="val 7273"/>
            </a:avLst>
          </a:prstGeom>
          <a:solidFill>
            <a:srgbClr val="C46A2B"/>
          </a:solidFill>
          <a:ln w="12700">
            <a:solidFill>
              <a:srgbClr val="C46A2B"/>
            </a:solidFill>
            <a:prstDash val="solid"/>
          </a:ln>
        </p:spPr>
      </p:sp>
      <p:pic>
        <p:nvPicPr>
          <p:cNvPr id="15" name="Image 3" descr="preencoded.png">    </p:cNvPr>
          <p:cNvPicPr>
            <a:picLocks noChangeAspect="1"/>
          </p:cNvPicPr>
          <p:nvPr/>
        </p:nvPicPr>
        <p:blipFill>
          <a:blip r:embed="rId4"/>
          <a:stretch>
            <a:fillRect/>
          </a:stretch>
        </p:blipFill>
        <p:spPr>
          <a:xfrm>
            <a:off x="6763634" y="2324405"/>
            <a:ext cx="563270" cy="563270"/>
          </a:xfrm>
          <a:prstGeom prst="rect">
            <a:avLst/>
          </a:prstGeom>
        </p:spPr>
      </p:pic>
      <p:sp>
        <p:nvSpPr>
          <p:cNvPr id="16" name="Text 10"/>
          <p:cNvSpPr txBox="1"/>
          <p:nvPr/>
        </p:nvSpPr>
        <p:spPr>
          <a:xfrm>
            <a:off x="6245169" y="3246120"/>
            <a:ext cx="1600200" cy="457200"/>
          </a:xfrm>
          <a:prstGeom prst="rect">
            <a:avLst/>
          </a:prstGeom>
          <a:noFill/>
          <a:ln/>
        </p:spPr>
        <p:txBody>
          <a:bodyPr wrap="square" lIns="0" tIns="0" rIns="0" bIns="0" rtlCol="0" anchor="ctr"/>
          <a:lstStyle/>
          <a:p>
            <a:pPr algn="ctr" indent="0" marL="0">
              <a:buNone/>
            </a:pPr>
            <a:r>
              <a:rPr lang="en-US" sz="1500" b="1" dirty="0">
                <a:solidFill>
                  <a:srgbClr val="1B2229"/>
                </a:solidFill>
                <a:latin typeface="Calibri" pitchFamily="34" charset="0"/>
                <a:ea typeface="Calibri" pitchFamily="34" charset="-122"/>
                <a:cs typeface="Calibri" pitchFamily="34" charset="-120"/>
              </a:rPr>
              <a:t>Wafer fab</a:t>
            </a:r>
            <a:endParaRPr lang="en-US" sz="1500" dirty="0"/>
          </a:p>
        </p:txBody>
      </p:sp>
      <p:sp>
        <p:nvSpPr>
          <p:cNvPr id="17" name="Shape 11"/>
          <p:cNvSpPr/>
          <p:nvPr/>
        </p:nvSpPr>
        <p:spPr>
          <a:xfrm>
            <a:off x="8441192" y="2103120"/>
            <a:ext cx="1005840" cy="1005840"/>
          </a:xfrm>
          <a:prstGeom prst="roundRect">
            <a:avLst>
              <a:gd name="adj" fmla="val 7273"/>
            </a:avLst>
          </a:prstGeom>
          <a:solidFill>
            <a:srgbClr val="1B2229"/>
          </a:solidFill>
          <a:ln w="12700">
            <a:solidFill>
              <a:srgbClr val="1B2229"/>
            </a:solidFill>
            <a:prstDash val="solid"/>
          </a:ln>
        </p:spPr>
      </p:sp>
      <p:pic>
        <p:nvPicPr>
          <p:cNvPr id="18" name="Image 4" descr="preencoded.png">    </p:cNvPr>
          <p:cNvPicPr>
            <a:picLocks noChangeAspect="1"/>
          </p:cNvPicPr>
          <p:nvPr/>
        </p:nvPicPr>
        <p:blipFill>
          <a:blip r:embed="rId5"/>
          <a:stretch>
            <a:fillRect/>
          </a:stretch>
        </p:blipFill>
        <p:spPr>
          <a:xfrm>
            <a:off x="8662477" y="2324405"/>
            <a:ext cx="563270" cy="563270"/>
          </a:xfrm>
          <a:prstGeom prst="rect">
            <a:avLst/>
          </a:prstGeom>
        </p:spPr>
      </p:pic>
      <p:sp>
        <p:nvSpPr>
          <p:cNvPr id="19" name="Text 12"/>
          <p:cNvSpPr txBox="1"/>
          <p:nvPr/>
        </p:nvSpPr>
        <p:spPr>
          <a:xfrm>
            <a:off x="8144012" y="3246120"/>
            <a:ext cx="1600200" cy="457200"/>
          </a:xfrm>
          <a:prstGeom prst="rect">
            <a:avLst/>
          </a:prstGeom>
          <a:noFill/>
          <a:ln/>
        </p:spPr>
        <p:txBody>
          <a:bodyPr wrap="square" lIns="0" tIns="0" rIns="0" bIns="0" rtlCol="0" anchor="ctr"/>
          <a:lstStyle/>
          <a:p>
            <a:pPr algn="ctr" indent="0" marL="0">
              <a:buNone/>
            </a:pPr>
            <a:r>
              <a:rPr lang="en-US" sz="1500" b="1" dirty="0">
                <a:solidFill>
                  <a:srgbClr val="1B2229"/>
                </a:solidFill>
                <a:latin typeface="Calibri" pitchFamily="34" charset="0"/>
                <a:ea typeface="Calibri" pitchFamily="34" charset="-122"/>
                <a:cs typeface="Calibri" pitchFamily="34" charset="-120"/>
              </a:rPr>
              <a:t>Assembly &amp; test</a:t>
            </a:r>
            <a:endParaRPr lang="en-US" sz="1500" dirty="0"/>
          </a:p>
        </p:txBody>
      </p:sp>
      <p:sp>
        <p:nvSpPr>
          <p:cNvPr id="20" name="Shape 13"/>
          <p:cNvSpPr/>
          <p:nvPr/>
        </p:nvSpPr>
        <p:spPr>
          <a:xfrm>
            <a:off x="10340035" y="2103120"/>
            <a:ext cx="1005840" cy="1005840"/>
          </a:xfrm>
          <a:prstGeom prst="roundRect">
            <a:avLst>
              <a:gd name="adj" fmla="val 7273"/>
            </a:avLst>
          </a:prstGeom>
          <a:solidFill>
            <a:srgbClr val="1B2229"/>
          </a:solidFill>
          <a:ln w="12700">
            <a:solidFill>
              <a:srgbClr val="1B2229"/>
            </a:solidFill>
            <a:prstDash val="solid"/>
          </a:ln>
        </p:spPr>
      </p:sp>
      <p:pic>
        <p:nvPicPr>
          <p:cNvPr id="21" name="Image 5" descr="preencoded.png">    </p:cNvPr>
          <p:cNvPicPr>
            <a:picLocks noChangeAspect="1"/>
          </p:cNvPicPr>
          <p:nvPr/>
        </p:nvPicPr>
        <p:blipFill>
          <a:blip r:embed="rId6"/>
          <a:stretch>
            <a:fillRect/>
          </a:stretch>
        </p:blipFill>
        <p:spPr>
          <a:xfrm>
            <a:off x="10561320" y="2324405"/>
            <a:ext cx="563270" cy="563270"/>
          </a:xfrm>
          <a:prstGeom prst="rect">
            <a:avLst/>
          </a:prstGeom>
        </p:spPr>
      </p:pic>
      <p:sp>
        <p:nvSpPr>
          <p:cNvPr id="22" name="Text 14"/>
          <p:cNvSpPr txBox="1"/>
          <p:nvPr/>
        </p:nvSpPr>
        <p:spPr>
          <a:xfrm>
            <a:off x="10042855" y="3246120"/>
            <a:ext cx="1600200" cy="457200"/>
          </a:xfrm>
          <a:prstGeom prst="rect">
            <a:avLst/>
          </a:prstGeom>
          <a:noFill/>
          <a:ln/>
        </p:spPr>
        <p:txBody>
          <a:bodyPr wrap="square" lIns="0" tIns="0" rIns="0" bIns="0" rtlCol="0" anchor="ctr"/>
          <a:lstStyle/>
          <a:p>
            <a:pPr algn="ctr" indent="0" marL="0">
              <a:buNone/>
            </a:pPr>
            <a:r>
              <a:rPr lang="en-US" sz="1500" b="1" dirty="0">
                <a:solidFill>
                  <a:srgbClr val="1B2229"/>
                </a:solidFill>
                <a:latin typeface="Calibri" pitchFamily="34" charset="0"/>
                <a:ea typeface="Calibri" pitchFamily="34" charset="-122"/>
                <a:cs typeface="Calibri" pitchFamily="34" charset="-120"/>
              </a:rPr>
              <a:t>Customers</a:t>
            </a:r>
            <a:endParaRPr lang="en-US" sz="1500" dirty="0"/>
          </a:p>
        </p:txBody>
      </p:sp>
      <p:sp>
        <p:nvSpPr>
          <p:cNvPr id="23" name="Shape 15"/>
          <p:cNvSpPr/>
          <p:nvPr/>
        </p:nvSpPr>
        <p:spPr>
          <a:xfrm>
            <a:off x="548640" y="4069080"/>
            <a:ext cx="5394960" cy="1737360"/>
          </a:xfrm>
          <a:prstGeom prst="rect">
            <a:avLst/>
          </a:prstGeom>
          <a:solidFill>
            <a:srgbClr val="EEF1F4"/>
          </a:solidFill>
          <a:ln w="12700">
            <a:solidFill>
              <a:srgbClr val="EEF1F4"/>
            </a:solidFill>
            <a:prstDash val="solid"/>
          </a:ln>
        </p:spPr>
      </p:sp>
      <p:sp>
        <p:nvSpPr>
          <p:cNvPr id="24" name="Text 16"/>
          <p:cNvSpPr txBox="1"/>
          <p:nvPr/>
        </p:nvSpPr>
        <p:spPr>
          <a:xfrm>
            <a:off x="822960" y="4251960"/>
            <a:ext cx="484632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Each step is specialized</a:t>
            </a:r>
            <a:endParaRPr lang="en-US" sz="1800" dirty="0"/>
          </a:p>
        </p:txBody>
      </p:sp>
      <p:sp>
        <p:nvSpPr>
          <p:cNvPr id="25" name="Text 17"/>
          <p:cNvSpPr txBox="1"/>
          <p:nvPr/>
        </p:nvSpPr>
        <p:spPr>
          <a:xfrm>
            <a:off x="822960" y="4709160"/>
            <a:ext cx="4846320" cy="960120"/>
          </a:xfrm>
          <a:prstGeom prst="rect">
            <a:avLst/>
          </a:prstGeom>
          <a:noFill/>
          <a:ln/>
        </p:spPr>
        <p:txBody>
          <a:bodyPr wrap="square" lIns="0" tIns="0" rIns="0" bIns="0" rtlCol="0" anchor="t"/>
          <a:lstStyle/>
          <a:p>
            <a:pPr indent="0" marL="0">
              <a:buNone/>
            </a:pPr>
            <a:r>
              <a:rPr lang="en-US" sz="1500" dirty="0">
                <a:solidFill>
                  <a:srgbClr val="5A6672"/>
                </a:solidFill>
                <a:latin typeface="Calibri" pitchFamily="34" charset="0"/>
                <a:ea typeface="Calibri" pitchFamily="34" charset="-122"/>
                <a:cs typeface="Calibri" pitchFamily="34" charset="-120"/>
              </a:rPr>
              <a:t>Few qualified sources exist for many inputs, and qualifying a new one takes months to years.</a:t>
            </a:r>
            <a:endParaRPr lang="en-US" sz="1500" dirty="0"/>
          </a:p>
        </p:txBody>
      </p:sp>
      <p:sp>
        <p:nvSpPr>
          <p:cNvPr id="26" name="Shape 18"/>
          <p:cNvSpPr/>
          <p:nvPr/>
        </p:nvSpPr>
        <p:spPr>
          <a:xfrm>
            <a:off x="6217920" y="4069080"/>
            <a:ext cx="5394960" cy="1737360"/>
          </a:xfrm>
          <a:prstGeom prst="rect">
            <a:avLst/>
          </a:prstGeom>
          <a:solidFill>
            <a:srgbClr val="EEF1F4"/>
          </a:solidFill>
          <a:ln w="12700">
            <a:solidFill>
              <a:srgbClr val="EEF1F4"/>
            </a:solidFill>
            <a:prstDash val="solid"/>
          </a:ln>
        </p:spPr>
      </p:sp>
      <p:sp>
        <p:nvSpPr>
          <p:cNvPr id="27" name="Text 19"/>
          <p:cNvSpPr txBox="1"/>
          <p:nvPr/>
        </p:nvSpPr>
        <p:spPr>
          <a:xfrm>
            <a:off x="6492240" y="4251960"/>
            <a:ext cx="484632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Each hand-off can cross a border</a:t>
            </a:r>
            <a:endParaRPr lang="en-US" sz="1800" dirty="0"/>
          </a:p>
        </p:txBody>
      </p:sp>
      <p:sp>
        <p:nvSpPr>
          <p:cNvPr id="28" name="Text 20"/>
          <p:cNvSpPr txBox="1"/>
          <p:nvPr/>
        </p:nvSpPr>
        <p:spPr>
          <a:xfrm>
            <a:off x="6492240" y="4709160"/>
            <a:ext cx="4846320" cy="960120"/>
          </a:xfrm>
          <a:prstGeom prst="rect">
            <a:avLst/>
          </a:prstGeom>
          <a:noFill/>
          <a:ln/>
        </p:spPr>
        <p:txBody>
          <a:bodyPr wrap="square" lIns="0" tIns="0" rIns="0" bIns="0" rtlCol="0" anchor="t"/>
          <a:lstStyle/>
          <a:p>
            <a:pPr indent="0" marL="0">
              <a:buNone/>
            </a:pPr>
            <a:r>
              <a:rPr lang="en-US" sz="1500" dirty="0">
                <a:solidFill>
                  <a:srgbClr val="5A6672"/>
                </a:solidFill>
                <a:latin typeface="Calibri" pitchFamily="34" charset="0"/>
                <a:ea typeface="Calibri" pitchFamily="34" charset="-122"/>
                <a:cs typeface="Calibri" pitchFamily="34" charset="-120"/>
              </a:rPr>
              <a:t>Parts and materials often move through several countries before a finished chip ships, so trade policy, logistics, and local events all add risk.</a:t>
            </a:r>
            <a:endParaRPr lang="en-US" sz="1500" dirty="0"/>
          </a:p>
        </p:txBody>
      </p:sp>
      <p:sp>
        <p:nvSpPr>
          <p:cNvPr id="29" name="Text 21"/>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THE RISK MAP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Six kinds of risk tend to hit the same few nodes</a:t>
            </a:r>
            <a:endParaRPr lang="en-US" sz="3400" dirty="0"/>
          </a:p>
        </p:txBody>
      </p:sp>
      <p:sp>
        <p:nvSpPr>
          <p:cNvPr id="4" name="Shape 2"/>
          <p:cNvSpPr/>
          <p:nvPr/>
        </p:nvSpPr>
        <p:spPr>
          <a:xfrm>
            <a:off x="548640" y="1645920"/>
            <a:ext cx="3520440" cy="1920240"/>
          </a:xfrm>
          <a:prstGeom prst="rect">
            <a:avLst/>
          </a:prstGeom>
          <a:solidFill>
            <a:srgbClr val="F6E6DA"/>
          </a:solidFill>
          <a:ln w="12700">
            <a:solidFill>
              <a:srgbClr val="F6E6DA"/>
            </a:solidFill>
            <a:prstDash val="solid"/>
          </a:ln>
        </p:spPr>
      </p:sp>
      <p:sp>
        <p:nvSpPr>
          <p:cNvPr id="5" name="Shape 3"/>
          <p:cNvSpPr/>
          <p:nvPr/>
        </p:nvSpPr>
        <p:spPr>
          <a:xfrm>
            <a:off x="822960" y="1920240"/>
            <a:ext cx="548640" cy="548640"/>
          </a:xfrm>
          <a:prstGeom prst="roundRect">
            <a:avLst>
              <a:gd name="adj" fmla="val 13333"/>
            </a:avLst>
          </a:prstGeom>
          <a:solidFill>
            <a:srgbClr val="C46A2B"/>
          </a:solidFill>
          <a:ln w="12700">
            <a:solidFill>
              <a:srgbClr val="C46A2B"/>
            </a:solidFill>
            <a:prstDash val="solid"/>
          </a:ln>
        </p:spPr>
      </p:sp>
      <p:pic>
        <p:nvPicPr>
          <p:cNvPr id="6" name="Image 0" descr="preencoded.png">    </p:cNvPr>
          <p:cNvPicPr>
            <a:picLocks noChangeAspect="1"/>
          </p:cNvPicPr>
          <p:nvPr/>
        </p:nvPicPr>
        <p:blipFill>
          <a:blip r:embed="rId1"/>
          <a:stretch>
            <a:fillRect/>
          </a:stretch>
        </p:blipFill>
        <p:spPr>
          <a:xfrm>
            <a:off x="943661" y="2040941"/>
            <a:ext cx="307238" cy="307238"/>
          </a:xfrm>
          <a:prstGeom prst="rect">
            <a:avLst/>
          </a:prstGeom>
        </p:spPr>
      </p:pic>
      <p:sp>
        <p:nvSpPr>
          <p:cNvPr id="7" name="Text 4"/>
          <p:cNvSpPr txBox="1"/>
          <p:nvPr/>
        </p:nvSpPr>
        <p:spPr>
          <a:xfrm>
            <a:off x="1554480" y="1920240"/>
            <a:ext cx="2331720" cy="54864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Concentration</a:t>
            </a:r>
            <a:endParaRPr lang="en-US" sz="1800" dirty="0"/>
          </a:p>
        </p:txBody>
      </p:sp>
      <p:sp>
        <p:nvSpPr>
          <p:cNvPr id="8" name="Text 5"/>
          <p:cNvSpPr txBox="1"/>
          <p:nvPr/>
        </p:nvSpPr>
        <p:spPr>
          <a:xfrm>
            <a:off x="822960" y="2606040"/>
            <a:ext cx="2971800" cy="82296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Sole- and single-source inputs, and sites that serve many products at once</a:t>
            </a:r>
            <a:endParaRPr lang="en-US" sz="1400" dirty="0"/>
          </a:p>
        </p:txBody>
      </p:sp>
      <p:sp>
        <p:nvSpPr>
          <p:cNvPr id="9" name="Shape 6"/>
          <p:cNvSpPr/>
          <p:nvPr/>
        </p:nvSpPr>
        <p:spPr>
          <a:xfrm>
            <a:off x="4343400" y="1645920"/>
            <a:ext cx="3520440" cy="1920240"/>
          </a:xfrm>
          <a:prstGeom prst="rect">
            <a:avLst/>
          </a:prstGeom>
          <a:solidFill>
            <a:srgbClr val="EEF1F4"/>
          </a:solidFill>
          <a:ln w="12700">
            <a:solidFill>
              <a:srgbClr val="EEF1F4"/>
            </a:solidFill>
            <a:prstDash val="solid"/>
          </a:ln>
        </p:spPr>
      </p:sp>
      <p:sp>
        <p:nvSpPr>
          <p:cNvPr id="10" name="Shape 7"/>
          <p:cNvSpPr/>
          <p:nvPr/>
        </p:nvSpPr>
        <p:spPr>
          <a:xfrm>
            <a:off x="4617720" y="1920240"/>
            <a:ext cx="548640" cy="548640"/>
          </a:xfrm>
          <a:prstGeom prst="roundRect">
            <a:avLst>
              <a:gd name="adj" fmla="val 13333"/>
            </a:avLst>
          </a:prstGeom>
          <a:solidFill>
            <a:srgbClr val="1B2229"/>
          </a:solidFill>
          <a:ln w="12700">
            <a:solidFill>
              <a:srgbClr val="1B2229"/>
            </a:solidFill>
            <a:prstDash val="solid"/>
          </a:ln>
        </p:spPr>
      </p:sp>
      <p:pic>
        <p:nvPicPr>
          <p:cNvPr id="11" name="Image 1" descr="preencoded.png">    </p:cNvPr>
          <p:cNvPicPr>
            <a:picLocks noChangeAspect="1"/>
          </p:cNvPicPr>
          <p:nvPr/>
        </p:nvPicPr>
        <p:blipFill>
          <a:blip r:embed="rId2"/>
          <a:stretch>
            <a:fillRect/>
          </a:stretch>
        </p:blipFill>
        <p:spPr>
          <a:xfrm>
            <a:off x="4738421" y="2040941"/>
            <a:ext cx="307238" cy="307238"/>
          </a:xfrm>
          <a:prstGeom prst="rect">
            <a:avLst/>
          </a:prstGeom>
        </p:spPr>
      </p:pic>
      <p:sp>
        <p:nvSpPr>
          <p:cNvPr id="12" name="Text 8"/>
          <p:cNvSpPr txBox="1"/>
          <p:nvPr/>
        </p:nvSpPr>
        <p:spPr>
          <a:xfrm>
            <a:off x="5349240" y="1920240"/>
            <a:ext cx="2331720" cy="54864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Geopolitics &amp; trade</a:t>
            </a:r>
            <a:endParaRPr lang="en-US" sz="1800" dirty="0"/>
          </a:p>
        </p:txBody>
      </p:sp>
      <p:sp>
        <p:nvSpPr>
          <p:cNvPr id="13" name="Text 9"/>
          <p:cNvSpPr txBox="1"/>
          <p:nvPr/>
        </p:nvSpPr>
        <p:spPr>
          <a:xfrm>
            <a:off x="4617720" y="2606040"/>
            <a:ext cx="2971800" cy="82296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Export controls, entity lists, tariffs, and shifting rules of origin</a:t>
            </a:r>
            <a:endParaRPr lang="en-US" sz="1400" dirty="0"/>
          </a:p>
        </p:txBody>
      </p:sp>
      <p:sp>
        <p:nvSpPr>
          <p:cNvPr id="14" name="Shape 10"/>
          <p:cNvSpPr/>
          <p:nvPr/>
        </p:nvSpPr>
        <p:spPr>
          <a:xfrm>
            <a:off x="8138160" y="1645920"/>
            <a:ext cx="3520440" cy="1920240"/>
          </a:xfrm>
          <a:prstGeom prst="rect">
            <a:avLst/>
          </a:prstGeom>
          <a:solidFill>
            <a:srgbClr val="EEF1F4"/>
          </a:solidFill>
          <a:ln w="12700">
            <a:solidFill>
              <a:srgbClr val="EEF1F4"/>
            </a:solidFill>
            <a:prstDash val="solid"/>
          </a:ln>
        </p:spPr>
      </p:sp>
      <p:sp>
        <p:nvSpPr>
          <p:cNvPr id="15" name="Shape 11"/>
          <p:cNvSpPr/>
          <p:nvPr/>
        </p:nvSpPr>
        <p:spPr>
          <a:xfrm>
            <a:off x="8412480" y="1920240"/>
            <a:ext cx="548640" cy="548640"/>
          </a:xfrm>
          <a:prstGeom prst="roundRect">
            <a:avLst>
              <a:gd name="adj" fmla="val 13333"/>
            </a:avLst>
          </a:prstGeom>
          <a:solidFill>
            <a:srgbClr val="1B2229"/>
          </a:solidFill>
          <a:ln w="12700">
            <a:solidFill>
              <a:srgbClr val="1B2229"/>
            </a:solidFill>
            <a:prstDash val="solid"/>
          </a:ln>
        </p:spPr>
      </p:sp>
      <p:pic>
        <p:nvPicPr>
          <p:cNvPr id="16" name="Image 2" descr="preencoded.png">    </p:cNvPr>
          <p:cNvPicPr>
            <a:picLocks noChangeAspect="1"/>
          </p:cNvPicPr>
          <p:nvPr/>
        </p:nvPicPr>
        <p:blipFill>
          <a:blip r:embed="rId3"/>
          <a:stretch>
            <a:fillRect/>
          </a:stretch>
        </p:blipFill>
        <p:spPr>
          <a:xfrm>
            <a:off x="8533181" y="2040941"/>
            <a:ext cx="307238" cy="307238"/>
          </a:xfrm>
          <a:prstGeom prst="rect">
            <a:avLst/>
          </a:prstGeom>
        </p:spPr>
      </p:pic>
      <p:sp>
        <p:nvSpPr>
          <p:cNvPr id="17" name="Text 12"/>
          <p:cNvSpPr txBox="1"/>
          <p:nvPr/>
        </p:nvSpPr>
        <p:spPr>
          <a:xfrm>
            <a:off x="9144000" y="1920240"/>
            <a:ext cx="2331720" cy="54864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Natural hazards &amp; utilities</a:t>
            </a:r>
            <a:endParaRPr lang="en-US" sz="1800" dirty="0"/>
          </a:p>
        </p:txBody>
      </p:sp>
      <p:sp>
        <p:nvSpPr>
          <p:cNvPr id="18" name="Text 13"/>
          <p:cNvSpPr txBox="1"/>
          <p:nvPr/>
        </p:nvSpPr>
        <p:spPr>
          <a:xfrm>
            <a:off x="8412480" y="2606040"/>
            <a:ext cx="2971800" cy="82296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Earthquakes, storms, drought, and power or water outages at key sites</a:t>
            </a:r>
            <a:endParaRPr lang="en-US" sz="1400" dirty="0"/>
          </a:p>
        </p:txBody>
      </p:sp>
      <p:sp>
        <p:nvSpPr>
          <p:cNvPr id="19" name="Shape 14"/>
          <p:cNvSpPr/>
          <p:nvPr/>
        </p:nvSpPr>
        <p:spPr>
          <a:xfrm>
            <a:off x="548640" y="3840480"/>
            <a:ext cx="3520440" cy="1920240"/>
          </a:xfrm>
          <a:prstGeom prst="rect">
            <a:avLst/>
          </a:prstGeom>
          <a:solidFill>
            <a:srgbClr val="EEF1F4"/>
          </a:solidFill>
          <a:ln w="12700">
            <a:solidFill>
              <a:srgbClr val="EEF1F4"/>
            </a:solidFill>
            <a:prstDash val="solid"/>
          </a:ln>
        </p:spPr>
      </p:sp>
      <p:sp>
        <p:nvSpPr>
          <p:cNvPr id="20" name="Shape 15"/>
          <p:cNvSpPr/>
          <p:nvPr/>
        </p:nvSpPr>
        <p:spPr>
          <a:xfrm>
            <a:off x="822960" y="4114800"/>
            <a:ext cx="548640" cy="548640"/>
          </a:xfrm>
          <a:prstGeom prst="roundRect">
            <a:avLst>
              <a:gd name="adj" fmla="val 13333"/>
            </a:avLst>
          </a:prstGeom>
          <a:solidFill>
            <a:srgbClr val="1B2229"/>
          </a:solidFill>
          <a:ln w="12700">
            <a:solidFill>
              <a:srgbClr val="1B2229"/>
            </a:solidFill>
            <a:prstDash val="solid"/>
          </a:ln>
        </p:spPr>
      </p:sp>
      <p:pic>
        <p:nvPicPr>
          <p:cNvPr id="21" name="Image 3" descr="preencoded.png">    </p:cNvPr>
          <p:cNvPicPr>
            <a:picLocks noChangeAspect="1"/>
          </p:cNvPicPr>
          <p:nvPr/>
        </p:nvPicPr>
        <p:blipFill>
          <a:blip r:embed="rId4"/>
          <a:stretch>
            <a:fillRect/>
          </a:stretch>
        </p:blipFill>
        <p:spPr>
          <a:xfrm>
            <a:off x="943661" y="4235501"/>
            <a:ext cx="307238" cy="307238"/>
          </a:xfrm>
          <a:prstGeom prst="rect">
            <a:avLst/>
          </a:prstGeom>
        </p:spPr>
      </p:pic>
      <p:sp>
        <p:nvSpPr>
          <p:cNvPr id="22" name="Text 16"/>
          <p:cNvSpPr txBox="1"/>
          <p:nvPr/>
        </p:nvSpPr>
        <p:spPr>
          <a:xfrm>
            <a:off x="1554480" y="4114800"/>
            <a:ext cx="2331720" cy="54864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Logistics</a:t>
            </a:r>
            <a:endParaRPr lang="en-US" sz="1800" dirty="0"/>
          </a:p>
        </p:txBody>
      </p:sp>
      <p:sp>
        <p:nvSpPr>
          <p:cNvPr id="23" name="Text 17"/>
          <p:cNvSpPr txBox="1"/>
          <p:nvPr/>
        </p:nvSpPr>
        <p:spPr>
          <a:xfrm>
            <a:off x="822960" y="4800600"/>
            <a:ext cx="2971800" cy="82296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Port, air freight, and customs delays for time-critical materials</a:t>
            </a:r>
            <a:endParaRPr lang="en-US" sz="1400" dirty="0"/>
          </a:p>
        </p:txBody>
      </p:sp>
      <p:sp>
        <p:nvSpPr>
          <p:cNvPr id="24" name="Shape 18"/>
          <p:cNvSpPr/>
          <p:nvPr/>
        </p:nvSpPr>
        <p:spPr>
          <a:xfrm>
            <a:off x="4343400" y="3840480"/>
            <a:ext cx="3520440" cy="1920240"/>
          </a:xfrm>
          <a:prstGeom prst="rect">
            <a:avLst/>
          </a:prstGeom>
          <a:solidFill>
            <a:srgbClr val="EEF1F4"/>
          </a:solidFill>
          <a:ln w="12700">
            <a:solidFill>
              <a:srgbClr val="EEF1F4"/>
            </a:solidFill>
            <a:prstDash val="solid"/>
          </a:ln>
        </p:spPr>
      </p:sp>
      <p:sp>
        <p:nvSpPr>
          <p:cNvPr id="25" name="Shape 19"/>
          <p:cNvSpPr/>
          <p:nvPr/>
        </p:nvSpPr>
        <p:spPr>
          <a:xfrm>
            <a:off x="4617720" y="4114800"/>
            <a:ext cx="548640" cy="548640"/>
          </a:xfrm>
          <a:prstGeom prst="roundRect">
            <a:avLst>
              <a:gd name="adj" fmla="val 13333"/>
            </a:avLst>
          </a:prstGeom>
          <a:solidFill>
            <a:srgbClr val="1B2229"/>
          </a:solidFill>
          <a:ln w="12700">
            <a:solidFill>
              <a:srgbClr val="1B2229"/>
            </a:solidFill>
            <a:prstDash val="solid"/>
          </a:ln>
        </p:spPr>
      </p:sp>
      <p:pic>
        <p:nvPicPr>
          <p:cNvPr id="26" name="Image 4" descr="preencoded.png">    </p:cNvPr>
          <p:cNvPicPr>
            <a:picLocks noChangeAspect="1"/>
          </p:cNvPicPr>
          <p:nvPr/>
        </p:nvPicPr>
        <p:blipFill>
          <a:blip r:embed="rId5"/>
          <a:stretch>
            <a:fillRect/>
          </a:stretch>
        </p:blipFill>
        <p:spPr>
          <a:xfrm>
            <a:off x="4738421" y="4235501"/>
            <a:ext cx="307238" cy="307238"/>
          </a:xfrm>
          <a:prstGeom prst="rect">
            <a:avLst/>
          </a:prstGeom>
        </p:spPr>
      </p:pic>
      <p:sp>
        <p:nvSpPr>
          <p:cNvPr id="27" name="Text 20"/>
          <p:cNvSpPr txBox="1"/>
          <p:nvPr/>
        </p:nvSpPr>
        <p:spPr>
          <a:xfrm>
            <a:off x="5349240" y="4114800"/>
            <a:ext cx="2331720" cy="54864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Demand swings</a:t>
            </a:r>
            <a:endParaRPr lang="en-US" sz="1800" dirty="0"/>
          </a:p>
        </p:txBody>
      </p:sp>
      <p:sp>
        <p:nvSpPr>
          <p:cNvPr id="28" name="Text 21"/>
          <p:cNvSpPr txBox="1"/>
          <p:nvPr/>
        </p:nvSpPr>
        <p:spPr>
          <a:xfrm>
            <a:off x="4617720" y="4800600"/>
            <a:ext cx="2971800" cy="82296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Forecast whiplash that turns into over-ordering, then shortages</a:t>
            </a:r>
            <a:endParaRPr lang="en-US" sz="1400" dirty="0"/>
          </a:p>
        </p:txBody>
      </p:sp>
      <p:sp>
        <p:nvSpPr>
          <p:cNvPr id="29" name="Shape 22"/>
          <p:cNvSpPr/>
          <p:nvPr/>
        </p:nvSpPr>
        <p:spPr>
          <a:xfrm>
            <a:off x="8138160" y="3840480"/>
            <a:ext cx="3520440" cy="1920240"/>
          </a:xfrm>
          <a:prstGeom prst="rect">
            <a:avLst/>
          </a:prstGeom>
          <a:solidFill>
            <a:srgbClr val="EEF1F4"/>
          </a:solidFill>
          <a:ln w="12700">
            <a:solidFill>
              <a:srgbClr val="EEF1F4"/>
            </a:solidFill>
            <a:prstDash val="solid"/>
          </a:ln>
        </p:spPr>
      </p:sp>
      <p:sp>
        <p:nvSpPr>
          <p:cNvPr id="30" name="Shape 23"/>
          <p:cNvSpPr/>
          <p:nvPr/>
        </p:nvSpPr>
        <p:spPr>
          <a:xfrm>
            <a:off x="8412480" y="4114800"/>
            <a:ext cx="548640" cy="548640"/>
          </a:xfrm>
          <a:prstGeom prst="roundRect">
            <a:avLst>
              <a:gd name="adj" fmla="val 13333"/>
            </a:avLst>
          </a:prstGeom>
          <a:solidFill>
            <a:srgbClr val="1B2229"/>
          </a:solidFill>
          <a:ln w="12700">
            <a:solidFill>
              <a:srgbClr val="1B2229"/>
            </a:solidFill>
            <a:prstDash val="solid"/>
          </a:ln>
        </p:spPr>
      </p:sp>
      <p:pic>
        <p:nvPicPr>
          <p:cNvPr id="31" name="Image 5" descr="preencoded.png">    </p:cNvPr>
          <p:cNvPicPr>
            <a:picLocks noChangeAspect="1"/>
          </p:cNvPicPr>
          <p:nvPr/>
        </p:nvPicPr>
        <p:blipFill>
          <a:blip r:embed="rId6"/>
          <a:stretch>
            <a:fillRect/>
          </a:stretch>
        </p:blipFill>
        <p:spPr>
          <a:xfrm>
            <a:off x="8533181" y="4235501"/>
            <a:ext cx="307238" cy="307238"/>
          </a:xfrm>
          <a:prstGeom prst="rect">
            <a:avLst/>
          </a:prstGeom>
        </p:spPr>
      </p:pic>
      <p:sp>
        <p:nvSpPr>
          <p:cNvPr id="32" name="Text 24"/>
          <p:cNvSpPr txBox="1"/>
          <p:nvPr/>
        </p:nvSpPr>
        <p:spPr>
          <a:xfrm>
            <a:off x="9144000" y="4114800"/>
            <a:ext cx="2331720" cy="54864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Cyber &amp; IP</a:t>
            </a:r>
            <a:endParaRPr lang="en-US" sz="1800" dirty="0"/>
          </a:p>
        </p:txBody>
      </p:sp>
      <p:sp>
        <p:nvSpPr>
          <p:cNvPr id="33" name="Text 25"/>
          <p:cNvSpPr txBox="1"/>
          <p:nvPr/>
        </p:nvSpPr>
        <p:spPr>
          <a:xfrm>
            <a:off x="8412480" y="4800600"/>
            <a:ext cx="2971800" cy="82296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Attacks on suppliers and leaks of sensitive design or process data</a:t>
            </a:r>
            <a:endParaRPr lang="en-US" sz="1400" dirty="0"/>
          </a:p>
        </p:txBody>
      </p:sp>
      <p:sp>
        <p:nvSpPr>
          <p:cNvPr id="34" name="Text 26"/>
          <p:cNvSpPr txBox="1"/>
          <p:nvPr/>
        </p:nvSpPr>
        <p:spPr>
          <a:xfrm>
            <a:off x="548640" y="5989320"/>
            <a:ext cx="11094415" cy="365760"/>
          </a:xfrm>
          <a:prstGeom prst="rect">
            <a:avLst/>
          </a:prstGeom>
          <a:noFill/>
          <a:ln/>
        </p:spPr>
        <p:txBody>
          <a:bodyPr wrap="square" lIns="0" tIns="0" rIns="0" bIns="0" rtlCol="0" anchor="ctr"/>
          <a:lstStyle/>
          <a:p>
            <a:pPr indent="0" marL="0">
              <a:buNone/>
            </a:pPr>
            <a:r>
              <a:rPr lang="en-US" sz="1600" i="1" dirty="0">
                <a:solidFill>
                  <a:srgbClr val="C46A2B"/>
                </a:solidFill>
                <a:latin typeface="Calibri" pitchFamily="34" charset="0"/>
                <a:ea typeface="Calibri" pitchFamily="34" charset="-122"/>
                <a:cs typeface="Calibri" pitchFamily="34" charset="-120"/>
              </a:rPr>
              <a:t>When several of these overlap at one node, that node is where to look first.</a:t>
            </a:r>
            <a:endParaRPr lang="en-US" sz="1600" dirty="0"/>
          </a:p>
        </p:txBody>
      </p:sp>
      <p:sp>
        <p:nvSpPr>
          <p:cNvPr id="35" name="Text 27"/>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THE RISK MAP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Most exposure sits below tier 1, where visibility drops off</a:t>
            </a:r>
            <a:endParaRPr lang="en-US" sz="3400" dirty="0"/>
          </a:p>
        </p:txBody>
      </p:sp>
      <p:sp>
        <p:nvSpPr>
          <p:cNvPr id="4" name="Shape 2"/>
          <p:cNvSpPr/>
          <p:nvPr/>
        </p:nvSpPr>
        <p:spPr>
          <a:xfrm>
            <a:off x="731520" y="1737360"/>
            <a:ext cx="10881360" cy="1143000"/>
          </a:xfrm>
          <a:prstGeom prst="rect">
            <a:avLst/>
          </a:prstGeom>
          <a:solidFill>
            <a:srgbClr val="1B2229"/>
          </a:solidFill>
          <a:ln w="12700">
            <a:solidFill>
              <a:srgbClr val="1B2229"/>
            </a:solidFill>
            <a:prstDash val="solid"/>
          </a:ln>
        </p:spPr>
      </p:sp>
      <p:sp>
        <p:nvSpPr>
          <p:cNvPr id="5" name="Text 3"/>
          <p:cNvSpPr txBox="1"/>
          <p:nvPr/>
        </p:nvSpPr>
        <p:spPr>
          <a:xfrm>
            <a:off x="1005840" y="1737360"/>
            <a:ext cx="1280160" cy="11430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Tier 1</a:t>
            </a:r>
            <a:endParaRPr lang="en-US" sz="2200" dirty="0"/>
          </a:p>
        </p:txBody>
      </p:sp>
      <p:sp>
        <p:nvSpPr>
          <p:cNvPr id="6" name="Text 4"/>
          <p:cNvSpPr txBox="1"/>
          <p:nvPr/>
        </p:nvSpPr>
        <p:spPr>
          <a:xfrm>
            <a:off x="2377440" y="1737360"/>
            <a:ext cx="7132320" cy="11430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Direct suppliers</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Contracts, POs, scorecards, regular reviews</a:t>
            </a:r>
            <a:endParaRPr lang="en-US" sz="1400" dirty="0"/>
          </a:p>
        </p:txBody>
      </p:sp>
      <p:sp>
        <p:nvSpPr>
          <p:cNvPr id="7" name="Text 5"/>
          <p:cNvSpPr txBox="1"/>
          <p:nvPr/>
        </p:nvSpPr>
        <p:spPr>
          <a:xfrm>
            <a:off x="9601200" y="1737360"/>
            <a:ext cx="1828800" cy="1143000"/>
          </a:xfrm>
          <a:prstGeom prst="rect">
            <a:avLst/>
          </a:prstGeom>
          <a:noFill/>
          <a:ln/>
        </p:spPr>
        <p:txBody>
          <a:bodyPr wrap="square" lIns="0" tIns="0" rIns="0" bIns="0" rtlCol="0" anchor="ctr"/>
          <a:lstStyle/>
          <a:p>
            <a:pPr algn="r" indent="0" marL="0">
              <a:buNone/>
            </a:pPr>
            <a:r>
              <a:rPr lang="en-US" sz="1500" i="1" dirty="0">
                <a:solidFill>
                  <a:srgbClr val="FFFFFF"/>
                </a:solidFill>
                <a:latin typeface="Calibri" pitchFamily="34" charset="0"/>
                <a:ea typeface="Calibri" pitchFamily="34" charset="-122"/>
                <a:cs typeface="Calibri" pitchFamily="34" charset="-120"/>
              </a:rPr>
              <a:t>Good visibility</a:t>
            </a:r>
            <a:endParaRPr lang="en-US" sz="1500" dirty="0"/>
          </a:p>
        </p:txBody>
      </p:sp>
      <p:sp>
        <p:nvSpPr>
          <p:cNvPr id="8" name="Shape 6"/>
          <p:cNvSpPr/>
          <p:nvPr/>
        </p:nvSpPr>
        <p:spPr>
          <a:xfrm>
            <a:off x="1783080" y="3108960"/>
            <a:ext cx="8778240" cy="1143000"/>
          </a:xfrm>
          <a:prstGeom prst="rect">
            <a:avLst/>
          </a:prstGeom>
          <a:solidFill>
            <a:srgbClr val="5A6672"/>
          </a:solidFill>
          <a:ln w="12700">
            <a:solidFill>
              <a:srgbClr val="5A6672"/>
            </a:solidFill>
            <a:prstDash val="solid"/>
          </a:ln>
        </p:spPr>
      </p:sp>
      <p:sp>
        <p:nvSpPr>
          <p:cNvPr id="9" name="Text 7"/>
          <p:cNvSpPr txBox="1"/>
          <p:nvPr/>
        </p:nvSpPr>
        <p:spPr>
          <a:xfrm>
            <a:off x="2057400" y="3108960"/>
            <a:ext cx="1280160" cy="11430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Tier 2</a:t>
            </a:r>
            <a:endParaRPr lang="en-US" sz="2200" dirty="0"/>
          </a:p>
        </p:txBody>
      </p:sp>
      <p:sp>
        <p:nvSpPr>
          <p:cNvPr id="10" name="Text 8"/>
          <p:cNvSpPr txBox="1"/>
          <p:nvPr/>
        </p:nvSpPr>
        <p:spPr>
          <a:xfrm>
            <a:off x="3429000" y="3108960"/>
            <a:ext cx="5029200" cy="11430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Their suppliers</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What tier 1 chooses to disclose, often partial</a:t>
            </a:r>
            <a:endParaRPr lang="en-US" sz="1400" dirty="0"/>
          </a:p>
        </p:txBody>
      </p:sp>
      <p:sp>
        <p:nvSpPr>
          <p:cNvPr id="11" name="Text 9"/>
          <p:cNvSpPr txBox="1"/>
          <p:nvPr/>
        </p:nvSpPr>
        <p:spPr>
          <a:xfrm>
            <a:off x="8549640" y="3108960"/>
            <a:ext cx="1828800" cy="1143000"/>
          </a:xfrm>
          <a:prstGeom prst="rect">
            <a:avLst/>
          </a:prstGeom>
          <a:noFill/>
          <a:ln/>
        </p:spPr>
        <p:txBody>
          <a:bodyPr wrap="square" lIns="0" tIns="0" rIns="0" bIns="0" rtlCol="0" anchor="ctr"/>
          <a:lstStyle/>
          <a:p>
            <a:pPr algn="r" indent="0" marL="0">
              <a:buNone/>
            </a:pPr>
            <a:r>
              <a:rPr lang="en-US" sz="1500" i="1" dirty="0">
                <a:solidFill>
                  <a:srgbClr val="FFFFFF"/>
                </a:solidFill>
                <a:latin typeface="Calibri" pitchFamily="34" charset="0"/>
                <a:ea typeface="Calibri" pitchFamily="34" charset="-122"/>
                <a:cs typeface="Calibri" pitchFamily="34" charset="-120"/>
              </a:rPr>
              <a:t>Partial visibility</a:t>
            </a:r>
            <a:endParaRPr lang="en-US" sz="1500" dirty="0"/>
          </a:p>
        </p:txBody>
      </p:sp>
      <p:sp>
        <p:nvSpPr>
          <p:cNvPr id="12" name="Shape 10"/>
          <p:cNvSpPr/>
          <p:nvPr/>
        </p:nvSpPr>
        <p:spPr>
          <a:xfrm>
            <a:off x="2834640" y="4480560"/>
            <a:ext cx="6675120" cy="1143000"/>
          </a:xfrm>
          <a:prstGeom prst="rect">
            <a:avLst/>
          </a:prstGeom>
          <a:solidFill>
            <a:srgbClr val="C46A2B"/>
          </a:solidFill>
          <a:ln w="12700">
            <a:solidFill>
              <a:srgbClr val="C46A2B"/>
            </a:solidFill>
            <a:prstDash val="solid"/>
          </a:ln>
        </p:spPr>
      </p:sp>
      <p:sp>
        <p:nvSpPr>
          <p:cNvPr id="13" name="Text 11"/>
          <p:cNvSpPr txBox="1"/>
          <p:nvPr/>
        </p:nvSpPr>
        <p:spPr>
          <a:xfrm>
            <a:off x="3108960" y="4480560"/>
            <a:ext cx="1280160" cy="11430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Tier 3+</a:t>
            </a:r>
            <a:endParaRPr lang="en-US" sz="2200" dirty="0"/>
          </a:p>
        </p:txBody>
      </p:sp>
      <p:sp>
        <p:nvSpPr>
          <p:cNvPr id="14" name="Text 12"/>
          <p:cNvSpPr txBox="1"/>
          <p:nvPr/>
        </p:nvSpPr>
        <p:spPr>
          <a:xfrm>
            <a:off x="4480560" y="4480560"/>
            <a:ext cx="2926080" cy="11430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Raw materials, gases, sub-components</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Little or no direct data. Often where sole sources hide</a:t>
            </a:r>
            <a:endParaRPr lang="en-US" sz="1400" dirty="0"/>
          </a:p>
        </p:txBody>
      </p:sp>
      <p:sp>
        <p:nvSpPr>
          <p:cNvPr id="15" name="Text 13"/>
          <p:cNvSpPr txBox="1"/>
          <p:nvPr/>
        </p:nvSpPr>
        <p:spPr>
          <a:xfrm>
            <a:off x="7498080" y="4480560"/>
            <a:ext cx="1828800" cy="1143000"/>
          </a:xfrm>
          <a:prstGeom prst="rect">
            <a:avLst/>
          </a:prstGeom>
          <a:noFill/>
          <a:ln/>
        </p:spPr>
        <p:txBody>
          <a:bodyPr wrap="square" lIns="0" tIns="0" rIns="0" bIns="0" rtlCol="0" anchor="ctr"/>
          <a:lstStyle/>
          <a:p>
            <a:pPr algn="r" indent="0" marL="0">
              <a:buNone/>
            </a:pPr>
            <a:r>
              <a:rPr lang="en-US" sz="1500" i="1" dirty="0">
                <a:solidFill>
                  <a:srgbClr val="FFFFFF"/>
                </a:solidFill>
                <a:latin typeface="Calibri" pitchFamily="34" charset="0"/>
                <a:ea typeface="Calibri" pitchFamily="34" charset="-122"/>
                <a:cs typeface="Calibri" pitchFamily="34" charset="-120"/>
              </a:rPr>
              <a:t>Mostly dark</a:t>
            </a:r>
            <a:endParaRPr lang="en-US" sz="1500" dirty="0"/>
          </a:p>
        </p:txBody>
      </p:sp>
      <p:sp>
        <p:nvSpPr>
          <p:cNvPr id="16" name="Text 14"/>
          <p:cNvSpPr txBox="1"/>
          <p:nvPr/>
        </p:nvSpPr>
        <p:spPr>
          <a:xfrm>
            <a:off x="548640" y="5852160"/>
            <a:ext cx="11094415" cy="457200"/>
          </a:xfrm>
          <a:prstGeom prst="rect">
            <a:avLst/>
          </a:prstGeom>
          <a:noFill/>
          <a:ln/>
        </p:spPr>
        <p:txBody>
          <a:bodyPr wrap="square" lIns="0" tIns="0" rIns="0" bIns="0" rtlCol="0" anchor="ctr"/>
          <a:lstStyle/>
          <a:p>
            <a:pPr indent="0" marL="0">
              <a:buNone/>
            </a:pPr>
            <a:r>
              <a:rPr lang="en-US" sz="1600" i="1" dirty="0">
                <a:solidFill>
                  <a:srgbClr val="C46A2B"/>
                </a:solidFill>
                <a:latin typeface="Calibri" pitchFamily="34" charset="0"/>
                <a:ea typeface="Calibri" pitchFamily="34" charset="-122"/>
                <a:cs typeface="Calibri" pitchFamily="34" charset="-120"/>
              </a:rPr>
              <a:t>You can't govern data you never collect. The first job is deciding which sub-tier nodes you need to see.</a:t>
            </a:r>
            <a:endParaRPr lang="en-US" sz="1600" dirty="0"/>
          </a:p>
        </p:txBody>
      </p:sp>
      <p:sp>
        <p:nvSpPr>
          <p:cNvPr id="17" name="Text 15"/>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WHY DATA IS THE GAP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Risk data exists, but it's scattered across systems</a:t>
            </a:r>
            <a:endParaRPr lang="en-US" sz="3400" dirty="0"/>
          </a:p>
        </p:txBody>
      </p:sp>
      <p:sp>
        <p:nvSpPr>
          <p:cNvPr id="4" name="Shape 2"/>
          <p:cNvSpPr/>
          <p:nvPr/>
        </p:nvSpPr>
        <p:spPr>
          <a:xfrm>
            <a:off x="548640" y="1691640"/>
            <a:ext cx="3931920" cy="685800"/>
          </a:xfrm>
          <a:prstGeom prst="rect">
            <a:avLst/>
          </a:prstGeom>
          <a:solidFill>
            <a:srgbClr val="EEF1F4"/>
          </a:solidFill>
          <a:ln w="12700">
            <a:solidFill>
              <a:srgbClr val="EEF1F4"/>
            </a:solidFill>
            <a:prstDash val="solid"/>
          </a:ln>
        </p:spPr>
      </p:sp>
      <p:sp>
        <p:nvSpPr>
          <p:cNvPr id="5" name="Shape 3"/>
          <p:cNvSpPr/>
          <p:nvPr/>
        </p:nvSpPr>
        <p:spPr>
          <a:xfrm>
            <a:off x="685800" y="1801368"/>
            <a:ext cx="457200" cy="457200"/>
          </a:xfrm>
          <a:prstGeom prst="roundRect">
            <a:avLst>
              <a:gd name="adj" fmla="val 16000"/>
            </a:avLst>
          </a:prstGeom>
          <a:solidFill>
            <a:srgbClr val="1B2229"/>
          </a:solidFill>
          <a:ln w="12700">
            <a:solidFill>
              <a:srgbClr val="1B2229"/>
            </a:solidFill>
            <a:prstDash val="solid"/>
          </a:ln>
        </p:spPr>
      </p:sp>
      <p:pic>
        <p:nvPicPr>
          <p:cNvPr id="6" name="Image 0" descr="preencoded.png">    </p:cNvPr>
          <p:cNvPicPr>
            <a:picLocks noChangeAspect="1"/>
          </p:cNvPicPr>
          <p:nvPr/>
        </p:nvPicPr>
        <p:blipFill>
          <a:blip r:embed="rId1"/>
          <a:stretch>
            <a:fillRect/>
          </a:stretch>
        </p:blipFill>
        <p:spPr>
          <a:xfrm>
            <a:off x="786384" y="1901952"/>
            <a:ext cx="256032" cy="256032"/>
          </a:xfrm>
          <a:prstGeom prst="rect">
            <a:avLst/>
          </a:prstGeom>
        </p:spPr>
      </p:pic>
      <p:sp>
        <p:nvSpPr>
          <p:cNvPr id="7" name="Text 4"/>
          <p:cNvSpPr txBox="1"/>
          <p:nvPr/>
        </p:nvSpPr>
        <p:spPr>
          <a:xfrm>
            <a:off x="1325880" y="1691640"/>
            <a:ext cx="3017520" cy="68580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ERP / MRP</a:t>
            </a:r>
            <a:endParaRPr lang="en-US" sz="1600" dirty="0"/>
          </a:p>
        </p:txBody>
      </p:sp>
      <p:sp>
        <p:nvSpPr>
          <p:cNvPr id="8" name="Shape 5"/>
          <p:cNvSpPr/>
          <p:nvPr/>
        </p:nvSpPr>
        <p:spPr>
          <a:xfrm>
            <a:off x="548640" y="2560320"/>
            <a:ext cx="3931920" cy="685800"/>
          </a:xfrm>
          <a:prstGeom prst="rect">
            <a:avLst/>
          </a:prstGeom>
          <a:solidFill>
            <a:srgbClr val="EEF1F4"/>
          </a:solidFill>
          <a:ln w="12700">
            <a:solidFill>
              <a:srgbClr val="EEF1F4"/>
            </a:solidFill>
            <a:prstDash val="solid"/>
          </a:ln>
        </p:spPr>
      </p:sp>
      <p:sp>
        <p:nvSpPr>
          <p:cNvPr id="9" name="Shape 6"/>
          <p:cNvSpPr/>
          <p:nvPr/>
        </p:nvSpPr>
        <p:spPr>
          <a:xfrm>
            <a:off x="685800" y="2670048"/>
            <a:ext cx="457200" cy="457200"/>
          </a:xfrm>
          <a:prstGeom prst="roundRect">
            <a:avLst>
              <a:gd name="adj" fmla="val 16000"/>
            </a:avLst>
          </a:prstGeom>
          <a:solidFill>
            <a:srgbClr val="1B2229"/>
          </a:solidFill>
          <a:ln w="12700">
            <a:solidFill>
              <a:srgbClr val="1B2229"/>
            </a:solidFill>
            <a:prstDash val="solid"/>
          </a:ln>
        </p:spPr>
      </p:sp>
      <p:pic>
        <p:nvPicPr>
          <p:cNvPr id="10" name="Image 1" descr="preencoded.png">    </p:cNvPr>
          <p:cNvPicPr>
            <a:picLocks noChangeAspect="1"/>
          </p:cNvPicPr>
          <p:nvPr/>
        </p:nvPicPr>
        <p:blipFill>
          <a:blip r:embed="rId2"/>
          <a:stretch>
            <a:fillRect/>
          </a:stretch>
        </p:blipFill>
        <p:spPr>
          <a:xfrm>
            <a:off x="786384" y="2770632"/>
            <a:ext cx="256032" cy="256032"/>
          </a:xfrm>
          <a:prstGeom prst="rect">
            <a:avLst/>
          </a:prstGeom>
        </p:spPr>
      </p:pic>
      <p:sp>
        <p:nvSpPr>
          <p:cNvPr id="11" name="Text 7"/>
          <p:cNvSpPr txBox="1"/>
          <p:nvPr/>
        </p:nvSpPr>
        <p:spPr>
          <a:xfrm>
            <a:off x="1325880" y="2560320"/>
            <a:ext cx="3017520" cy="68580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Supplier portals</a:t>
            </a:r>
            <a:endParaRPr lang="en-US" sz="1600" dirty="0"/>
          </a:p>
        </p:txBody>
      </p:sp>
      <p:sp>
        <p:nvSpPr>
          <p:cNvPr id="12" name="Shape 8"/>
          <p:cNvSpPr/>
          <p:nvPr/>
        </p:nvSpPr>
        <p:spPr>
          <a:xfrm>
            <a:off x="548640" y="3429000"/>
            <a:ext cx="3931920" cy="685800"/>
          </a:xfrm>
          <a:prstGeom prst="rect">
            <a:avLst/>
          </a:prstGeom>
          <a:solidFill>
            <a:srgbClr val="EEF1F4"/>
          </a:solidFill>
          <a:ln w="12700">
            <a:solidFill>
              <a:srgbClr val="EEF1F4"/>
            </a:solidFill>
            <a:prstDash val="solid"/>
          </a:ln>
        </p:spPr>
      </p:sp>
      <p:sp>
        <p:nvSpPr>
          <p:cNvPr id="13" name="Shape 9"/>
          <p:cNvSpPr/>
          <p:nvPr/>
        </p:nvSpPr>
        <p:spPr>
          <a:xfrm>
            <a:off x="685800" y="3538728"/>
            <a:ext cx="457200" cy="457200"/>
          </a:xfrm>
          <a:prstGeom prst="roundRect">
            <a:avLst>
              <a:gd name="adj" fmla="val 16000"/>
            </a:avLst>
          </a:prstGeom>
          <a:solidFill>
            <a:srgbClr val="1B2229"/>
          </a:solidFill>
          <a:ln w="12700">
            <a:solidFill>
              <a:srgbClr val="1B2229"/>
            </a:solidFill>
            <a:prstDash val="solid"/>
          </a:ln>
        </p:spPr>
      </p:sp>
      <p:pic>
        <p:nvPicPr>
          <p:cNvPr id="14" name="Image 2" descr="preencoded.png">    </p:cNvPr>
          <p:cNvPicPr>
            <a:picLocks noChangeAspect="1"/>
          </p:cNvPicPr>
          <p:nvPr/>
        </p:nvPicPr>
        <p:blipFill>
          <a:blip r:embed="rId3"/>
          <a:stretch>
            <a:fillRect/>
          </a:stretch>
        </p:blipFill>
        <p:spPr>
          <a:xfrm>
            <a:off x="786384" y="3639312"/>
            <a:ext cx="256032" cy="256032"/>
          </a:xfrm>
          <a:prstGeom prst="rect">
            <a:avLst/>
          </a:prstGeom>
        </p:spPr>
      </p:pic>
      <p:sp>
        <p:nvSpPr>
          <p:cNvPr id="15" name="Text 10"/>
          <p:cNvSpPr txBox="1"/>
          <p:nvPr/>
        </p:nvSpPr>
        <p:spPr>
          <a:xfrm>
            <a:off x="1325880" y="3429000"/>
            <a:ext cx="3017520" cy="68580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Logistics feeds</a:t>
            </a:r>
            <a:endParaRPr lang="en-US" sz="1600" dirty="0"/>
          </a:p>
        </p:txBody>
      </p:sp>
      <p:sp>
        <p:nvSpPr>
          <p:cNvPr id="16" name="Shape 11"/>
          <p:cNvSpPr/>
          <p:nvPr/>
        </p:nvSpPr>
        <p:spPr>
          <a:xfrm>
            <a:off x="548640" y="4297680"/>
            <a:ext cx="3931920" cy="685800"/>
          </a:xfrm>
          <a:prstGeom prst="rect">
            <a:avLst/>
          </a:prstGeom>
          <a:solidFill>
            <a:srgbClr val="EEF1F4"/>
          </a:solidFill>
          <a:ln w="12700">
            <a:solidFill>
              <a:srgbClr val="EEF1F4"/>
            </a:solidFill>
            <a:prstDash val="solid"/>
          </a:ln>
        </p:spPr>
      </p:sp>
      <p:sp>
        <p:nvSpPr>
          <p:cNvPr id="17" name="Shape 12"/>
          <p:cNvSpPr/>
          <p:nvPr/>
        </p:nvSpPr>
        <p:spPr>
          <a:xfrm>
            <a:off x="685800" y="4407408"/>
            <a:ext cx="457200" cy="457200"/>
          </a:xfrm>
          <a:prstGeom prst="roundRect">
            <a:avLst>
              <a:gd name="adj" fmla="val 16000"/>
            </a:avLst>
          </a:prstGeom>
          <a:solidFill>
            <a:srgbClr val="1B2229"/>
          </a:solidFill>
          <a:ln w="12700">
            <a:solidFill>
              <a:srgbClr val="1B2229"/>
            </a:solidFill>
            <a:prstDash val="solid"/>
          </a:ln>
        </p:spPr>
      </p:sp>
      <p:pic>
        <p:nvPicPr>
          <p:cNvPr id="18" name="Image 3" descr="preencoded.png">    </p:cNvPr>
          <p:cNvPicPr>
            <a:picLocks noChangeAspect="1"/>
          </p:cNvPicPr>
          <p:nvPr/>
        </p:nvPicPr>
        <p:blipFill>
          <a:blip r:embed="rId4"/>
          <a:stretch>
            <a:fillRect/>
          </a:stretch>
        </p:blipFill>
        <p:spPr>
          <a:xfrm>
            <a:off x="786384" y="4507992"/>
            <a:ext cx="256032" cy="256032"/>
          </a:xfrm>
          <a:prstGeom prst="rect">
            <a:avLst/>
          </a:prstGeom>
        </p:spPr>
      </p:pic>
      <p:sp>
        <p:nvSpPr>
          <p:cNvPr id="19" name="Text 13"/>
          <p:cNvSpPr txBox="1"/>
          <p:nvPr/>
        </p:nvSpPr>
        <p:spPr>
          <a:xfrm>
            <a:off x="1325880" y="4297680"/>
            <a:ext cx="3017520" cy="68580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MES &amp; quality</a:t>
            </a:r>
            <a:endParaRPr lang="en-US" sz="1600" dirty="0"/>
          </a:p>
        </p:txBody>
      </p:sp>
      <p:sp>
        <p:nvSpPr>
          <p:cNvPr id="20" name="Shape 14"/>
          <p:cNvSpPr/>
          <p:nvPr/>
        </p:nvSpPr>
        <p:spPr>
          <a:xfrm>
            <a:off x="548640" y="5166360"/>
            <a:ext cx="3931920" cy="685800"/>
          </a:xfrm>
          <a:prstGeom prst="rect">
            <a:avLst/>
          </a:prstGeom>
          <a:solidFill>
            <a:srgbClr val="EEF1F4"/>
          </a:solidFill>
          <a:ln w="12700">
            <a:solidFill>
              <a:srgbClr val="EEF1F4"/>
            </a:solidFill>
            <a:prstDash val="solid"/>
          </a:ln>
        </p:spPr>
      </p:sp>
      <p:sp>
        <p:nvSpPr>
          <p:cNvPr id="21" name="Shape 15"/>
          <p:cNvSpPr/>
          <p:nvPr/>
        </p:nvSpPr>
        <p:spPr>
          <a:xfrm>
            <a:off x="685800" y="5276088"/>
            <a:ext cx="457200" cy="457200"/>
          </a:xfrm>
          <a:prstGeom prst="roundRect">
            <a:avLst>
              <a:gd name="adj" fmla="val 16000"/>
            </a:avLst>
          </a:prstGeom>
          <a:solidFill>
            <a:srgbClr val="1B2229"/>
          </a:solidFill>
          <a:ln w="12700">
            <a:solidFill>
              <a:srgbClr val="1B2229"/>
            </a:solidFill>
            <a:prstDash val="solid"/>
          </a:ln>
        </p:spPr>
      </p:sp>
      <p:pic>
        <p:nvPicPr>
          <p:cNvPr id="22" name="Image 4" descr="preencoded.png">    </p:cNvPr>
          <p:cNvPicPr>
            <a:picLocks noChangeAspect="1"/>
          </p:cNvPicPr>
          <p:nvPr/>
        </p:nvPicPr>
        <p:blipFill>
          <a:blip r:embed="rId5"/>
          <a:stretch>
            <a:fillRect/>
          </a:stretch>
        </p:blipFill>
        <p:spPr>
          <a:xfrm>
            <a:off x="786384" y="5376672"/>
            <a:ext cx="256032" cy="256032"/>
          </a:xfrm>
          <a:prstGeom prst="rect">
            <a:avLst/>
          </a:prstGeom>
        </p:spPr>
      </p:pic>
      <p:sp>
        <p:nvSpPr>
          <p:cNvPr id="23" name="Text 16"/>
          <p:cNvSpPr txBox="1"/>
          <p:nvPr/>
        </p:nvSpPr>
        <p:spPr>
          <a:xfrm>
            <a:off x="1325880" y="5166360"/>
            <a:ext cx="3017520" cy="685800"/>
          </a:xfrm>
          <a:prstGeom prst="rect">
            <a:avLst/>
          </a:prstGeom>
          <a:noFill/>
          <a:ln/>
        </p:spPr>
        <p:txBody>
          <a:bodyPr wrap="square" lIns="0" tIns="0" rIns="0" bIns="0" rtlCol="0" anchor="ctr"/>
          <a:lstStyle/>
          <a:p>
            <a:pPr indent="0" marL="0">
              <a:buNone/>
            </a:pPr>
            <a:r>
              <a:rPr lang="en-US" sz="1600" b="1" dirty="0">
                <a:solidFill>
                  <a:srgbClr val="1B2229"/>
                </a:solidFill>
                <a:latin typeface="Calibri" pitchFamily="34" charset="0"/>
                <a:ea typeface="Calibri" pitchFamily="34" charset="-122"/>
                <a:cs typeface="Calibri" pitchFamily="34" charset="-120"/>
              </a:rPr>
              <a:t>News &amp; trade data</a:t>
            </a:r>
            <a:endParaRPr lang="en-US" sz="1600" dirty="0"/>
          </a:p>
        </p:txBody>
      </p:sp>
      <p:sp>
        <p:nvSpPr>
          <p:cNvPr id="24" name="Shape 17"/>
          <p:cNvSpPr/>
          <p:nvPr/>
        </p:nvSpPr>
        <p:spPr>
          <a:xfrm>
            <a:off x="4800600" y="3291840"/>
            <a:ext cx="731520" cy="731520"/>
          </a:xfrm>
          <a:prstGeom prst="roundRect">
            <a:avLst>
              <a:gd name="adj" fmla="val 10000"/>
            </a:avLst>
          </a:prstGeom>
          <a:solidFill>
            <a:srgbClr val="C46A2B"/>
          </a:solidFill>
          <a:ln w="12700">
            <a:solidFill>
              <a:srgbClr val="C46A2B"/>
            </a:solidFill>
            <a:prstDash val="solid"/>
          </a:ln>
        </p:spPr>
      </p:sp>
      <p:pic>
        <p:nvPicPr>
          <p:cNvPr id="25" name="Image 5" descr="preencoded.png">    </p:cNvPr>
          <p:cNvPicPr>
            <a:picLocks noChangeAspect="1"/>
          </p:cNvPicPr>
          <p:nvPr/>
        </p:nvPicPr>
        <p:blipFill>
          <a:blip r:embed="rId6"/>
          <a:stretch>
            <a:fillRect/>
          </a:stretch>
        </p:blipFill>
        <p:spPr>
          <a:xfrm>
            <a:off x="4961534" y="3452774"/>
            <a:ext cx="409651" cy="409651"/>
          </a:xfrm>
          <a:prstGeom prst="rect">
            <a:avLst/>
          </a:prstGeom>
        </p:spPr>
      </p:pic>
      <p:sp>
        <p:nvSpPr>
          <p:cNvPr id="26" name="Text 18"/>
          <p:cNvSpPr txBox="1"/>
          <p:nvPr/>
        </p:nvSpPr>
        <p:spPr>
          <a:xfrm>
            <a:off x="5989320" y="1691640"/>
            <a:ext cx="5669280" cy="365760"/>
          </a:xfrm>
          <a:prstGeom prst="rect">
            <a:avLst/>
          </a:prstGeom>
          <a:noFill/>
          <a:ln/>
        </p:spPr>
        <p:txBody>
          <a:bodyPr wrap="square" lIns="0" tIns="0" rIns="0" bIns="0" rtlCol="0" anchor="ctr"/>
          <a:lstStyle/>
          <a:p>
            <a:pPr indent="0" marL="0">
              <a:buNone/>
            </a:pPr>
            <a:r>
              <a:rPr lang="en-US" sz="1700" b="1" dirty="0">
                <a:solidFill>
                  <a:srgbClr val="1B2229"/>
                </a:solidFill>
                <a:latin typeface="Calibri" pitchFamily="34" charset="0"/>
                <a:ea typeface="Calibri" pitchFamily="34" charset="-122"/>
                <a:cs typeface="Calibri" pitchFamily="34" charset="-120"/>
              </a:rPr>
              <a:t>Different IDs for the same thing</a:t>
            </a:r>
            <a:endParaRPr lang="en-US" sz="1700" dirty="0"/>
          </a:p>
        </p:txBody>
      </p:sp>
      <p:sp>
        <p:nvSpPr>
          <p:cNvPr id="27" name="Text 19"/>
          <p:cNvSpPr txBox="1"/>
          <p:nvPr/>
        </p:nvSpPr>
        <p:spPr>
          <a:xfrm>
            <a:off x="5989320" y="2057400"/>
            <a:ext cx="5669280" cy="566928"/>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Part numbers, supplier codes, and site names don't match across systems.</a:t>
            </a:r>
            <a:endParaRPr lang="en-US" sz="1400" dirty="0"/>
          </a:p>
        </p:txBody>
      </p:sp>
      <p:sp>
        <p:nvSpPr>
          <p:cNvPr id="28" name="Text 20"/>
          <p:cNvSpPr txBox="1"/>
          <p:nvPr/>
        </p:nvSpPr>
        <p:spPr>
          <a:xfrm>
            <a:off x="5989320" y="2770632"/>
            <a:ext cx="5669280" cy="365760"/>
          </a:xfrm>
          <a:prstGeom prst="rect">
            <a:avLst/>
          </a:prstGeom>
          <a:noFill/>
          <a:ln/>
        </p:spPr>
        <p:txBody>
          <a:bodyPr wrap="square" lIns="0" tIns="0" rIns="0" bIns="0" rtlCol="0" anchor="ctr"/>
          <a:lstStyle/>
          <a:p>
            <a:pPr indent="0" marL="0">
              <a:buNone/>
            </a:pPr>
            <a:r>
              <a:rPr lang="en-US" sz="1700" b="1" dirty="0">
                <a:solidFill>
                  <a:srgbClr val="1B2229"/>
                </a:solidFill>
                <a:latin typeface="Calibri" pitchFamily="34" charset="0"/>
                <a:ea typeface="Calibri" pitchFamily="34" charset="-122"/>
                <a:cs typeface="Calibri" pitchFamily="34" charset="-120"/>
              </a:rPr>
              <a:t>No lineage</a:t>
            </a:r>
            <a:endParaRPr lang="en-US" sz="1700" dirty="0"/>
          </a:p>
        </p:txBody>
      </p:sp>
      <p:sp>
        <p:nvSpPr>
          <p:cNvPr id="29" name="Text 21"/>
          <p:cNvSpPr txBox="1"/>
          <p:nvPr/>
        </p:nvSpPr>
        <p:spPr>
          <a:xfrm>
            <a:off x="5989320" y="3136392"/>
            <a:ext cx="5669280" cy="566928"/>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Nobody can say where a lead time or risk score came from, or when it was last true.</a:t>
            </a:r>
            <a:endParaRPr lang="en-US" sz="1400" dirty="0"/>
          </a:p>
        </p:txBody>
      </p:sp>
      <p:sp>
        <p:nvSpPr>
          <p:cNvPr id="30" name="Text 22"/>
          <p:cNvSpPr txBox="1"/>
          <p:nvPr/>
        </p:nvSpPr>
        <p:spPr>
          <a:xfrm>
            <a:off x="5989320" y="3849624"/>
            <a:ext cx="5669280" cy="365760"/>
          </a:xfrm>
          <a:prstGeom prst="rect">
            <a:avLst/>
          </a:prstGeom>
          <a:noFill/>
          <a:ln/>
        </p:spPr>
        <p:txBody>
          <a:bodyPr wrap="square" lIns="0" tIns="0" rIns="0" bIns="0" rtlCol="0" anchor="ctr"/>
          <a:lstStyle/>
          <a:p>
            <a:pPr indent="0" marL="0">
              <a:buNone/>
            </a:pPr>
            <a:r>
              <a:rPr lang="en-US" sz="1700" b="1" dirty="0">
                <a:solidFill>
                  <a:srgbClr val="1B2229"/>
                </a:solidFill>
                <a:latin typeface="Calibri" pitchFamily="34" charset="0"/>
                <a:ea typeface="Calibri" pitchFamily="34" charset="-122"/>
                <a:cs typeface="Calibri" pitchFamily="34" charset="-120"/>
              </a:rPr>
              <a:t>Stale master data</a:t>
            </a:r>
            <a:endParaRPr lang="en-US" sz="1700" dirty="0"/>
          </a:p>
        </p:txBody>
      </p:sp>
      <p:sp>
        <p:nvSpPr>
          <p:cNvPr id="31" name="Text 23"/>
          <p:cNvSpPr txBox="1"/>
          <p:nvPr/>
        </p:nvSpPr>
        <p:spPr>
          <a:xfrm>
            <a:off x="5989320" y="4215384"/>
            <a:ext cx="5669280" cy="566928"/>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Planned lead times and approved sources drift from reality between reviews.</a:t>
            </a:r>
            <a:endParaRPr lang="en-US" sz="1400" dirty="0"/>
          </a:p>
        </p:txBody>
      </p:sp>
      <p:sp>
        <p:nvSpPr>
          <p:cNvPr id="32" name="Text 24"/>
          <p:cNvSpPr txBox="1"/>
          <p:nvPr/>
        </p:nvSpPr>
        <p:spPr>
          <a:xfrm>
            <a:off x="5989320" y="4928616"/>
            <a:ext cx="5669280" cy="365760"/>
          </a:xfrm>
          <a:prstGeom prst="rect">
            <a:avLst/>
          </a:prstGeom>
          <a:noFill/>
          <a:ln/>
        </p:spPr>
        <p:txBody>
          <a:bodyPr wrap="square" lIns="0" tIns="0" rIns="0" bIns="0" rtlCol="0" anchor="ctr"/>
          <a:lstStyle/>
          <a:p>
            <a:pPr indent="0" marL="0">
              <a:buNone/>
            </a:pPr>
            <a:r>
              <a:rPr lang="en-US" sz="1700" b="1" dirty="0">
                <a:solidFill>
                  <a:srgbClr val="1B2229"/>
                </a:solidFill>
                <a:latin typeface="Calibri" pitchFamily="34" charset="0"/>
                <a:ea typeface="Calibri" pitchFamily="34" charset="-122"/>
                <a:cs typeface="Calibri" pitchFamily="34" charset="-120"/>
              </a:rPr>
              <a:t>No terms for sharing</a:t>
            </a:r>
            <a:endParaRPr lang="en-US" sz="1700" dirty="0"/>
          </a:p>
        </p:txBody>
      </p:sp>
      <p:sp>
        <p:nvSpPr>
          <p:cNvPr id="33" name="Text 25"/>
          <p:cNvSpPr txBox="1"/>
          <p:nvPr/>
        </p:nvSpPr>
        <p:spPr>
          <a:xfrm>
            <a:off x="5989320" y="5294376"/>
            <a:ext cx="5669280" cy="566928"/>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Partners hold back data because use, access, and retention were never agreed.</a:t>
            </a:r>
            <a:endParaRPr lang="en-US" sz="1400" dirty="0"/>
          </a:p>
        </p:txBody>
      </p:sp>
      <p:sp>
        <p:nvSpPr>
          <p:cNvPr id="34" name="Text 26"/>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WHY DATA IS THE GAP</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AI on ungoverned data scales the error, not the insight</a:t>
            </a:r>
            <a:endParaRPr lang="en-US" sz="3400" dirty="0"/>
          </a:p>
        </p:txBody>
      </p:sp>
      <p:sp>
        <p:nvSpPr>
          <p:cNvPr id="4" name="Shape 2"/>
          <p:cNvSpPr/>
          <p:nvPr/>
        </p:nvSpPr>
        <p:spPr>
          <a:xfrm>
            <a:off x="548640" y="1691640"/>
            <a:ext cx="5394960" cy="3886200"/>
          </a:xfrm>
          <a:prstGeom prst="rect">
            <a:avLst/>
          </a:prstGeom>
          <a:solidFill>
            <a:srgbClr val="F6E1DE"/>
          </a:solidFill>
          <a:ln w="12700">
            <a:solidFill>
              <a:srgbClr val="F6E1DE"/>
            </a:solidFill>
            <a:prstDash val="solid"/>
          </a:ln>
        </p:spPr>
      </p:sp>
      <p:sp>
        <p:nvSpPr>
          <p:cNvPr id="5" name="Text 3"/>
          <p:cNvSpPr txBox="1"/>
          <p:nvPr/>
        </p:nvSpPr>
        <p:spPr>
          <a:xfrm>
            <a:off x="868680" y="1874520"/>
            <a:ext cx="4754880" cy="502920"/>
          </a:xfrm>
          <a:prstGeom prst="rect">
            <a:avLst/>
          </a:prstGeom>
          <a:noFill/>
          <a:ln/>
        </p:spPr>
        <p:txBody>
          <a:bodyPr wrap="square" lIns="0" tIns="0" rIns="0" bIns="0" rtlCol="0" anchor="ctr"/>
          <a:lstStyle/>
          <a:p>
            <a:pPr indent="0" marL="0">
              <a:buNone/>
            </a:pPr>
            <a:r>
              <a:rPr lang="en-US" sz="2200" b="1" dirty="0">
                <a:solidFill>
                  <a:srgbClr val="A63D32"/>
                </a:solidFill>
                <a:latin typeface="Calibri" pitchFamily="34" charset="0"/>
                <a:ea typeface="Calibri" pitchFamily="34" charset="-122"/>
                <a:cs typeface="Calibri" pitchFamily="34" charset="-120"/>
              </a:rPr>
              <a:t>Without governance</a:t>
            </a:r>
            <a:endParaRPr lang="en-US" sz="2200" dirty="0"/>
          </a:p>
        </p:txBody>
      </p:sp>
      <p:pic>
        <p:nvPicPr>
          <p:cNvPr id="6" name="Image 0" descr="preencoded.png">    </p:cNvPr>
          <p:cNvPicPr>
            <a:picLocks noChangeAspect="1"/>
          </p:cNvPicPr>
          <p:nvPr/>
        </p:nvPicPr>
        <p:blipFill>
          <a:blip r:embed="rId1"/>
          <a:stretch>
            <a:fillRect/>
          </a:stretch>
        </p:blipFill>
        <p:spPr>
          <a:xfrm>
            <a:off x="868680" y="2660904"/>
            <a:ext cx="310896" cy="310896"/>
          </a:xfrm>
          <a:prstGeom prst="rect">
            <a:avLst/>
          </a:prstGeom>
        </p:spPr>
      </p:pic>
      <p:sp>
        <p:nvSpPr>
          <p:cNvPr id="7" name="Text 4"/>
          <p:cNvSpPr txBox="1"/>
          <p:nvPr/>
        </p:nvSpPr>
        <p:spPr>
          <a:xfrm>
            <a:off x="1371600" y="2606040"/>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Risk scores built on mismatched part and supplier IDs</a:t>
            </a:r>
            <a:endParaRPr lang="en-US" sz="1500" dirty="0"/>
          </a:p>
        </p:txBody>
      </p:sp>
      <p:pic>
        <p:nvPicPr>
          <p:cNvPr id="8" name="Image 1" descr="preencoded.png">    </p:cNvPr>
          <p:cNvPicPr>
            <a:picLocks noChangeAspect="1"/>
          </p:cNvPicPr>
          <p:nvPr/>
        </p:nvPicPr>
        <p:blipFill>
          <a:blip r:embed="rId2"/>
          <a:stretch>
            <a:fillRect/>
          </a:stretch>
        </p:blipFill>
        <p:spPr>
          <a:xfrm>
            <a:off x="868680" y="3465576"/>
            <a:ext cx="310896" cy="310896"/>
          </a:xfrm>
          <a:prstGeom prst="rect">
            <a:avLst/>
          </a:prstGeom>
        </p:spPr>
      </p:pic>
      <p:sp>
        <p:nvSpPr>
          <p:cNvPr id="9" name="Text 5"/>
          <p:cNvSpPr txBox="1"/>
          <p:nvPr/>
        </p:nvSpPr>
        <p:spPr>
          <a:xfrm>
            <a:off x="1371600" y="3410712"/>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A clean dashboard hides stale lead times</a:t>
            </a:r>
            <a:endParaRPr lang="en-US" sz="1500" dirty="0"/>
          </a:p>
        </p:txBody>
      </p:sp>
      <p:pic>
        <p:nvPicPr>
          <p:cNvPr id="10" name="Image 2" descr="preencoded.png">    </p:cNvPr>
          <p:cNvPicPr>
            <a:picLocks noChangeAspect="1"/>
          </p:cNvPicPr>
          <p:nvPr/>
        </p:nvPicPr>
        <p:blipFill>
          <a:blip r:embed="rId3"/>
          <a:stretch>
            <a:fillRect/>
          </a:stretch>
        </p:blipFill>
        <p:spPr>
          <a:xfrm>
            <a:off x="868680" y="4270248"/>
            <a:ext cx="310896" cy="310896"/>
          </a:xfrm>
          <a:prstGeom prst="rect">
            <a:avLst/>
          </a:prstGeom>
        </p:spPr>
      </p:pic>
      <p:sp>
        <p:nvSpPr>
          <p:cNvPr id="11" name="Text 6"/>
          <p:cNvSpPr txBox="1"/>
          <p:nvPr/>
        </p:nvSpPr>
        <p:spPr>
          <a:xfrm>
            <a:off x="1371600" y="4215384"/>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No one can explain why a supplier was flagged</a:t>
            </a:r>
            <a:endParaRPr lang="en-US" sz="1500" dirty="0"/>
          </a:p>
        </p:txBody>
      </p:sp>
      <p:pic>
        <p:nvPicPr>
          <p:cNvPr id="12" name="Image 3" descr="preencoded.png">    </p:cNvPr>
          <p:cNvPicPr>
            <a:picLocks noChangeAspect="1"/>
          </p:cNvPicPr>
          <p:nvPr/>
        </p:nvPicPr>
        <p:blipFill>
          <a:blip r:embed="rId4"/>
          <a:stretch>
            <a:fillRect/>
          </a:stretch>
        </p:blipFill>
        <p:spPr>
          <a:xfrm>
            <a:off x="868680" y="5074920"/>
            <a:ext cx="310896" cy="310896"/>
          </a:xfrm>
          <a:prstGeom prst="rect">
            <a:avLst/>
          </a:prstGeom>
        </p:spPr>
      </p:pic>
      <p:sp>
        <p:nvSpPr>
          <p:cNvPr id="13" name="Text 7"/>
          <p:cNvSpPr txBox="1"/>
          <p:nvPr/>
        </p:nvSpPr>
        <p:spPr>
          <a:xfrm>
            <a:off x="1371600" y="5020056"/>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Planners stop trusting it and go back to spreadsheets</a:t>
            </a:r>
            <a:endParaRPr lang="en-US" sz="1500" dirty="0"/>
          </a:p>
        </p:txBody>
      </p:sp>
      <p:sp>
        <p:nvSpPr>
          <p:cNvPr id="14" name="Shape 8"/>
          <p:cNvSpPr/>
          <p:nvPr/>
        </p:nvSpPr>
        <p:spPr>
          <a:xfrm>
            <a:off x="6217920" y="1691640"/>
            <a:ext cx="5394960" cy="3886200"/>
          </a:xfrm>
          <a:prstGeom prst="rect">
            <a:avLst/>
          </a:prstGeom>
          <a:solidFill>
            <a:srgbClr val="DDEFEC"/>
          </a:solidFill>
          <a:ln w="12700">
            <a:solidFill>
              <a:srgbClr val="DDEFEC"/>
            </a:solidFill>
            <a:prstDash val="solid"/>
          </a:ln>
        </p:spPr>
      </p:sp>
      <p:sp>
        <p:nvSpPr>
          <p:cNvPr id="15" name="Text 9"/>
          <p:cNvSpPr txBox="1"/>
          <p:nvPr/>
        </p:nvSpPr>
        <p:spPr>
          <a:xfrm>
            <a:off x="6537960" y="1874520"/>
            <a:ext cx="4754880" cy="502920"/>
          </a:xfrm>
          <a:prstGeom prst="rect">
            <a:avLst/>
          </a:prstGeom>
          <a:noFill/>
          <a:ln/>
        </p:spPr>
        <p:txBody>
          <a:bodyPr wrap="square" lIns="0" tIns="0" rIns="0" bIns="0" rtlCol="0" anchor="ctr"/>
          <a:lstStyle/>
          <a:p>
            <a:pPr indent="0" marL="0">
              <a:buNone/>
            </a:pPr>
            <a:r>
              <a:rPr lang="en-US" sz="2200" b="1" dirty="0">
                <a:solidFill>
                  <a:srgbClr val="2F7F7A"/>
                </a:solidFill>
                <a:latin typeface="Calibri" pitchFamily="34" charset="0"/>
                <a:ea typeface="Calibri" pitchFamily="34" charset="-122"/>
                <a:cs typeface="Calibri" pitchFamily="34" charset="-120"/>
              </a:rPr>
              <a:t>With governance</a:t>
            </a:r>
            <a:endParaRPr lang="en-US" sz="2200" dirty="0"/>
          </a:p>
        </p:txBody>
      </p:sp>
      <p:pic>
        <p:nvPicPr>
          <p:cNvPr id="16" name="Image 4" descr="preencoded.png">    </p:cNvPr>
          <p:cNvPicPr>
            <a:picLocks noChangeAspect="1"/>
          </p:cNvPicPr>
          <p:nvPr/>
        </p:nvPicPr>
        <p:blipFill>
          <a:blip r:embed="rId5"/>
          <a:stretch>
            <a:fillRect/>
          </a:stretch>
        </p:blipFill>
        <p:spPr>
          <a:xfrm>
            <a:off x="6537960" y="2660904"/>
            <a:ext cx="310896" cy="310896"/>
          </a:xfrm>
          <a:prstGeom prst="rect">
            <a:avLst/>
          </a:prstGeom>
        </p:spPr>
      </p:pic>
      <p:sp>
        <p:nvSpPr>
          <p:cNvPr id="17" name="Text 10"/>
          <p:cNvSpPr txBox="1"/>
          <p:nvPr/>
        </p:nvSpPr>
        <p:spPr>
          <a:xfrm>
            <a:off x="7040880" y="2606040"/>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Scores trace back to named, quality-checked sources</a:t>
            </a:r>
            <a:endParaRPr lang="en-US" sz="1500" dirty="0"/>
          </a:p>
        </p:txBody>
      </p:sp>
      <p:pic>
        <p:nvPicPr>
          <p:cNvPr id="18" name="Image 5" descr="preencoded.png">    </p:cNvPr>
          <p:cNvPicPr>
            <a:picLocks noChangeAspect="1"/>
          </p:cNvPicPr>
          <p:nvPr/>
        </p:nvPicPr>
        <p:blipFill>
          <a:blip r:embed="rId6"/>
          <a:stretch>
            <a:fillRect/>
          </a:stretch>
        </p:blipFill>
        <p:spPr>
          <a:xfrm>
            <a:off x="6537960" y="3465576"/>
            <a:ext cx="310896" cy="310896"/>
          </a:xfrm>
          <a:prstGeom prst="rect">
            <a:avLst/>
          </a:prstGeom>
        </p:spPr>
      </p:pic>
      <p:sp>
        <p:nvSpPr>
          <p:cNvPr id="19" name="Text 11"/>
          <p:cNvSpPr txBox="1"/>
          <p:nvPr/>
        </p:nvSpPr>
        <p:spPr>
          <a:xfrm>
            <a:off x="7040880" y="3410712"/>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Input confidence is shown next to every output</a:t>
            </a:r>
            <a:endParaRPr lang="en-US" sz="1500" dirty="0"/>
          </a:p>
        </p:txBody>
      </p:sp>
      <p:pic>
        <p:nvPicPr>
          <p:cNvPr id="20" name="Image 6" descr="preencoded.png">    </p:cNvPr>
          <p:cNvPicPr>
            <a:picLocks noChangeAspect="1"/>
          </p:cNvPicPr>
          <p:nvPr/>
        </p:nvPicPr>
        <p:blipFill>
          <a:blip r:embed="rId7"/>
          <a:stretch>
            <a:fillRect/>
          </a:stretch>
        </p:blipFill>
        <p:spPr>
          <a:xfrm>
            <a:off x="6537960" y="4270248"/>
            <a:ext cx="310896" cy="310896"/>
          </a:xfrm>
          <a:prstGeom prst="rect">
            <a:avLst/>
          </a:prstGeom>
        </p:spPr>
      </p:pic>
      <p:sp>
        <p:nvSpPr>
          <p:cNvPr id="21" name="Text 12"/>
          <p:cNvSpPr txBox="1"/>
          <p:nvPr/>
        </p:nvSpPr>
        <p:spPr>
          <a:xfrm>
            <a:off x="7040880" y="4215384"/>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Models are validated against past disruptions</a:t>
            </a:r>
            <a:endParaRPr lang="en-US" sz="1500" dirty="0"/>
          </a:p>
        </p:txBody>
      </p:sp>
      <p:pic>
        <p:nvPicPr>
          <p:cNvPr id="22" name="Image 7" descr="preencoded.png">    </p:cNvPr>
          <p:cNvPicPr>
            <a:picLocks noChangeAspect="1"/>
          </p:cNvPicPr>
          <p:nvPr/>
        </p:nvPicPr>
        <p:blipFill>
          <a:blip r:embed="rId8"/>
          <a:stretch>
            <a:fillRect/>
          </a:stretch>
        </p:blipFill>
        <p:spPr>
          <a:xfrm>
            <a:off x="6537960" y="5074920"/>
            <a:ext cx="310896" cy="310896"/>
          </a:xfrm>
          <a:prstGeom prst="rect">
            <a:avLst/>
          </a:prstGeom>
        </p:spPr>
      </p:pic>
      <p:sp>
        <p:nvSpPr>
          <p:cNvPr id="23" name="Text 13"/>
          <p:cNvSpPr txBox="1"/>
          <p:nvPr/>
        </p:nvSpPr>
        <p:spPr>
          <a:xfrm>
            <a:off x="7040880" y="5020056"/>
            <a:ext cx="4297680" cy="685800"/>
          </a:xfrm>
          <a:prstGeom prst="rect">
            <a:avLst/>
          </a:prstGeom>
          <a:noFill/>
          <a:ln/>
        </p:spPr>
        <p:txBody>
          <a:bodyPr wrap="square" lIns="0" tIns="0" rIns="0" bIns="0" rtlCol="0" anchor="t"/>
          <a:lstStyle/>
          <a:p>
            <a:pPr indent="0" marL="0">
              <a:buNone/>
            </a:pPr>
            <a:r>
              <a:rPr lang="en-US" sz="1500" dirty="0">
                <a:solidFill>
                  <a:srgbClr val="1B2229"/>
                </a:solidFill>
                <a:latin typeface="Calibri" pitchFamily="34" charset="0"/>
                <a:ea typeface="Calibri" pitchFamily="34" charset="-122"/>
                <a:cs typeface="Calibri" pitchFamily="34" charset="-120"/>
              </a:rPr>
              <a:t>A named person owns each decision the model informs</a:t>
            </a:r>
            <a:endParaRPr lang="en-US" sz="1500" dirty="0"/>
          </a:p>
        </p:txBody>
      </p:sp>
      <p:sp>
        <p:nvSpPr>
          <p:cNvPr id="24" name="Text 14"/>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GOVERNANCE AS THE LEVER</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Four layers turn risk data into decisions you can defend</a:t>
            </a:r>
            <a:endParaRPr lang="en-US" sz="3400" dirty="0"/>
          </a:p>
        </p:txBody>
      </p:sp>
      <p:sp>
        <p:nvSpPr>
          <p:cNvPr id="4" name="Shape 2"/>
          <p:cNvSpPr/>
          <p:nvPr/>
        </p:nvSpPr>
        <p:spPr>
          <a:xfrm>
            <a:off x="548640" y="1645920"/>
            <a:ext cx="11064240" cy="932688"/>
          </a:xfrm>
          <a:prstGeom prst="rect">
            <a:avLst/>
          </a:prstGeom>
          <a:solidFill>
            <a:srgbClr val="EEF1F4"/>
          </a:solidFill>
          <a:ln w="12700">
            <a:solidFill>
              <a:srgbClr val="EEF1F4"/>
            </a:solidFill>
            <a:prstDash val="solid"/>
          </a:ln>
        </p:spPr>
      </p:sp>
      <p:sp>
        <p:nvSpPr>
          <p:cNvPr id="5" name="Shape 3"/>
          <p:cNvSpPr/>
          <p:nvPr/>
        </p:nvSpPr>
        <p:spPr>
          <a:xfrm>
            <a:off x="777240" y="1828800"/>
            <a:ext cx="566928" cy="566928"/>
          </a:xfrm>
          <a:prstGeom prst="roundRect">
            <a:avLst>
              <a:gd name="adj" fmla="val 12903"/>
            </a:avLst>
          </a:prstGeom>
          <a:solidFill>
            <a:srgbClr val="1B2229"/>
          </a:solidFill>
          <a:ln w="12700">
            <a:solidFill>
              <a:srgbClr val="1B2229"/>
            </a:solidFill>
            <a:prstDash val="solid"/>
          </a:ln>
        </p:spPr>
      </p:sp>
      <p:pic>
        <p:nvPicPr>
          <p:cNvPr id="6" name="Image 0" descr="preencoded.png">    </p:cNvPr>
          <p:cNvPicPr>
            <a:picLocks noChangeAspect="1"/>
          </p:cNvPicPr>
          <p:nvPr/>
        </p:nvPicPr>
        <p:blipFill>
          <a:blip r:embed="rId1"/>
          <a:stretch>
            <a:fillRect/>
          </a:stretch>
        </p:blipFill>
        <p:spPr>
          <a:xfrm>
            <a:off x="901964" y="1953524"/>
            <a:ext cx="317480" cy="317480"/>
          </a:xfrm>
          <a:prstGeom prst="rect">
            <a:avLst/>
          </a:prstGeom>
        </p:spPr>
      </p:pic>
      <p:sp>
        <p:nvSpPr>
          <p:cNvPr id="7" name="Text 4"/>
          <p:cNvSpPr txBox="1"/>
          <p:nvPr/>
        </p:nvSpPr>
        <p:spPr>
          <a:xfrm>
            <a:off x="1554480" y="1645920"/>
            <a:ext cx="2834640" cy="932688"/>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Human oversight</a:t>
            </a:r>
            <a:endParaRPr lang="en-US" sz="1900" dirty="0"/>
          </a:p>
        </p:txBody>
      </p:sp>
      <p:sp>
        <p:nvSpPr>
          <p:cNvPr id="8" name="Text 5"/>
          <p:cNvSpPr txBox="1"/>
          <p:nvPr/>
        </p:nvSpPr>
        <p:spPr>
          <a:xfrm>
            <a:off x="4480560" y="1645920"/>
            <a:ext cx="6949440" cy="932688"/>
          </a:xfrm>
          <a:prstGeom prst="rect">
            <a:avLst/>
          </a:prstGeom>
          <a:noFill/>
          <a:ln/>
        </p:spPr>
        <p:txBody>
          <a:bodyPr wrap="square" lIns="0" tIns="0" rIns="0" bIns="0" rtlCol="0" anchor="ctr"/>
          <a:lstStyle/>
          <a:p>
            <a:pPr indent="0" marL="0">
              <a:buNone/>
            </a:pPr>
            <a:r>
              <a:rPr lang="en-US" sz="1500" dirty="0">
                <a:solidFill>
                  <a:srgbClr val="5A6672"/>
                </a:solidFill>
                <a:latin typeface="Calibri" pitchFamily="34" charset="0"/>
                <a:ea typeface="Calibri" pitchFamily="34" charset="-122"/>
                <a:cs typeface="Calibri" pitchFamily="34" charset="-120"/>
              </a:rPr>
              <a:t>Decision rights, escalation paths, and a named owner for every action the data or model informs</a:t>
            </a:r>
            <a:endParaRPr lang="en-US" sz="1500" dirty="0"/>
          </a:p>
        </p:txBody>
      </p:sp>
      <p:sp>
        <p:nvSpPr>
          <p:cNvPr id="9" name="Shape 6"/>
          <p:cNvSpPr/>
          <p:nvPr/>
        </p:nvSpPr>
        <p:spPr>
          <a:xfrm>
            <a:off x="548640" y="2724912"/>
            <a:ext cx="11064240" cy="932688"/>
          </a:xfrm>
          <a:prstGeom prst="rect">
            <a:avLst/>
          </a:prstGeom>
          <a:solidFill>
            <a:srgbClr val="EEF1F4"/>
          </a:solidFill>
          <a:ln w="12700">
            <a:solidFill>
              <a:srgbClr val="EEF1F4"/>
            </a:solidFill>
            <a:prstDash val="solid"/>
          </a:ln>
        </p:spPr>
      </p:sp>
      <p:sp>
        <p:nvSpPr>
          <p:cNvPr id="10" name="Shape 7"/>
          <p:cNvSpPr/>
          <p:nvPr/>
        </p:nvSpPr>
        <p:spPr>
          <a:xfrm>
            <a:off x="777240" y="2907792"/>
            <a:ext cx="566928" cy="566928"/>
          </a:xfrm>
          <a:prstGeom prst="roundRect">
            <a:avLst>
              <a:gd name="adj" fmla="val 12903"/>
            </a:avLst>
          </a:prstGeom>
          <a:solidFill>
            <a:srgbClr val="1B2229"/>
          </a:solidFill>
          <a:ln w="12700">
            <a:solidFill>
              <a:srgbClr val="1B2229"/>
            </a:solidFill>
            <a:prstDash val="solid"/>
          </a:ln>
        </p:spPr>
      </p:sp>
      <p:pic>
        <p:nvPicPr>
          <p:cNvPr id="11" name="Image 1" descr="preencoded.png">    </p:cNvPr>
          <p:cNvPicPr>
            <a:picLocks noChangeAspect="1"/>
          </p:cNvPicPr>
          <p:nvPr/>
        </p:nvPicPr>
        <p:blipFill>
          <a:blip r:embed="rId2"/>
          <a:stretch>
            <a:fillRect/>
          </a:stretch>
        </p:blipFill>
        <p:spPr>
          <a:xfrm>
            <a:off x="901964" y="3032516"/>
            <a:ext cx="317480" cy="317480"/>
          </a:xfrm>
          <a:prstGeom prst="rect">
            <a:avLst/>
          </a:prstGeom>
        </p:spPr>
      </p:pic>
      <p:sp>
        <p:nvSpPr>
          <p:cNvPr id="12" name="Text 8"/>
          <p:cNvSpPr txBox="1"/>
          <p:nvPr/>
        </p:nvSpPr>
        <p:spPr>
          <a:xfrm>
            <a:off x="1554480" y="2724912"/>
            <a:ext cx="2834640" cy="932688"/>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AI model risk</a:t>
            </a:r>
            <a:endParaRPr lang="en-US" sz="1900" dirty="0"/>
          </a:p>
        </p:txBody>
      </p:sp>
      <p:sp>
        <p:nvSpPr>
          <p:cNvPr id="13" name="Text 9"/>
          <p:cNvSpPr txBox="1"/>
          <p:nvPr/>
        </p:nvSpPr>
        <p:spPr>
          <a:xfrm>
            <a:off x="4480560" y="2724912"/>
            <a:ext cx="6949440" cy="932688"/>
          </a:xfrm>
          <a:prstGeom prst="rect">
            <a:avLst/>
          </a:prstGeom>
          <a:noFill/>
          <a:ln/>
        </p:spPr>
        <p:txBody>
          <a:bodyPr wrap="square" lIns="0" tIns="0" rIns="0" bIns="0" rtlCol="0" anchor="ctr"/>
          <a:lstStyle/>
          <a:p>
            <a:pPr indent="0" marL="0">
              <a:buNone/>
            </a:pPr>
            <a:r>
              <a:rPr lang="en-US" sz="1500" dirty="0">
                <a:solidFill>
                  <a:srgbClr val="5A6672"/>
                </a:solidFill>
                <a:latin typeface="Calibri" pitchFamily="34" charset="0"/>
                <a:ea typeface="Calibri" pitchFamily="34" charset="-122"/>
                <a:cs typeface="Calibri" pitchFamily="34" charset="-120"/>
              </a:rPr>
              <a:t>Validation against known events, drift monitoring, explainable outputs, and logged prompts for generative tools</a:t>
            </a:r>
            <a:endParaRPr lang="en-US" sz="1500" dirty="0"/>
          </a:p>
        </p:txBody>
      </p:sp>
      <p:sp>
        <p:nvSpPr>
          <p:cNvPr id="14" name="Shape 10"/>
          <p:cNvSpPr/>
          <p:nvPr/>
        </p:nvSpPr>
        <p:spPr>
          <a:xfrm>
            <a:off x="548640" y="3803904"/>
            <a:ext cx="11064240" cy="932688"/>
          </a:xfrm>
          <a:prstGeom prst="rect">
            <a:avLst/>
          </a:prstGeom>
          <a:solidFill>
            <a:srgbClr val="EEF1F4"/>
          </a:solidFill>
          <a:ln w="12700">
            <a:solidFill>
              <a:srgbClr val="EEF1F4"/>
            </a:solidFill>
            <a:prstDash val="solid"/>
          </a:ln>
        </p:spPr>
      </p:sp>
      <p:sp>
        <p:nvSpPr>
          <p:cNvPr id="15" name="Shape 11"/>
          <p:cNvSpPr/>
          <p:nvPr/>
        </p:nvSpPr>
        <p:spPr>
          <a:xfrm>
            <a:off x="777240" y="3986784"/>
            <a:ext cx="566928" cy="566928"/>
          </a:xfrm>
          <a:prstGeom prst="roundRect">
            <a:avLst>
              <a:gd name="adj" fmla="val 12903"/>
            </a:avLst>
          </a:prstGeom>
          <a:solidFill>
            <a:srgbClr val="1B2229"/>
          </a:solidFill>
          <a:ln w="12700">
            <a:solidFill>
              <a:srgbClr val="1B2229"/>
            </a:solidFill>
            <a:prstDash val="solid"/>
          </a:ln>
        </p:spPr>
      </p:sp>
      <p:pic>
        <p:nvPicPr>
          <p:cNvPr id="16" name="Image 2" descr="preencoded.png">    </p:cNvPr>
          <p:cNvPicPr>
            <a:picLocks noChangeAspect="1"/>
          </p:cNvPicPr>
          <p:nvPr/>
        </p:nvPicPr>
        <p:blipFill>
          <a:blip r:embed="rId3"/>
          <a:stretch>
            <a:fillRect/>
          </a:stretch>
        </p:blipFill>
        <p:spPr>
          <a:xfrm>
            <a:off x="901964" y="4111508"/>
            <a:ext cx="317480" cy="317480"/>
          </a:xfrm>
          <a:prstGeom prst="rect">
            <a:avLst/>
          </a:prstGeom>
        </p:spPr>
      </p:pic>
      <p:sp>
        <p:nvSpPr>
          <p:cNvPr id="17" name="Text 12"/>
          <p:cNvSpPr txBox="1"/>
          <p:nvPr/>
        </p:nvSpPr>
        <p:spPr>
          <a:xfrm>
            <a:off x="1554480" y="3803904"/>
            <a:ext cx="2834640" cy="932688"/>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Access &amp; sharing</a:t>
            </a:r>
            <a:endParaRPr lang="en-US" sz="1900" dirty="0"/>
          </a:p>
        </p:txBody>
      </p:sp>
      <p:sp>
        <p:nvSpPr>
          <p:cNvPr id="18" name="Text 13"/>
          <p:cNvSpPr txBox="1"/>
          <p:nvPr/>
        </p:nvSpPr>
        <p:spPr>
          <a:xfrm>
            <a:off x="4480560" y="3803904"/>
            <a:ext cx="6949440" cy="932688"/>
          </a:xfrm>
          <a:prstGeom prst="rect">
            <a:avLst/>
          </a:prstGeom>
          <a:noFill/>
          <a:ln/>
        </p:spPr>
        <p:txBody>
          <a:bodyPr wrap="square" lIns="0" tIns="0" rIns="0" bIns="0" rtlCol="0" anchor="ctr"/>
          <a:lstStyle/>
          <a:p>
            <a:pPr indent="0" marL="0">
              <a:buNone/>
            </a:pPr>
            <a:r>
              <a:rPr lang="en-US" sz="1500" dirty="0">
                <a:solidFill>
                  <a:srgbClr val="5A6672"/>
                </a:solidFill>
                <a:latin typeface="Calibri" pitchFamily="34" charset="0"/>
                <a:ea typeface="Calibri" pitchFamily="34" charset="-122"/>
                <a:cs typeface="Calibri" pitchFamily="34" charset="-120"/>
              </a:rPr>
              <a:t>Least-privilege access, data-use agreements with suppliers, and audit trails on sensitive maps</a:t>
            </a:r>
            <a:endParaRPr lang="en-US" sz="1500" dirty="0"/>
          </a:p>
        </p:txBody>
      </p:sp>
      <p:sp>
        <p:nvSpPr>
          <p:cNvPr id="19" name="Shape 14"/>
          <p:cNvSpPr/>
          <p:nvPr/>
        </p:nvSpPr>
        <p:spPr>
          <a:xfrm>
            <a:off x="548640" y="4882896"/>
            <a:ext cx="11064240" cy="932688"/>
          </a:xfrm>
          <a:prstGeom prst="rect">
            <a:avLst/>
          </a:prstGeom>
          <a:solidFill>
            <a:srgbClr val="F6E6DA"/>
          </a:solidFill>
          <a:ln w="12700">
            <a:solidFill>
              <a:srgbClr val="F6E6DA"/>
            </a:solidFill>
            <a:prstDash val="solid"/>
          </a:ln>
        </p:spPr>
      </p:sp>
      <p:sp>
        <p:nvSpPr>
          <p:cNvPr id="20" name="Shape 15"/>
          <p:cNvSpPr/>
          <p:nvPr/>
        </p:nvSpPr>
        <p:spPr>
          <a:xfrm>
            <a:off x="777240" y="5065776"/>
            <a:ext cx="566928" cy="566928"/>
          </a:xfrm>
          <a:prstGeom prst="roundRect">
            <a:avLst>
              <a:gd name="adj" fmla="val 12903"/>
            </a:avLst>
          </a:prstGeom>
          <a:solidFill>
            <a:srgbClr val="C46A2B"/>
          </a:solidFill>
          <a:ln w="12700">
            <a:solidFill>
              <a:srgbClr val="C46A2B"/>
            </a:solidFill>
            <a:prstDash val="solid"/>
          </a:ln>
        </p:spPr>
      </p:sp>
      <p:pic>
        <p:nvPicPr>
          <p:cNvPr id="21" name="Image 3" descr="preencoded.png">    </p:cNvPr>
          <p:cNvPicPr>
            <a:picLocks noChangeAspect="1"/>
          </p:cNvPicPr>
          <p:nvPr/>
        </p:nvPicPr>
        <p:blipFill>
          <a:blip r:embed="rId4"/>
          <a:stretch>
            <a:fillRect/>
          </a:stretch>
        </p:blipFill>
        <p:spPr>
          <a:xfrm>
            <a:off x="901964" y="5190500"/>
            <a:ext cx="317480" cy="317480"/>
          </a:xfrm>
          <a:prstGeom prst="rect">
            <a:avLst/>
          </a:prstGeom>
        </p:spPr>
      </p:pic>
      <p:sp>
        <p:nvSpPr>
          <p:cNvPr id="22" name="Text 16"/>
          <p:cNvSpPr txBox="1"/>
          <p:nvPr/>
        </p:nvSpPr>
        <p:spPr>
          <a:xfrm>
            <a:off x="1554480" y="4882896"/>
            <a:ext cx="2834640" cy="932688"/>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Data foundation</a:t>
            </a:r>
            <a:endParaRPr lang="en-US" sz="1900" dirty="0"/>
          </a:p>
        </p:txBody>
      </p:sp>
      <p:sp>
        <p:nvSpPr>
          <p:cNvPr id="23" name="Text 17"/>
          <p:cNvSpPr txBox="1"/>
          <p:nvPr/>
        </p:nvSpPr>
        <p:spPr>
          <a:xfrm>
            <a:off x="4480560" y="4882896"/>
            <a:ext cx="6949440" cy="932688"/>
          </a:xfrm>
          <a:prstGeom prst="rect">
            <a:avLst/>
          </a:prstGeom>
          <a:noFill/>
          <a:ln/>
        </p:spPr>
        <p:txBody>
          <a:bodyPr wrap="square" lIns="0" tIns="0" rIns="0" bIns="0" rtlCol="0" anchor="ctr"/>
          <a:lstStyle/>
          <a:p>
            <a:pPr indent="0" marL="0">
              <a:buNone/>
            </a:pPr>
            <a:r>
              <a:rPr lang="en-US" sz="1500" dirty="0">
                <a:solidFill>
                  <a:srgbClr val="5A6672"/>
                </a:solidFill>
                <a:latin typeface="Calibri" pitchFamily="34" charset="0"/>
                <a:ea typeface="Calibri" pitchFamily="34" charset="-122"/>
                <a:cs typeface="Calibri" pitchFamily="34" charset="-120"/>
              </a:rPr>
              <a:t>Common part and supplier IDs, lineage, quality checks, and an owner for each critical record</a:t>
            </a:r>
            <a:endParaRPr lang="en-US" sz="1500" dirty="0"/>
          </a:p>
        </p:txBody>
      </p:sp>
      <p:sp>
        <p:nvSpPr>
          <p:cNvPr id="24" name="Text 18"/>
          <p:cNvSpPr txBox="1"/>
          <p:nvPr/>
        </p:nvSpPr>
        <p:spPr>
          <a:xfrm>
            <a:off x="548640" y="6035040"/>
            <a:ext cx="11094415" cy="365760"/>
          </a:xfrm>
          <a:prstGeom prst="rect">
            <a:avLst/>
          </a:prstGeom>
          <a:noFill/>
          <a:ln/>
        </p:spPr>
        <p:txBody>
          <a:bodyPr wrap="square" lIns="0" tIns="0" rIns="0" bIns="0" rtlCol="0" anchor="ctr"/>
          <a:lstStyle/>
          <a:p>
            <a:pPr indent="0" marL="0">
              <a:buNone/>
            </a:pPr>
            <a:r>
              <a:rPr lang="en-US" sz="1600" i="1" dirty="0">
                <a:solidFill>
                  <a:srgbClr val="C46A2B"/>
                </a:solidFill>
                <a:latin typeface="Calibri" pitchFamily="34" charset="0"/>
                <a:ea typeface="Calibri" pitchFamily="34" charset="-122"/>
                <a:cs typeface="Calibri" pitchFamily="34" charset="-120"/>
              </a:rPr>
              <a:t>Build from the bottom up. Each layer depends on the one below it.</a:t>
            </a:r>
            <a:endParaRPr lang="en-US" sz="1600" dirty="0"/>
          </a:p>
        </p:txBody>
      </p:sp>
      <p:sp>
        <p:nvSpPr>
          <p:cNvPr id="25" name="Text 19"/>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GOVERNANCE AS THE LEVER</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Map each control to the risk it reduces, and measure it</a:t>
            </a:r>
            <a:endParaRPr lang="en-US" sz="3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4572000"/>
                <a:gridCol w="3474720"/>
              </a:tblGrid>
              <a:tr h="50292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Risk</a:t>
                      </a:r>
                      <a:endParaRPr lang="en-US" sz="150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1B222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Governance control</a:t>
                      </a:r>
                      <a:endParaRPr lang="en-US" sz="150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1B222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Evidence it works</a:t>
                      </a:r>
                      <a:endParaRPr lang="en-US" sz="150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1B2229"/>
                    </a:solidFill>
                  </a:tcPr>
                </a:tc>
              </a:tr>
              <a:tr h="777240">
                <a:tc>
                  <a:txBody>
                    <a:bodyPr/>
                    <a:lstStyle/>
                    <a:p>
                      <a:pPr indent="0" marL="0">
                        <a:buNone/>
                      </a:pPr>
                      <a:r>
                        <a:rPr lang="en-US" sz="1350" b="1" dirty="0">
                          <a:solidFill>
                            <a:srgbClr val="1B2229"/>
                          </a:solidFill>
                          <a:latin typeface="Calibri" pitchFamily="34" charset="0"/>
                          <a:ea typeface="Calibri" pitchFamily="34" charset="-122"/>
                          <a:cs typeface="Calibri" pitchFamily="34" charset="-120"/>
                        </a:rPr>
                        <a:t>Sole-source concentration</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dirty="0">
                          <a:solidFill>
                            <a:srgbClr val="1B2229"/>
                          </a:solidFill>
                          <a:latin typeface="Calibri" pitchFamily="34" charset="0"/>
                          <a:ea typeface="Calibri" pitchFamily="34" charset="-122"/>
                          <a:cs typeface="Calibri" pitchFamily="34" charset="-120"/>
                        </a:rPr>
                        <a:t>Sub-tier map and a named owner for each critical part</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b="1" dirty="0">
                          <a:solidFill>
                            <a:srgbClr val="C46A2B"/>
                          </a:solidFill>
                          <a:latin typeface="Calibri" pitchFamily="34" charset="0"/>
                          <a:ea typeface="Calibri" pitchFamily="34" charset="-122"/>
                          <a:cs typeface="Calibri" pitchFamily="34" charset="-120"/>
                        </a:rPr>
                        <a:t>Share of critical parts mapped to tier 3</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777240">
                <a:tc>
                  <a:txBody>
                    <a:bodyPr/>
                    <a:lstStyle/>
                    <a:p>
                      <a:pPr indent="0" marL="0">
                        <a:buNone/>
                      </a:pPr>
                      <a:r>
                        <a:rPr lang="en-US" sz="1350" b="1" dirty="0">
                          <a:solidFill>
                            <a:srgbClr val="1B2229"/>
                          </a:solidFill>
                          <a:latin typeface="Calibri" pitchFamily="34" charset="0"/>
                          <a:ea typeface="Calibri" pitchFamily="34" charset="-122"/>
                          <a:cs typeface="Calibri" pitchFamily="34" charset="-120"/>
                        </a:rPr>
                        <a:t>Export control or trade change</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350" dirty="0">
                          <a:solidFill>
                            <a:srgbClr val="1B2229"/>
                          </a:solidFill>
                          <a:latin typeface="Calibri" pitchFamily="34" charset="0"/>
                          <a:ea typeface="Calibri" pitchFamily="34" charset="-122"/>
                          <a:cs typeface="Calibri" pitchFamily="34" charset="-120"/>
                        </a:rPr>
                        <a:t>Item and party classification, current country-of-origin data</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350" b="1" dirty="0">
                          <a:solidFill>
                            <a:srgbClr val="C46A2B"/>
                          </a:solidFill>
                          <a:latin typeface="Calibri" pitchFamily="34" charset="0"/>
                          <a:ea typeface="Calibri" pitchFamily="34" charset="-122"/>
                          <a:cs typeface="Calibri" pitchFamily="34" charset="-120"/>
                        </a:rPr>
                        <a:t>Hours from rule change to exposure report</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r>
              <a:tr h="777240">
                <a:tc>
                  <a:txBody>
                    <a:bodyPr/>
                    <a:lstStyle/>
                    <a:p>
                      <a:pPr indent="0" marL="0">
                        <a:buNone/>
                      </a:pPr>
                      <a:r>
                        <a:rPr lang="en-US" sz="1350" b="1" dirty="0">
                          <a:solidFill>
                            <a:srgbClr val="1B2229"/>
                          </a:solidFill>
                          <a:latin typeface="Calibri" pitchFamily="34" charset="0"/>
                          <a:ea typeface="Calibri" pitchFamily="34" charset="-122"/>
                          <a:cs typeface="Calibri" pitchFamily="34" charset="-120"/>
                        </a:rPr>
                        <a:t>Demand swings</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dirty="0">
                          <a:solidFill>
                            <a:srgbClr val="1B2229"/>
                          </a:solidFill>
                          <a:latin typeface="Calibri" pitchFamily="34" charset="0"/>
                          <a:ea typeface="Calibri" pitchFamily="34" charset="-122"/>
                          <a:cs typeface="Calibri" pitchFamily="34" charset="-120"/>
                        </a:rPr>
                        <a:t>Shared forecasts under governed access terms</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b="1" dirty="0">
                          <a:solidFill>
                            <a:srgbClr val="C46A2B"/>
                          </a:solidFill>
                          <a:latin typeface="Calibri" pitchFamily="34" charset="0"/>
                          <a:ea typeface="Calibri" pitchFamily="34" charset="-122"/>
                          <a:cs typeface="Calibri" pitchFamily="34" charset="-120"/>
                        </a:rPr>
                        <a:t>Forecast error and order variability</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777240">
                <a:tc>
                  <a:txBody>
                    <a:bodyPr/>
                    <a:lstStyle/>
                    <a:p>
                      <a:pPr indent="0" marL="0">
                        <a:buNone/>
                      </a:pPr>
                      <a:r>
                        <a:rPr lang="en-US" sz="1350" b="1" dirty="0">
                          <a:solidFill>
                            <a:srgbClr val="1B2229"/>
                          </a:solidFill>
                          <a:latin typeface="Calibri" pitchFamily="34" charset="0"/>
                          <a:ea typeface="Calibri" pitchFamily="34" charset="-122"/>
                          <a:cs typeface="Calibri" pitchFamily="34" charset="-120"/>
                        </a:rPr>
                        <a:t>AI misranks a risk</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350" dirty="0">
                          <a:solidFill>
                            <a:srgbClr val="1B2229"/>
                          </a:solidFill>
                          <a:latin typeface="Calibri" pitchFamily="34" charset="0"/>
                          <a:ea typeface="Calibri" pitchFamily="34" charset="-122"/>
                          <a:cs typeface="Calibri" pitchFamily="34" charset="-120"/>
                        </a:rPr>
                        <a:t>Validation on past disruptions, drift monitoring</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350" b="1" dirty="0">
                          <a:solidFill>
                            <a:srgbClr val="C46A2B"/>
                          </a:solidFill>
                          <a:latin typeface="Calibri" pitchFamily="34" charset="0"/>
                          <a:ea typeface="Calibri" pitchFamily="34" charset="-122"/>
                          <a:cs typeface="Calibri" pitchFamily="34" charset="-120"/>
                        </a:rPr>
                        <a:t>Planner override rate, and why</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r>
              <a:tr h="777240">
                <a:tc>
                  <a:txBody>
                    <a:bodyPr/>
                    <a:lstStyle/>
                    <a:p>
                      <a:pPr indent="0" marL="0">
                        <a:buNone/>
                      </a:pPr>
                      <a:r>
                        <a:rPr lang="en-US" sz="1350" b="1" dirty="0">
                          <a:solidFill>
                            <a:srgbClr val="1B2229"/>
                          </a:solidFill>
                          <a:latin typeface="Calibri" pitchFamily="34" charset="0"/>
                          <a:ea typeface="Calibri" pitchFamily="34" charset="-122"/>
                          <a:cs typeface="Calibri" pitchFamily="34" charset="-120"/>
                        </a:rPr>
                        <a:t>Suppliers won't share</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dirty="0">
                          <a:solidFill>
                            <a:srgbClr val="1B2229"/>
                          </a:solidFill>
                          <a:latin typeface="Calibri" pitchFamily="34" charset="0"/>
                          <a:ea typeface="Calibri" pitchFamily="34" charset="-122"/>
                          <a:cs typeface="Calibri" pitchFamily="34" charset="-120"/>
                        </a:rPr>
                        <a:t>Data-use agreements, least-privilege access, audit logs</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b="1" dirty="0">
                          <a:solidFill>
                            <a:srgbClr val="C46A2B"/>
                          </a:solidFill>
                          <a:latin typeface="Calibri" pitchFamily="34" charset="0"/>
                          <a:ea typeface="Calibri" pitchFamily="34" charset="-122"/>
                          <a:cs typeface="Calibri" pitchFamily="34" charset="-120"/>
                        </a:rPr>
                        <a:t>Critical suppliers sharing sub-tier data</a:t>
                      </a:r>
                      <a:endParaRPr lang="en-US" sz="1350" dirty="0">
                        <a:latin typeface="Calibri" charset="0"/>
                        <a:ea typeface="Calibri" charset="0"/>
                        <a:cs typeface="Calibri" charset="0"/>
                      </a:endParaRPr>
                    </a:p>
                  </a:txBody>
                  <a:tcPr marL="137160" marR="137160" marT="73152" marB="73152"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GOVERNANCE AS THE LEVER</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Use an established framework rather than inventing one</a:t>
            </a:r>
            <a:endParaRPr lang="en-US" sz="3400" dirty="0"/>
          </a:p>
        </p:txBody>
      </p:sp>
      <p:sp>
        <p:nvSpPr>
          <p:cNvPr id="4" name="Text 2"/>
          <p:cNvSpPr txBox="1"/>
          <p:nvPr/>
        </p:nvSpPr>
        <p:spPr>
          <a:xfrm>
            <a:off x="548640" y="1554480"/>
            <a:ext cx="731520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NIST AI Risk Management Framework: four functions</a:t>
            </a:r>
            <a:endParaRPr lang="en-US" sz="1800" dirty="0"/>
          </a:p>
        </p:txBody>
      </p:sp>
      <p:sp>
        <p:nvSpPr>
          <p:cNvPr id="5" name="Shape 3"/>
          <p:cNvSpPr/>
          <p:nvPr/>
        </p:nvSpPr>
        <p:spPr>
          <a:xfrm>
            <a:off x="548640" y="2148840"/>
            <a:ext cx="1691640" cy="2926080"/>
          </a:xfrm>
          <a:prstGeom prst="rect">
            <a:avLst/>
          </a:prstGeom>
          <a:solidFill>
            <a:srgbClr val="F6E6DA"/>
          </a:solidFill>
          <a:ln w="12700">
            <a:solidFill>
              <a:srgbClr val="F6E6DA"/>
            </a:solidFill>
            <a:prstDash val="solid"/>
          </a:ln>
        </p:spPr>
      </p:sp>
      <p:sp>
        <p:nvSpPr>
          <p:cNvPr id="6" name="Shape 4"/>
          <p:cNvSpPr/>
          <p:nvPr/>
        </p:nvSpPr>
        <p:spPr>
          <a:xfrm>
            <a:off x="731520" y="2377440"/>
            <a:ext cx="566928" cy="566928"/>
          </a:xfrm>
          <a:prstGeom prst="roundRect">
            <a:avLst>
              <a:gd name="adj" fmla="val 12903"/>
            </a:avLst>
          </a:prstGeom>
          <a:solidFill>
            <a:srgbClr val="C46A2B"/>
          </a:solidFill>
          <a:ln w="12700">
            <a:solidFill>
              <a:srgbClr val="C46A2B"/>
            </a:solidFill>
            <a:prstDash val="solid"/>
          </a:ln>
        </p:spPr>
      </p:sp>
      <p:pic>
        <p:nvPicPr>
          <p:cNvPr id="7" name="Image 0" descr="preencoded.png">    </p:cNvPr>
          <p:cNvPicPr>
            <a:picLocks noChangeAspect="1"/>
          </p:cNvPicPr>
          <p:nvPr/>
        </p:nvPicPr>
        <p:blipFill>
          <a:blip r:embed="rId1"/>
          <a:stretch>
            <a:fillRect/>
          </a:stretch>
        </p:blipFill>
        <p:spPr>
          <a:xfrm>
            <a:off x="856244" y="2502164"/>
            <a:ext cx="317480" cy="317480"/>
          </a:xfrm>
          <a:prstGeom prst="rect">
            <a:avLst/>
          </a:prstGeom>
        </p:spPr>
      </p:pic>
      <p:sp>
        <p:nvSpPr>
          <p:cNvPr id="8" name="Text 5"/>
          <p:cNvSpPr txBox="1"/>
          <p:nvPr/>
        </p:nvSpPr>
        <p:spPr>
          <a:xfrm>
            <a:off x="731520" y="3063240"/>
            <a:ext cx="137160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Govern</a:t>
            </a:r>
            <a:endParaRPr lang="en-US" sz="1800" dirty="0"/>
          </a:p>
        </p:txBody>
      </p:sp>
      <p:sp>
        <p:nvSpPr>
          <p:cNvPr id="9" name="Text 6"/>
          <p:cNvSpPr txBox="1"/>
          <p:nvPr/>
        </p:nvSpPr>
        <p:spPr>
          <a:xfrm>
            <a:off x="731520" y="3520440"/>
            <a:ext cx="1371600" cy="1463040"/>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Policies, roles, and accountability across the AI lifecycle</a:t>
            </a:r>
            <a:endParaRPr lang="en-US" sz="1300" dirty="0"/>
          </a:p>
        </p:txBody>
      </p:sp>
      <p:sp>
        <p:nvSpPr>
          <p:cNvPr id="10" name="Shape 7"/>
          <p:cNvSpPr/>
          <p:nvPr/>
        </p:nvSpPr>
        <p:spPr>
          <a:xfrm>
            <a:off x="2423160" y="2148840"/>
            <a:ext cx="1691640" cy="2926080"/>
          </a:xfrm>
          <a:prstGeom prst="rect">
            <a:avLst/>
          </a:prstGeom>
          <a:solidFill>
            <a:srgbClr val="EEF1F4"/>
          </a:solidFill>
          <a:ln w="12700">
            <a:solidFill>
              <a:srgbClr val="EEF1F4"/>
            </a:solidFill>
            <a:prstDash val="solid"/>
          </a:ln>
        </p:spPr>
      </p:sp>
      <p:sp>
        <p:nvSpPr>
          <p:cNvPr id="11" name="Shape 8"/>
          <p:cNvSpPr/>
          <p:nvPr/>
        </p:nvSpPr>
        <p:spPr>
          <a:xfrm>
            <a:off x="2606040" y="2377440"/>
            <a:ext cx="566928" cy="566928"/>
          </a:xfrm>
          <a:prstGeom prst="roundRect">
            <a:avLst>
              <a:gd name="adj" fmla="val 12903"/>
            </a:avLst>
          </a:prstGeom>
          <a:solidFill>
            <a:srgbClr val="1B2229"/>
          </a:solidFill>
          <a:ln w="12700">
            <a:solidFill>
              <a:srgbClr val="1B2229"/>
            </a:solidFill>
            <a:prstDash val="solid"/>
          </a:ln>
        </p:spPr>
      </p:sp>
      <p:pic>
        <p:nvPicPr>
          <p:cNvPr id="12" name="Image 1" descr="preencoded.png">    </p:cNvPr>
          <p:cNvPicPr>
            <a:picLocks noChangeAspect="1"/>
          </p:cNvPicPr>
          <p:nvPr/>
        </p:nvPicPr>
        <p:blipFill>
          <a:blip r:embed="rId2"/>
          <a:stretch>
            <a:fillRect/>
          </a:stretch>
        </p:blipFill>
        <p:spPr>
          <a:xfrm>
            <a:off x="2730764" y="2502164"/>
            <a:ext cx="317480" cy="317480"/>
          </a:xfrm>
          <a:prstGeom prst="rect">
            <a:avLst/>
          </a:prstGeom>
        </p:spPr>
      </p:pic>
      <p:sp>
        <p:nvSpPr>
          <p:cNvPr id="13" name="Text 9"/>
          <p:cNvSpPr txBox="1"/>
          <p:nvPr/>
        </p:nvSpPr>
        <p:spPr>
          <a:xfrm>
            <a:off x="2606040" y="3063240"/>
            <a:ext cx="137160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Map</a:t>
            </a:r>
            <a:endParaRPr lang="en-US" sz="1800" dirty="0"/>
          </a:p>
        </p:txBody>
      </p:sp>
      <p:sp>
        <p:nvSpPr>
          <p:cNvPr id="14" name="Text 10"/>
          <p:cNvSpPr txBox="1"/>
          <p:nvPr/>
        </p:nvSpPr>
        <p:spPr>
          <a:xfrm>
            <a:off x="2606040" y="3520440"/>
            <a:ext cx="1371600" cy="1463040"/>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Context: where the model is used and what it could affect</a:t>
            </a:r>
            <a:endParaRPr lang="en-US" sz="1300" dirty="0"/>
          </a:p>
        </p:txBody>
      </p:sp>
      <p:sp>
        <p:nvSpPr>
          <p:cNvPr id="15" name="Shape 11"/>
          <p:cNvSpPr/>
          <p:nvPr/>
        </p:nvSpPr>
        <p:spPr>
          <a:xfrm>
            <a:off x="4297680" y="2148840"/>
            <a:ext cx="1691640" cy="2926080"/>
          </a:xfrm>
          <a:prstGeom prst="rect">
            <a:avLst/>
          </a:prstGeom>
          <a:solidFill>
            <a:srgbClr val="EEF1F4"/>
          </a:solidFill>
          <a:ln w="12700">
            <a:solidFill>
              <a:srgbClr val="EEF1F4"/>
            </a:solidFill>
            <a:prstDash val="solid"/>
          </a:ln>
        </p:spPr>
      </p:sp>
      <p:sp>
        <p:nvSpPr>
          <p:cNvPr id="16" name="Shape 12"/>
          <p:cNvSpPr/>
          <p:nvPr/>
        </p:nvSpPr>
        <p:spPr>
          <a:xfrm>
            <a:off x="4480560" y="2377440"/>
            <a:ext cx="566928" cy="566928"/>
          </a:xfrm>
          <a:prstGeom prst="roundRect">
            <a:avLst>
              <a:gd name="adj" fmla="val 12903"/>
            </a:avLst>
          </a:prstGeom>
          <a:solidFill>
            <a:srgbClr val="1B2229"/>
          </a:solidFill>
          <a:ln w="12700">
            <a:solidFill>
              <a:srgbClr val="1B2229"/>
            </a:solidFill>
            <a:prstDash val="solid"/>
          </a:ln>
        </p:spPr>
      </p:sp>
      <p:pic>
        <p:nvPicPr>
          <p:cNvPr id="17" name="Image 2" descr="preencoded.png">    </p:cNvPr>
          <p:cNvPicPr>
            <a:picLocks noChangeAspect="1"/>
          </p:cNvPicPr>
          <p:nvPr/>
        </p:nvPicPr>
        <p:blipFill>
          <a:blip r:embed="rId3"/>
          <a:stretch>
            <a:fillRect/>
          </a:stretch>
        </p:blipFill>
        <p:spPr>
          <a:xfrm>
            <a:off x="4605284" y="2502164"/>
            <a:ext cx="317480" cy="317480"/>
          </a:xfrm>
          <a:prstGeom prst="rect">
            <a:avLst/>
          </a:prstGeom>
        </p:spPr>
      </p:pic>
      <p:sp>
        <p:nvSpPr>
          <p:cNvPr id="18" name="Text 13"/>
          <p:cNvSpPr txBox="1"/>
          <p:nvPr/>
        </p:nvSpPr>
        <p:spPr>
          <a:xfrm>
            <a:off x="4480560" y="3063240"/>
            <a:ext cx="137160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Measure</a:t>
            </a:r>
            <a:endParaRPr lang="en-US" sz="1800" dirty="0"/>
          </a:p>
        </p:txBody>
      </p:sp>
      <p:sp>
        <p:nvSpPr>
          <p:cNvPr id="19" name="Text 14"/>
          <p:cNvSpPr txBox="1"/>
          <p:nvPr/>
        </p:nvSpPr>
        <p:spPr>
          <a:xfrm>
            <a:off x="4480560" y="3520440"/>
            <a:ext cx="1371600" cy="1463040"/>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Test, evaluate, and track the risks you mapped</a:t>
            </a:r>
            <a:endParaRPr lang="en-US" sz="1300" dirty="0"/>
          </a:p>
        </p:txBody>
      </p:sp>
      <p:sp>
        <p:nvSpPr>
          <p:cNvPr id="20" name="Shape 15"/>
          <p:cNvSpPr/>
          <p:nvPr/>
        </p:nvSpPr>
        <p:spPr>
          <a:xfrm>
            <a:off x="6172200" y="2148840"/>
            <a:ext cx="1691640" cy="2926080"/>
          </a:xfrm>
          <a:prstGeom prst="rect">
            <a:avLst/>
          </a:prstGeom>
          <a:solidFill>
            <a:srgbClr val="EEF1F4"/>
          </a:solidFill>
          <a:ln w="12700">
            <a:solidFill>
              <a:srgbClr val="EEF1F4"/>
            </a:solidFill>
            <a:prstDash val="solid"/>
          </a:ln>
        </p:spPr>
      </p:sp>
      <p:sp>
        <p:nvSpPr>
          <p:cNvPr id="21" name="Shape 16"/>
          <p:cNvSpPr/>
          <p:nvPr/>
        </p:nvSpPr>
        <p:spPr>
          <a:xfrm>
            <a:off x="6355080" y="2377440"/>
            <a:ext cx="566928" cy="566928"/>
          </a:xfrm>
          <a:prstGeom prst="roundRect">
            <a:avLst>
              <a:gd name="adj" fmla="val 12903"/>
            </a:avLst>
          </a:prstGeom>
          <a:solidFill>
            <a:srgbClr val="1B2229"/>
          </a:solidFill>
          <a:ln w="12700">
            <a:solidFill>
              <a:srgbClr val="1B2229"/>
            </a:solidFill>
            <a:prstDash val="solid"/>
          </a:ln>
        </p:spPr>
      </p:sp>
      <p:pic>
        <p:nvPicPr>
          <p:cNvPr id="22" name="Image 3" descr="preencoded.png">    </p:cNvPr>
          <p:cNvPicPr>
            <a:picLocks noChangeAspect="1"/>
          </p:cNvPicPr>
          <p:nvPr/>
        </p:nvPicPr>
        <p:blipFill>
          <a:blip r:embed="rId4"/>
          <a:stretch>
            <a:fillRect/>
          </a:stretch>
        </p:blipFill>
        <p:spPr>
          <a:xfrm>
            <a:off x="6479804" y="2502164"/>
            <a:ext cx="317480" cy="317480"/>
          </a:xfrm>
          <a:prstGeom prst="rect">
            <a:avLst/>
          </a:prstGeom>
        </p:spPr>
      </p:pic>
      <p:sp>
        <p:nvSpPr>
          <p:cNvPr id="23" name="Text 17"/>
          <p:cNvSpPr txBox="1"/>
          <p:nvPr/>
        </p:nvSpPr>
        <p:spPr>
          <a:xfrm>
            <a:off x="6355080" y="3063240"/>
            <a:ext cx="1371600" cy="411480"/>
          </a:xfrm>
          <a:prstGeom prst="rect">
            <a:avLst/>
          </a:prstGeom>
          <a:noFill/>
          <a:ln/>
        </p:spPr>
        <p:txBody>
          <a:bodyPr wrap="square" lIns="0" tIns="0" rIns="0" bIns="0" rtlCol="0" anchor="ctr"/>
          <a:lstStyle/>
          <a:p>
            <a:pPr indent="0" marL="0">
              <a:buNone/>
            </a:pPr>
            <a:r>
              <a:rPr lang="en-US" sz="1800" b="1" dirty="0">
                <a:solidFill>
                  <a:srgbClr val="1B2229"/>
                </a:solidFill>
                <a:latin typeface="Calibri" pitchFamily="34" charset="0"/>
                <a:ea typeface="Calibri" pitchFamily="34" charset="-122"/>
                <a:cs typeface="Calibri" pitchFamily="34" charset="-120"/>
              </a:rPr>
              <a:t>Manage</a:t>
            </a:r>
            <a:endParaRPr lang="en-US" sz="1800" dirty="0"/>
          </a:p>
        </p:txBody>
      </p:sp>
      <p:sp>
        <p:nvSpPr>
          <p:cNvPr id="24" name="Text 18"/>
          <p:cNvSpPr txBox="1"/>
          <p:nvPr/>
        </p:nvSpPr>
        <p:spPr>
          <a:xfrm>
            <a:off x="6355080" y="3520440"/>
            <a:ext cx="1371600" cy="1463040"/>
          </a:xfrm>
          <a:prstGeom prst="rect">
            <a:avLst/>
          </a:prstGeom>
          <a:noFill/>
          <a:ln/>
        </p:spPr>
        <p:txBody>
          <a:bodyPr wrap="square" lIns="0" tIns="0" rIns="0" bIns="0" rtlCol="0" anchor="t"/>
          <a:lstStyle/>
          <a:p>
            <a:pPr indent="0" marL="0">
              <a:buNone/>
            </a:pPr>
            <a:r>
              <a:rPr lang="en-US" sz="1300" dirty="0">
                <a:solidFill>
                  <a:srgbClr val="5A6672"/>
                </a:solidFill>
                <a:latin typeface="Calibri" pitchFamily="34" charset="0"/>
                <a:ea typeface="Calibri" pitchFamily="34" charset="-122"/>
                <a:cs typeface="Calibri" pitchFamily="34" charset="-120"/>
              </a:rPr>
              <a:t>Prioritize and act on those risks, and keep monitoring</a:t>
            </a:r>
            <a:endParaRPr lang="en-US" sz="1300" dirty="0"/>
          </a:p>
        </p:txBody>
      </p:sp>
      <p:sp>
        <p:nvSpPr>
          <p:cNvPr id="25" name="Shape 19"/>
          <p:cNvSpPr/>
          <p:nvPr/>
        </p:nvSpPr>
        <p:spPr>
          <a:xfrm>
            <a:off x="8229600" y="1554480"/>
            <a:ext cx="3413455" cy="3520440"/>
          </a:xfrm>
          <a:prstGeom prst="rect">
            <a:avLst/>
          </a:prstGeom>
          <a:solidFill>
            <a:srgbClr val="1B2229"/>
          </a:solidFill>
          <a:ln w="12700">
            <a:solidFill>
              <a:srgbClr val="1B2229"/>
            </a:solidFill>
            <a:prstDash val="solid"/>
          </a:ln>
        </p:spPr>
      </p:sp>
      <p:sp>
        <p:nvSpPr>
          <p:cNvPr id="26" name="Shape 20"/>
          <p:cNvSpPr/>
          <p:nvPr/>
        </p:nvSpPr>
        <p:spPr>
          <a:xfrm>
            <a:off x="8503920" y="1783080"/>
            <a:ext cx="566928" cy="566928"/>
          </a:xfrm>
          <a:prstGeom prst="roundRect">
            <a:avLst>
              <a:gd name="adj" fmla="val 12903"/>
            </a:avLst>
          </a:prstGeom>
          <a:solidFill>
            <a:srgbClr val="C46A2B"/>
          </a:solidFill>
          <a:ln w="12700">
            <a:solidFill>
              <a:srgbClr val="C46A2B"/>
            </a:solidFill>
            <a:prstDash val="solid"/>
          </a:ln>
        </p:spPr>
      </p:sp>
      <p:pic>
        <p:nvPicPr>
          <p:cNvPr id="27" name="Image 4" descr="preencoded.png">    </p:cNvPr>
          <p:cNvPicPr>
            <a:picLocks noChangeAspect="1"/>
          </p:cNvPicPr>
          <p:nvPr/>
        </p:nvPicPr>
        <p:blipFill>
          <a:blip r:embed="rId5"/>
          <a:stretch>
            <a:fillRect/>
          </a:stretch>
        </p:blipFill>
        <p:spPr>
          <a:xfrm>
            <a:off x="8628644" y="1907804"/>
            <a:ext cx="317480" cy="317480"/>
          </a:xfrm>
          <a:prstGeom prst="rect">
            <a:avLst/>
          </a:prstGeom>
        </p:spPr>
      </p:pic>
      <p:sp>
        <p:nvSpPr>
          <p:cNvPr id="28" name="Text 21"/>
          <p:cNvSpPr txBox="1"/>
          <p:nvPr/>
        </p:nvSpPr>
        <p:spPr>
          <a:xfrm>
            <a:off x="8503920" y="2514600"/>
            <a:ext cx="2864815"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ISO/IEC 42001</a:t>
            </a:r>
            <a:endParaRPr lang="en-US" sz="2000" dirty="0"/>
          </a:p>
        </p:txBody>
      </p:sp>
      <p:sp>
        <p:nvSpPr>
          <p:cNvPr id="29" name="Text 22"/>
          <p:cNvSpPr txBox="1"/>
          <p:nvPr/>
        </p:nvSpPr>
        <p:spPr>
          <a:xfrm>
            <a:off x="8503920" y="2971800"/>
            <a:ext cx="2864815" cy="1920240"/>
          </a:xfrm>
          <a:prstGeom prst="rect">
            <a:avLst/>
          </a:prstGeom>
          <a:noFill/>
          <a:ln/>
        </p:spPr>
        <p:txBody>
          <a:bodyPr wrap="square" lIns="0" tIns="0" rIns="0" bIns="0" rtlCol="0" anchor="t"/>
          <a:lstStyle/>
          <a:p>
            <a:pPr indent="0" marL="0">
              <a:buNone/>
            </a:pPr>
            <a:r>
              <a:rPr lang="en-US" sz="1400" dirty="0">
                <a:solidFill>
                  <a:srgbClr val="D5DBE1"/>
                </a:solidFill>
                <a:latin typeface="Calibri" pitchFamily="34" charset="0"/>
                <a:ea typeface="Calibri" pitchFamily="34" charset="-122"/>
                <a:cs typeface="Calibri" pitchFamily="34" charset="-120"/>
              </a:rPr>
              <a:t>A certifiable AI management system standard. Useful when customers or regulators ask for proof, not just a policy.</a:t>
            </a:r>
            <a:endParaRPr lang="en-US" sz="1400" dirty="0"/>
          </a:p>
        </p:txBody>
      </p:sp>
      <p:sp>
        <p:nvSpPr>
          <p:cNvPr id="30" name="Text 23"/>
          <p:cNvSpPr txBox="1"/>
          <p:nvPr/>
        </p:nvSpPr>
        <p:spPr>
          <a:xfrm>
            <a:off x="548640" y="5349240"/>
            <a:ext cx="11094415" cy="640080"/>
          </a:xfrm>
          <a:prstGeom prst="rect">
            <a:avLst/>
          </a:prstGeom>
          <a:noFill/>
          <a:ln/>
        </p:spPr>
        <p:txBody>
          <a:bodyPr wrap="square" lIns="0" tIns="0" rIns="0" bIns="0" rtlCol="0" anchor="ctr"/>
          <a:lstStyle/>
          <a:p>
            <a:pPr indent="0" marL="0">
              <a:buNone/>
            </a:pPr>
            <a:r>
              <a:rPr lang="en-US" sz="1600" i="1" dirty="0">
                <a:solidFill>
                  <a:srgbClr val="C46A2B"/>
                </a:solidFill>
                <a:latin typeface="Calibri" pitchFamily="34" charset="0"/>
                <a:ea typeface="Calibri" pitchFamily="34" charset="-122"/>
                <a:cs typeface="Calibri" pitchFamily="34" charset="-120"/>
              </a:rPr>
              <a:t>Common pattern: design the practice with NIST, certify it with ISO. Pick one and apply it to a real use case first.</a:t>
            </a:r>
            <a:endParaRPr lang="en-US" sz="1600" dirty="0"/>
          </a:p>
        </p:txBody>
      </p:sp>
      <p:sp>
        <p:nvSpPr>
          <p:cNvPr id="31" name="Text 24"/>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EXAMPLE  |  ILLUSTRATIVE, REPLACE WITH YOUR CASE</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Governed data turns a scramble into a same-day decision</a:t>
            </a:r>
            <a:endParaRPr lang="en-US" sz="3400" dirty="0"/>
          </a:p>
        </p:txBody>
      </p:sp>
      <p:sp>
        <p:nvSpPr>
          <p:cNvPr id="4" name="Shape 2"/>
          <p:cNvSpPr/>
          <p:nvPr/>
        </p:nvSpPr>
        <p:spPr>
          <a:xfrm>
            <a:off x="548640" y="1783080"/>
            <a:ext cx="2606040" cy="301752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5" name="Shape 3"/>
          <p:cNvSpPr/>
          <p:nvPr/>
        </p:nvSpPr>
        <p:spPr>
          <a:xfrm>
            <a:off x="822960" y="2057400"/>
            <a:ext cx="640080" cy="640080"/>
          </a:xfrm>
          <a:prstGeom prst="roundRect">
            <a:avLst>
              <a:gd name="adj" fmla="val 11429"/>
            </a:avLst>
          </a:prstGeom>
          <a:solidFill>
            <a:srgbClr val="1B2229"/>
          </a:solidFill>
          <a:ln w="12700">
            <a:solidFill>
              <a:srgbClr val="1B2229"/>
            </a:solidFill>
            <a:prstDash val="solid"/>
          </a:ln>
        </p:spPr>
      </p:sp>
      <p:pic>
        <p:nvPicPr>
          <p:cNvPr id="6" name="Image 0" descr="preencoded.png">    </p:cNvPr>
          <p:cNvPicPr>
            <a:picLocks noChangeAspect="1"/>
          </p:cNvPicPr>
          <p:nvPr/>
        </p:nvPicPr>
        <p:blipFill>
          <a:blip r:embed="rId1"/>
          <a:stretch>
            <a:fillRect/>
          </a:stretch>
        </p:blipFill>
        <p:spPr>
          <a:xfrm>
            <a:off x="963778" y="2198218"/>
            <a:ext cx="358445" cy="358445"/>
          </a:xfrm>
          <a:prstGeom prst="rect">
            <a:avLst/>
          </a:prstGeom>
        </p:spPr>
      </p:pic>
      <p:sp>
        <p:nvSpPr>
          <p:cNvPr id="7" name="Text 4"/>
          <p:cNvSpPr txBox="1"/>
          <p:nvPr/>
        </p:nvSpPr>
        <p:spPr>
          <a:xfrm>
            <a:off x="1600200" y="2057400"/>
            <a:ext cx="1371600" cy="274320"/>
          </a:xfrm>
          <a:prstGeom prst="rect">
            <a:avLst/>
          </a:prstGeom>
          <a:noFill/>
          <a:ln/>
        </p:spPr>
        <p:txBody>
          <a:bodyPr wrap="square" lIns="0" tIns="0" rIns="0" bIns="0" rtlCol="0" anchor="ctr"/>
          <a:lstStyle/>
          <a:p>
            <a:pPr indent="0" marL="0">
              <a:buNone/>
            </a:pPr>
            <a:r>
              <a:rPr lang="en-US" sz="1200" b="1" dirty="0">
                <a:solidFill>
                  <a:srgbClr val="8A96A3"/>
                </a:solidFill>
                <a:latin typeface="Calibri" pitchFamily="34" charset="0"/>
                <a:ea typeface="Calibri" pitchFamily="34" charset="-122"/>
                <a:cs typeface="Calibri" pitchFamily="34" charset="-120"/>
              </a:rPr>
              <a:t>Step 1</a:t>
            </a:r>
            <a:endParaRPr lang="en-US" sz="1200" dirty="0"/>
          </a:p>
        </p:txBody>
      </p:sp>
      <p:sp>
        <p:nvSpPr>
          <p:cNvPr id="8" name="Text 5"/>
          <p:cNvSpPr txBox="1"/>
          <p:nvPr/>
        </p:nvSpPr>
        <p:spPr>
          <a:xfrm>
            <a:off x="1600200" y="2313432"/>
            <a:ext cx="1463040" cy="411480"/>
          </a:xfrm>
          <a:prstGeom prst="rect">
            <a:avLst/>
          </a:prstGeom>
          <a:noFill/>
          <a:ln/>
        </p:spPr>
        <p:txBody>
          <a:bodyPr wrap="square" lIns="0" tIns="0" rIns="0" bIns="0" rtlCol="0" anchor="ctr"/>
          <a:lstStyle/>
          <a:p>
            <a:pPr indent="0" marL="0">
              <a:buNone/>
            </a:pPr>
            <a:r>
              <a:rPr lang="en-US" sz="2000" b="1" dirty="0">
                <a:solidFill>
                  <a:srgbClr val="1B2229"/>
                </a:solidFill>
                <a:latin typeface="Calibri" pitchFamily="34" charset="0"/>
                <a:ea typeface="Calibri" pitchFamily="34" charset="-122"/>
                <a:cs typeface="Calibri" pitchFamily="34" charset="-120"/>
              </a:rPr>
              <a:t>Detect</a:t>
            </a:r>
            <a:endParaRPr lang="en-US" sz="2000" dirty="0"/>
          </a:p>
        </p:txBody>
      </p:sp>
      <p:sp>
        <p:nvSpPr>
          <p:cNvPr id="9" name="Text 6"/>
          <p:cNvSpPr txBox="1"/>
          <p:nvPr/>
        </p:nvSpPr>
        <p:spPr>
          <a:xfrm>
            <a:off x="822960" y="2971800"/>
            <a:ext cx="2057400" cy="22402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An external signal flags an outage at a specialty gas supplier. The model scores it high because the site is a sole source.</a:t>
            </a:r>
            <a:endParaRPr lang="en-US" sz="1400" dirty="0"/>
          </a:p>
        </p:txBody>
      </p:sp>
      <p:sp>
        <p:nvSpPr>
          <p:cNvPr id="10" name="Shape 7"/>
          <p:cNvSpPr/>
          <p:nvPr/>
        </p:nvSpPr>
        <p:spPr>
          <a:xfrm>
            <a:off x="3337560" y="1783080"/>
            <a:ext cx="2606040" cy="301752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11" name="Shape 8"/>
          <p:cNvSpPr/>
          <p:nvPr/>
        </p:nvSpPr>
        <p:spPr>
          <a:xfrm>
            <a:off x="3611880" y="2057400"/>
            <a:ext cx="640080" cy="640080"/>
          </a:xfrm>
          <a:prstGeom prst="roundRect">
            <a:avLst>
              <a:gd name="adj" fmla="val 11429"/>
            </a:avLst>
          </a:prstGeom>
          <a:solidFill>
            <a:srgbClr val="1B2229"/>
          </a:solidFill>
          <a:ln w="12700">
            <a:solidFill>
              <a:srgbClr val="1B2229"/>
            </a:solidFill>
            <a:prstDash val="solid"/>
          </a:ln>
        </p:spPr>
      </p:sp>
      <p:pic>
        <p:nvPicPr>
          <p:cNvPr id="12" name="Image 1" descr="preencoded.png">    </p:cNvPr>
          <p:cNvPicPr>
            <a:picLocks noChangeAspect="1"/>
          </p:cNvPicPr>
          <p:nvPr/>
        </p:nvPicPr>
        <p:blipFill>
          <a:blip r:embed="rId2"/>
          <a:stretch>
            <a:fillRect/>
          </a:stretch>
        </p:blipFill>
        <p:spPr>
          <a:xfrm>
            <a:off x="3752698" y="2198218"/>
            <a:ext cx="358445" cy="358445"/>
          </a:xfrm>
          <a:prstGeom prst="rect">
            <a:avLst/>
          </a:prstGeom>
        </p:spPr>
      </p:pic>
      <p:sp>
        <p:nvSpPr>
          <p:cNvPr id="13" name="Text 9"/>
          <p:cNvSpPr txBox="1"/>
          <p:nvPr/>
        </p:nvSpPr>
        <p:spPr>
          <a:xfrm>
            <a:off x="4389120" y="2057400"/>
            <a:ext cx="1371600" cy="274320"/>
          </a:xfrm>
          <a:prstGeom prst="rect">
            <a:avLst/>
          </a:prstGeom>
          <a:noFill/>
          <a:ln/>
        </p:spPr>
        <p:txBody>
          <a:bodyPr wrap="square" lIns="0" tIns="0" rIns="0" bIns="0" rtlCol="0" anchor="ctr"/>
          <a:lstStyle/>
          <a:p>
            <a:pPr indent="0" marL="0">
              <a:buNone/>
            </a:pPr>
            <a:r>
              <a:rPr lang="en-US" sz="1200" b="1" dirty="0">
                <a:solidFill>
                  <a:srgbClr val="8A96A3"/>
                </a:solidFill>
                <a:latin typeface="Calibri" pitchFamily="34" charset="0"/>
                <a:ea typeface="Calibri" pitchFamily="34" charset="-122"/>
                <a:cs typeface="Calibri" pitchFamily="34" charset="-120"/>
              </a:rPr>
              <a:t>Step 2</a:t>
            </a:r>
            <a:endParaRPr lang="en-US" sz="1200" dirty="0"/>
          </a:p>
        </p:txBody>
      </p:sp>
      <p:sp>
        <p:nvSpPr>
          <p:cNvPr id="14" name="Text 10"/>
          <p:cNvSpPr txBox="1"/>
          <p:nvPr/>
        </p:nvSpPr>
        <p:spPr>
          <a:xfrm>
            <a:off x="4389120" y="2313432"/>
            <a:ext cx="1463040" cy="411480"/>
          </a:xfrm>
          <a:prstGeom prst="rect">
            <a:avLst/>
          </a:prstGeom>
          <a:noFill/>
          <a:ln/>
        </p:spPr>
        <p:txBody>
          <a:bodyPr wrap="square" lIns="0" tIns="0" rIns="0" bIns="0" rtlCol="0" anchor="ctr"/>
          <a:lstStyle/>
          <a:p>
            <a:pPr indent="0" marL="0">
              <a:buNone/>
            </a:pPr>
            <a:r>
              <a:rPr lang="en-US" sz="2000" b="1" dirty="0">
                <a:solidFill>
                  <a:srgbClr val="1B2229"/>
                </a:solidFill>
                <a:latin typeface="Calibri" pitchFamily="34" charset="0"/>
                <a:ea typeface="Calibri" pitchFamily="34" charset="-122"/>
                <a:cs typeface="Calibri" pitchFamily="34" charset="-120"/>
              </a:rPr>
              <a:t>Assess</a:t>
            </a:r>
            <a:endParaRPr lang="en-US" sz="2000" dirty="0"/>
          </a:p>
        </p:txBody>
      </p:sp>
      <p:sp>
        <p:nvSpPr>
          <p:cNvPr id="15" name="Text 11"/>
          <p:cNvSpPr txBox="1"/>
          <p:nvPr/>
        </p:nvSpPr>
        <p:spPr>
          <a:xfrm>
            <a:off x="3611880" y="2971800"/>
            <a:ext cx="2057400" cy="22402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The governed sub-tier map shows which parts, products, and customers depend on that site, with confidence on each link.</a:t>
            </a:r>
            <a:endParaRPr lang="en-US" sz="1400" dirty="0"/>
          </a:p>
        </p:txBody>
      </p:sp>
      <p:sp>
        <p:nvSpPr>
          <p:cNvPr id="16" name="Shape 12"/>
          <p:cNvSpPr/>
          <p:nvPr/>
        </p:nvSpPr>
        <p:spPr>
          <a:xfrm>
            <a:off x="6126480" y="1783080"/>
            <a:ext cx="2606040" cy="301752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17" name="Shape 13"/>
          <p:cNvSpPr/>
          <p:nvPr/>
        </p:nvSpPr>
        <p:spPr>
          <a:xfrm>
            <a:off x="6400800" y="2057400"/>
            <a:ext cx="640080" cy="640080"/>
          </a:xfrm>
          <a:prstGeom prst="roundRect">
            <a:avLst>
              <a:gd name="adj" fmla="val 11429"/>
            </a:avLst>
          </a:prstGeom>
          <a:solidFill>
            <a:srgbClr val="C46A2B"/>
          </a:solidFill>
          <a:ln w="12700">
            <a:solidFill>
              <a:srgbClr val="C46A2B"/>
            </a:solidFill>
            <a:prstDash val="solid"/>
          </a:ln>
        </p:spPr>
      </p:sp>
      <p:pic>
        <p:nvPicPr>
          <p:cNvPr id="18" name="Image 2" descr="preencoded.png">    </p:cNvPr>
          <p:cNvPicPr>
            <a:picLocks noChangeAspect="1"/>
          </p:cNvPicPr>
          <p:nvPr/>
        </p:nvPicPr>
        <p:blipFill>
          <a:blip r:embed="rId3"/>
          <a:stretch>
            <a:fillRect/>
          </a:stretch>
        </p:blipFill>
        <p:spPr>
          <a:xfrm>
            <a:off x="6541618" y="2198218"/>
            <a:ext cx="358445" cy="358445"/>
          </a:xfrm>
          <a:prstGeom prst="rect">
            <a:avLst/>
          </a:prstGeom>
        </p:spPr>
      </p:pic>
      <p:sp>
        <p:nvSpPr>
          <p:cNvPr id="19" name="Text 14"/>
          <p:cNvSpPr txBox="1"/>
          <p:nvPr/>
        </p:nvSpPr>
        <p:spPr>
          <a:xfrm>
            <a:off x="7178040" y="2057400"/>
            <a:ext cx="1371600" cy="274320"/>
          </a:xfrm>
          <a:prstGeom prst="rect">
            <a:avLst/>
          </a:prstGeom>
          <a:noFill/>
          <a:ln/>
        </p:spPr>
        <p:txBody>
          <a:bodyPr wrap="square" lIns="0" tIns="0" rIns="0" bIns="0" rtlCol="0" anchor="ctr"/>
          <a:lstStyle/>
          <a:p>
            <a:pPr indent="0" marL="0">
              <a:buNone/>
            </a:pPr>
            <a:r>
              <a:rPr lang="en-US" sz="1200" b="1" dirty="0">
                <a:solidFill>
                  <a:srgbClr val="8A96A3"/>
                </a:solidFill>
                <a:latin typeface="Calibri" pitchFamily="34" charset="0"/>
                <a:ea typeface="Calibri" pitchFamily="34" charset="-122"/>
                <a:cs typeface="Calibri" pitchFamily="34" charset="-120"/>
              </a:rPr>
              <a:t>Step 3</a:t>
            </a:r>
            <a:endParaRPr lang="en-US" sz="1200" dirty="0"/>
          </a:p>
        </p:txBody>
      </p:sp>
      <p:sp>
        <p:nvSpPr>
          <p:cNvPr id="20" name="Text 15"/>
          <p:cNvSpPr txBox="1"/>
          <p:nvPr/>
        </p:nvSpPr>
        <p:spPr>
          <a:xfrm>
            <a:off x="7178040" y="2313432"/>
            <a:ext cx="1463040" cy="411480"/>
          </a:xfrm>
          <a:prstGeom prst="rect">
            <a:avLst/>
          </a:prstGeom>
          <a:noFill/>
          <a:ln/>
        </p:spPr>
        <p:txBody>
          <a:bodyPr wrap="square" lIns="0" tIns="0" rIns="0" bIns="0" rtlCol="0" anchor="ctr"/>
          <a:lstStyle/>
          <a:p>
            <a:pPr indent="0" marL="0">
              <a:buNone/>
            </a:pPr>
            <a:r>
              <a:rPr lang="en-US" sz="2000" b="1" dirty="0">
                <a:solidFill>
                  <a:srgbClr val="1B2229"/>
                </a:solidFill>
                <a:latin typeface="Calibri" pitchFamily="34" charset="0"/>
                <a:ea typeface="Calibri" pitchFamily="34" charset="-122"/>
                <a:cs typeface="Calibri" pitchFamily="34" charset="-120"/>
              </a:rPr>
              <a:t>Decide</a:t>
            </a:r>
            <a:endParaRPr lang="en-US" sz="2000" dirty="0"/>
          </a:p>
        </p:txBody>
      </p:sp>
      <p:sp>
        <p:nvSpPr>
          <p:cNvPr id="21" name="Text 16"/>
          <p:cNvSpPr txBox="1"/>
          <p:nvPr/>
        </p:nvSpPr>
        <p:spPr>
          <a:xfrm>
            <a:off x="6400800" y="2971800"/>
            <a:ext cx="2057400" cy="22402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The part owner reviews the evidence, confirms exposure with tier 1, and approves an allocation plan.</a:t>
            </a:r>
            <a:endParaRPr lang="en-US" sz="1400" dirty="0"/>
          </a:p>
        </p:txBody>
      </p:sp>
      <p:sp>
        <p:nvSpPr>
          <p:cNvPr id="22" name="Shape 17"/>
          <p:cNvSpPr/>
          <p:nvPr/>
        </p:nvSpPr>
        <p:spPr>
          <a:xfrm>
            <a:off x="8915400" y="1783080"/>
            <a:ext cx="2606040" cy="3017520"/>
          </a:xfrm>
          <a:prstGeom prst="rect">
            <a:avLst/>
          </a:prstGeom>
          <a:solidFill>
            <a:srgbClr val="EEF1F4"/>
          </a:solidFill>
          <a:ln w="12700">
            <a:solidFill>
              <a:srgbClr val="EEF1F4"/>
            </a:solidFill>
            <a:prstDash val="solid"/>
          </a:ln>
          <a:effectLst>
            <a:outerShdw sx="100000" sy="100000" kx="0" ky="0" algn="bl" rotWithShape="0" blurRad="76200" dist="19050" dir="5400000">
              <a:srgbClr val="000000">
                <a:alpha val="12000"/>
              </a:srgbClr>
            </a:outerShdw>
          </a:effectLst>
        </p:spPr>
      </p:sp>
      <p:sp>
        <p:nvSpPr>
          <p:cNvPr id="23" name="Shape 18"/>
          <p:cNvSpPr/>
          <p:nvPr/>
        </p:nvSpPr>
        <p:spPr>
          <a:xfrm>
            <a:off x="9189720" y="2057400"/>
            <a:ext cx="640080" cy="640080"/>
          </a:xfrm>
          <a:prstGeom prst="roundRect">
            <a:avLst>
              <a:gd name="adj" fmla="val 11429"/>
            </a:avLst>
          </a:prstGeom>
          <a:solidFill>
            <a:srgbClr val="1B2229"/>
          </a:solidFill>
          <a:ln w="12700">
            <a:solidFill>
              <a:srgbClr val="1B2229"/>
            </a:solidFill>
            <a:prstDash val="solid"/>
          </a:ln>
        </p:spPr>
      </p:sp>
      <p:pic>
        <p:nvPicPr>
          <p:cNvPr id="24" name="Image 3" descr="preencoded.png">    </p:cNvPr>
          <p:cNvPicPr>
            <a:picLocks noChangeAspect="1"/>
          </p:cNvPicPr>
          <p:nvPr/>
        </p:nvPicPr>
        <p:blipFill>
          <a:blip r:embed="rId4"/>
          <a:stretch>
            <a:fillRect/>
          </a:stretch>
        </p:blipFill>
        <p:spPr>
          <a:xfrm>
            <a:off x="9330538" y="2198218"/>
            <a:ext cx="358445" cy="358445"/>
          </a:xfrm>
          <a:prstGeom prst="rect">
            <a:avLst/>
          </a:prstGeom>
        </p:spPr>
      </p:pic>
      <p:sp>
        <p:nvSpPr>
          <p:cNvPr id="25" name="Text 19"/>
          <p:cNvSpPr txBox="1"/>
          <p:nvPr/>
        </p:nvSpPr>
        <p:spPr>
          <a:xfrm>
            <a:off x="9966960" y="2057400"/>
            <a:ext cx="1371600" cy="274320"/>
          </a:xfrm>
          <a:prstGeom prst="rect">
            <a:avLst/>
          </a:prstGeom>
          <a:noFill/>
          <a:ln/>
        </p:spPr>
        <p:txBody>
          <a:bodyPr wrap="square" lIns="0" tIns="0" rIns="0" bIns="0" rtlCol="0" anchor="ctr"/>
          <a:lstStyle/>
          <a:p>
            <a:pPr indent="0" marL="0">
              <a:buNone/>
            </a:pPr>
            <a:r>
              <a:rPr lang="en-US" sz="1200" b="1" dirty="0">
                <a:solidFill>
                  <a:srgbClr val="8A96A3"/>
                </a:solidFill>
                <a:latin typeface="Calibri" pitchFamily="34" charset="0"/>
                <a:ea typeface="Calibri" pitchFamily="34" charset="-122"/>
                <a:cs typeface="Calibri" pitchFamily="34" charset="-120"/>
              </a:rPr>
              <a:t>Step 4</a:t>
            </a:r>
            <a:endParaRPr lang="en-US" sz="1200" dirty="0"/>
          </a:p>
        </p:txBody>
      </p:sp>
      <p:sp>
        <p:nvSpPr>
          <p:cNvPr id="26" name="Text 20"/>
          <p:cNvSpPr txBox="1"/>
          <p:nvPr/>
        </p:nvSpPr>
        <p:spPr>
          <a:xfrm>
            <a:off x="9966960" y="2313432"/>
            <a:ext cx="1463040" cy="411480"/>
          </a:xfrm>
          <a:prstGeom prst="rect">
            <a:avLst/>
          </a:prstGeom>
          <a:noFill/>
          <a:ln/>
        </p:spPr>
        <p:txBody>
          <a:bodyPr wrap="square" lIns="0" tIns="0" rIns="0" bIns="0" rtlCol="0" anchor="ctr"/>
          <a:lstStyle/>
          <a:p>
            <a:pPr indent="0" marL="0">
              <a:buNone/>
            </a:pPr>
            <a:r>
              <a:rPr lang="en-US" sz="2000" b="1" dirty="0">
                <a:solidFill>
                  <a:srgbClr val="1B2229"/>
                </a:solidFill>
                <a:latin typeface="Calibri" pitchFamily="34" charset="0"/>
                <a:ea typeface="Calibri" pitchFamily="34" charset="-122"/>
                <a:cs typeface="Calibri" pitchFamily="34" charset="-120"/>
              </a:rPr>
              <a:t>Act</a:t>
            </a:r>
            <a:endParaRPr lang="en-US" sz="2000" dirty="0"/>
          </a:p>
        </p:txBody>
      </p:sp>
      <p:sp>
        <p:nvSpPr>
          <p:cNvPr id="27" name="Text 21"/>
          <p:cNvSpPr txBox="1"/>
          <p:nvPr/>
        </p:nvSpPr>
        <p:spPr>
          <a:xfrm>
            <a:off x="9189720" y="2971800"/>
            <a:ext cx="2057400" cy="2240280"/>
          </a:xfrm>
          <a:prstGeom prst="rect">
            <a:avLst/>
          </a:prstGeom>
          <a:noFill/>
          <a:ln/>
        </p:spPr>
        <p:txBody>
          <a:bodyPr wrap="square" lIns="0" tIns="0" rIns="0" bIns="0" rtlCol="0" anchor="t"/>
          <a:lstStyle/>
          <a:p>
            <a:pPr indent="0" marL="0">
              <a:buNone/>
            </a:pPr>
            <a:r>
              <a:rPr lang="en-US" sz="1400" dirty="0">
                <a:solidFill>
                  <a:srgbClr val="5A6672"/>
                </a:solidFill>
                <a:latin typeface="Calibri" pitchFamily="34" charset="0"/>
                <a:ea typeface="Calibri" pitchFamily="34" charset="-122"/>
                <a:cs typeface="Calibri" pitchFamily="34" charset="-120"/>
              </a:rPr>
              <a:t>Buyers start alternate-source qualification and account teams warn affected customers early.</a:t>
            </a:r>
            <a:endParaRPr lang="en-US" sz="1400" dirty="0"/>
          </a:p>
        </p:txBody>
      </p:sp>
      <p:sp>
        <p:nvSpPr>
          <p:cNvPr id="28" name="Text 22"/>
          <p:cNvSpPr txBox="1"/>
          <p:nvPr/>
        </p:nvSpPr>
        <p:spPr>
          <a:xfrm>
            <a:off x="548640" y="5120640"/>
            <a:ext cx="11094415" cy="411480"/>
          </a:xfrm>
          <a:prstGeom prst="rect">
            <a:avLst/>
          </a:prstGeom>
          <a:noFill/>
          <a:ln/>
        </p:spPr>
        <p:txBody>
          <a:bodyPr wrap="square" lIns="0" tIns="0" rIns="0" bIns="0" rtlCol="0" anchor="ctr"/>
          <a:lstStyle/>
          <a:p>
            <a:pPr indent="0" marL="0">
              <a:buNone/>
            </a:pPr>
            <a:r>
              <a:rPr lang="en-US" sz="1600" i="1" dirty="0">
                <a:solidFill>
                  <a:srgbClr val="C46A2B"/>
                </a:solidFill>
                <a:latin typeface="Calibri" pitchFamily="34" charset="0"/>
                <a:ea typeface="Calibri" pitchFamily="34" charset="-122"/>
                <a:cs typeface="Calibri" pitchFamily="34" charset="-120"/>
              </a:rPr>
              <a:t>The human decision stays in the loop. Governance makes it faster, not optional.</a:t>
            </a:r>
            <a:endParaRPr lang="en-US" sz="1600" dirty="0"/>
          </a:p>
        </p:txBody>
      </p:sp>
      <p:sp>
        <p:nvSpPr>
          <p:cNvPr id="29" name="Text 23"/>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C46A2B"/>
                </a:solidFill>
                <a:latin typeface="Calibri" pitchFamily="34" charset="0"/>
                <a:ea typeface="Calibri" pitchFamily="34" charset="-122"/>
                <a:cs typeface="Calibri" pitchFamily="34" charset="-120"/>
              </a:rPr>
              <a:t>TAKEAWAYS</a:t>
            </a:r>
            <a:endParaRPr lang="en-US" sz="1100" dirty="0"/>
          </a:p>
        </p:txBody>
      </p:sp>
      <p:sp>
        <p:nvSpPr>
          <p:cNvPr id="3" name="Text 1"/>
          <p:cNvSpPr txBox="1"/>
          <p:nvPr/>
        </p:nvSpPr>
        <p:spPr>
          <a:xfrm>
            <a:off x="548640" y="411480"/>
            <a:ext cx="11094415" cy="914400"/>
          </a:xfrm>
          <a:prstGeom prst="rect">
            <a:avLst/>
          </a:prstGeom>
          <a:noFill/>
          <a:ln/>
        </p:spPr>
        <p:txBody>
          <a:bodyPr wrap="square" lIns="0" tIns="0" rIns="0" bIns="0" rtlCol="0" anchor="t"/>
          <a:lstStyle/>
          <a:p>
            <a:pPr indent="0" marL="0">
              <a:buNone/>
            </a:pPr>
            <a:r>
              <a:rPr lang="en-US" sz="3400" b="1" dirty="0">
                <a:solidFill>
                  <a:srgbClr val="1B2229"/>
                </a:solidFill>
                <a:latin typeface="Calibri" pitchFamily="34" charset="0"/>
                <a:ea typeface="Calibri" pitchFamily="34" charset="-122"/>
                <a:cs typeface="Calibri" pitchFamily="34" charset="-120"/>
              </a:rPr>
              <a:t>Three things you can start next quarter</a:t>
            </a:r>
            <a:endParaRPr lang="en-US" sz="3400" dirty="0"/>
          </a:p>
        </p:txBody>
      </p:sp>
      <p:sp>
        <p:nvSpPr>
          <p:cNvPr id="4" name="Text 2"/>
          <p:cNvSpPr txBox="1"/>
          <p:nvPr/>
        </p:nvSpPr>
        <p:spPr>
          <a:xfrm>
            <a:off x="548640" y="1691640"/>
            <a:ext cx="731520" cy="1188720"/>
          </a:xfrm>
          <a:prstGeom prst="rect">
            <a:avLst/>
          </a:prstGeom>
          <a:noFill/>
          <a:ln/>
        </p:spPr>
        <p:txBody>
          <a:bodyPr wrap="square" lIns="0" tIns="0" rIns="0" bIns="0" rtlCol="0" anchor="ctr"/>
          <a:lstStyle/>
          <a:p>
            <a:pPr indent="0" marL="0">
              <a:buNone/>
            </a:pPr>
            <a:r>
              <a:rPr lang="en-US" sz="5400" b="1" dirty="0">
                <a:solidFill>
                  <a:srgbClr val="C46A2B"/>
                </a:solidFill>
                <a:latin typeface="Calibri" pitchFamily="34" charset="0"/>
                <a:ea typeface="Calibri" pitchFamily="34" charset="-122"/>
                <a:cs typeface="Calibri" pitchFamily="34" charset="-120"/>
              </a:rPr>
              <a:t>1</a:t>
            </a:r>
            <a:endParaRPr lang="en-US" sz="5400" dirty="0"/>
          </a:p>
        </p:txBody>
      </p:sp>
      <p:sp>
        <p:nvSpPr>
          <p:cNvPr id="5" name="Shape 3"/>
          <p:cNvSpPr/>
          <p:nvPr/>
        </p:nvSpPr>
        <p:spPr>
          <a:xfrm>
            <a:off x="1417320" y="1691640"/>
            <a:ext cx="10195560" cy="1188720"/>
          </a:xfrm>
          <a:prstGeom prst="rect">
            <a:avLst/>
          </a:prstGeom>
          <a:solidFill>
            <a:srgbClr val="EEF1F4"/>
          </a:solidFill>
          <a:ln w="12700">
            <a:solidFill>
              <a:srgbClr val="EEF1F4"/>
            </a:solidFill>
            <a:prstDash val="solid"/>
          </a:ln>
        </p:spPr>
      </p:sp>
      <p:sp>
        <p:nvSpPr>
          <p:cNvPr id="6" name="Shape 4"/>
          <p:cNvSpPr/>
          <p:nvPr/>
        </p:nvSpPr>
        <p:spPr>
          <a:xfrm>
            <a:off x="1645920" y="1993392"/>
            <a:ext cx="585216" cy="585216"/>
          </a:xfrm>
          <a:prstGeom prst="roundRect">
            <a:avLst>
              <a:gd name="adj" fmla="val 12500"/>
            </a:avLst>
          </a:prstGeom>
          <a:solidFill>
            <a:srgbClr val="1B2229"/>
          </a:solidFill>
          <a:ln w="12700">
            <a:solidFill>
              <a:srgbClr val="1B2229"/>
            </a:solidFill>
            <a:prstDash val="solid"/>
          </a:ln>
        </p:spPr>
      </p:sp>
      <p:pic>
        <p:nvPicPr>
          <p:cNvPr id="7" name="Image 0" descr="preencoded.png">    </p:cNvPr>
          <p:cNvPicPr>
            <a:picLocks noChangeAspect="1"/>
          </p:cNvPicPr>
          <p:nvPr/>
        </p:nvPicPr>
        <p:blipFill>
          <a:blip r:embed="rId1"/>
          <a:stretch>
            <a:fillRect/>
          </a:stretch>
        </p:blipFill>
        <p:spPr>
          <a:xfrm>
            <a:off x="1774668" y="2122140"/>
            <a:ext cx="327721" cy="327721"/>
          </a:xfrm>
          <a:prstGeom prst="rect">
            <a:avLst/>
          </a:prstGeom>
        </p:spPr>
      </p:pic>
      <p:sp>
        <p:nvSpPr>
          <p:cNvPr id="8" name="Text 5"/>
          <p:cNvSpPr txBox="1"/>
          <p:nvPr/>
        </p:nvSpPr>
        <p:spPr>
          <a:xfrm>
            <a:off x="2468880" y="1828800"/>
            <a:ext cx="8869680" cy="411480"/>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Map your riskiest input</a:t>
            </a:r>
            <a:endParaRPr lang="en-US" sz="1900" dirty="0"/>
          </a:p>
        </p:txBody>
      </p:sp>
      <p:sp>
        <p:nvSpPr>
          <p:cNvPr id="9" name="Text 6"/>
          <p:cNvSpPr txBox="1"/>
          <p:nvPr/>
        </p:nvSpPr>
        <p:spPr>
          <a:xfrm>
            <a:off x="2468880" y="2240280"/>
            <a:ext cx="8869680" cy="548640"/>
          </a:xfrm>
          <a:prstGeom prst="rect">
            <a:avLst/>
          </a:prstGeom>
          <a:noFill/>
          <a:ln/>
        </p:spPr>
        <p:txBody>
          <a:bodyPr wrap="square" lIns="0" tIns="0" rIns="0" bIns="0" rtlCol="0" anchor="t"/>
          <a:lstStyle/>
          <a:p>
            <a:pPr indent="0" marL="0">
              <a:buNone/>
            </a:pPr>
            <a:r>
              <a:rPr lang="en-US" sz="1500" dirty="0">
                <a:solidFill>
                  <a:srgbClr val="5A6672"/>
                </a:solidFill>
                <a:latin typeface="Calibri" pitchFamily="34" charset="0"/>
                <a:ea typeface="Calibri" pitchFamily="34" charset="-122"/>
                <a:cs typeface="Calibri" pitchFamily="34" charset="-120"/>
              </a:rPr>
              <a:t>Pick one sole- or single-source material and trace it as far down the tiers as you can.</a:t>
            </a:r>
            <a:endParaRPr lang="en-US" sz="1500" dirty="0"/>
          </a:p>
        </p:txBody>
      </p:sp>
      <p:sp>
        <p:nvSpPr>
          <p:cNvPr id="10" name="Text 7"/>
          <p:cNvSpPr txBox="1"/>
          <p:nvPr/>
        </p:nvSpPr>
        <p:spPr>
          <a:xfrm>
            <a:off x="548640" y="3154680"/>
            <a:ext cx="731520" cy="1188720"/>
          </a:xfrm>
          <a:prstGeom prst="rect">
            <a:avLst/>
          </a:prstGeom>
          <a:noFill/>
          <a:ln/>
        </p:spPr>
        <p:txBody>
          <a:bodyPr wrap="square" lIns="0" tIns="0" rIns="0" bIns="0" rtlCol="0" anchor="ctr"/>
          <a:lstStyle/>
          <a:p>
            <a:pPr indent="0" marL="0">
              <a:buNone/>
            </a:pPr>
            <a:r>
              <a:rPr lang="en-US" sz="5400" b="1" dirty="0">
                <a:solidFill>
                  <a:srgbClr val="C46A2B"/>
                </a:solidFill>
                <a:latin typeface="Calibri" pitchFamily="34" charset="0"/>
                <a:ea typeface="Calibri" pitchFamily="34" charset="-122"/>
                <a:cs typeface="Calibri" pitchFamily="34" charset="-120"/>
              </a:rPr>
              <a:t>2</a:t>
            </a:r>
            <a:endParaRPr lang="en-US" sz="5400" dirty="0"/>
          </a:p>
        </p:txBody>
      </p:sp>
      <p:sp>
        <p:nvSpPr>
          <p:cNvPr id="11" name="Shape 8"/>
          <p:cNvSpPr/>
          <p:nvPr/>
        </p:nvSpPr>
        <p:spPr>
          <a:xfrm>
            <a:off x="1417320" y="3154680"/>
            <a:ext cx="10195560" cy="1188720"/>
          </a:xfrm>
          <a:prstGeom prst="rect">
            <a:avLst/>
          </a:prstGeom>
          <a:solidFill>
            <a:srgbClr val="EEF1F4"/>
          </a:solidFill>
          <a:ln w="12700">
            <a:solidFill>
              <a:srgbClr val="EEF1F4"/>
            </a:solidFill>
            <a:prstDash val="solid"/>
          </a:ln>
        </p:spPr>
      </p:sp>
      <p:sp>
        <p:nvSpPr>
          <p:cNvPr id="12" name="Shape 9"/>
          <p:cNvSpPr/>
          <p:nvPr/>
        </p:nvSpPr>
        <p:spPr>
          <a:xfrm>
            <a:off x="1645920" y="3456432"/>
            <a:ext cx="585216" cy="585216"/>
          </a:xfrm>
          <a:prstGeom prst="roundRect">
            <a:avLst>
              <a:gd name="adj" fmla="val 12500"/>
            </a:avLst>
          </a:prstGeom>
          <a:solidFill>
            <a:srgbClr val="1B2229"/>
          </a:solidFill>
          <a:ln w="12700">
            <a:solidFill>
              <a:srgbClr val="1B2229"/>
            </a:solidFill>
            <a:prstDash val="solid"/>
          </a:ln>
        </p:spPr>
      </p:sp>
      <p:pic>
        <p:nvPicPr>
          <p:cNvPr id="13" name="Image 1" descr="preencoded.png">    </p:cNvPr>
          <p:cNvPicPr>
            <a:picLocks noChangeAspect="1"/>
          </p:cNvPicPr>
          <p:nvPr/>
        </p:nvPicPr>
        <p:blipFill>
          <a:blip r:embed="rId2"/>
          <a:stretch>
            <a:fillRect/>
          </a:stretch>
        </p:blipFill>
        <p:spPr>
          <a:xfrm>
            <a:off x="1774668" y="3585180"/>
            <a:ext cx="327721" cy="327721"/>
          </a:xfrm>
          <a:prstGeom prst="rect">
            <a:avLst/>
          </a:prstGeom>
        </p:spPr>
      </p:pic>
      <p:sp>
        <p:nvSpPr>
          <p:cNvPr id="14" name="Text 10"/>
          <p:cNvSpPr txBox="1"/>
          <p:nvPr/>
        </p:nvSpPr>
        <p:spPr>
          <a:xfrm>
            <a:off x="2468880" y="3291840"/>
            <a:ext cx="8869680" cy="411480"/>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Give every critical record an owner</a:t>
            </a:r>
            <a:endParaRPr lang="en-US" sz="1900" dirty="0"/>
          </a:p>
        </p:txBody>
      </p:sp>
      <p:sp>
        <p:nvSpPr>
          <p:cNvPr id="15" name="Text 11"/>
          <p:cNvSpPr txBox="1"/>
          <p:nvPr/>
        </p:nvSpPr>
        <p:spPr>
          <a:xfrm>
            <a:off x="2468880" y="3703320"/>
            <a:ext cx="8869680" cy="548640"/>
          </a:xfrm>
          <a:prstGeom prst="rect">
            <a:avLst/>
          </a:prstGeom>
          <a:noFill/>
          <a:ln/>
        </p:spPr>
        <p:txBody>
          <a:bodyPr wrap="square" lIns="0" tIns="0" rIns="0" bIns="0" rtlCol="0" anchor="t"/>
          <a:lstStyle/>
          <a:p>
            <a:pPr indent="0" marL="0">
              <a:buNone/>
            </a:pPr>
            <a:r>
              <a:rPr lang="en-US" sz="1500" dirty="0">
                <a:solidFill>
                  <a:srgbClr val="5A6672"/>
                </a:solidFill>
                <a:latin typeface="Calibri" pitchFamily="34" charset="0"/>
                <a:ea typeface="Calibri" pitchFamily="34" charset="-122"/>
                <a:cs typeface="Calibri" pitchFamily="34" charset="-120"/>
              </a:rPr>
              <a:t>Name who keeps each critical part and supplier record accurate, and agree data-use terms with your key suppliers.</a:t>
            </a:r>
            <a:endParaRPr lang="en-US" sz="1500" dirty="0"/>
          </a:p>
        </p:txBody>
      </p:sp>
      <p:sp>
        <p:nvSpPr>
          <p:cNvPr id="16" name="Text 12"/>
          <p:cNvSpPr txBox="1"/>
          <p:nvPr/>
        </p:nvSpPr>
        <p:spPr>
          <a:xfrm>
            <a:off x="548640" y="4617720"/>
            <a:ext cx="731520" cy="1188720"/>
          </a:xfrm>
          <a:prstGeom prst="rect">
            <a:avLst/>
          </a:prstGeom>
          <a:noFill/>
          <a:ln/>
        </p:spPr>
        <p:txBody>
          <a:bodyPr wrap="square" lIns="0" tIns="0" rIns="0" bIns="0" rtlCol="0" anchor="ctr"/>
          <a:lstStyle/>
          <a:p>
            <a:pPr indent="0" marL="0">
              <a:buNone/>
            </a:pPr>
            <a:r>
              <a:rPr lang="en-US" sz="5400" b="1" dirty="0">
                <a:solidFill>
                  <a:srgbClr val="C46A2B"/>
                </a:solidFill>
                <a:latin typeface="Calibri" pitchFamily="34" charset="0"/>
                <a:ea typeface="Calibri" pitchFamily="34" charset="-122"/>
                <a:cs typeface="Calibri" pitchFamily="34" charset="-120"/>
              </a:rPr>
              <a:t>3</a:t>
            </a:r>
            <a:endParaRPr lang="en-US" sz="5400" dirty="0"/>
          </a:p>
        </p:txBody>
      </p:sp>
      <p:sp>
        <p:nvSpPr>
          <p:cNvPr id="17" name="Shape 13"/>
          <p:cNvSpPr/>
          <p:nvPr/>
        </p:nvSpPr>
        <p:spPr>
          <a:xfrm>
            <a:off x="1417320" y="4617720"/>
            <a:ext cx="10195560" cy="1188720"/>
          </a:xfrm>
          <a:prstGeom prst="rect">
            <a:avLst/>
          </a:prstGeom>
          <a:solidFill>
            <a:srgbClr val="EEF1F4"/>
          </a:solidFill>
          <a:ln w="12700">
            <a:solidFill>
              <a:srgbClr val="EEF1F4"/>
            </a:solidFill>
            <a:prstDash val="solid"/>
          </a:ln>
        </p:spPr>
      </p:sp>
      <p:sp>
        <p:nvSpPr>
          <p:cNvPr id="18" name="Shape 14"/>
          <p:cNvSpPr/>
          <p:nvPr/>
        </p:nvSpPr>
        <p:spPr>
          <a:xfrm>
            <a:off x="1645920" y="4919472"/>
            <a:ext cx="585216" cy="585216"/>
          </a:xfrm>
          <a:prstGeom prst="roundRect">
            <a:avLst>
              <a:gd name="adj" fmla="val 12500"/>
            </a:avLst>
          </a:prstGeom>
          <a:solidFill>
            <a:srgbClr val="1B2229"/>
          </a:solidFill>
          <a:ln w="12700">
            <a:solidFill>
              <a:srgbClr val="1B2229"/>
            </a:solidFill>
            <a:prstDash val="solid"/>
          </a:ln>
        </p:spPr>
      </p:sp>
      <p:pic>
        <p:nvPicPr>
          <p:cNvPr id="19" name="Image 2" descr="preencoded.png">    </p:cNvPr>
          <p:cNvPicPr>
            <a:picLocks noChangeAspect="1"/>
          </p:cNvPicPr>
          <p:nvPr/>
        </p:nvPicPr>
        <p:blipFill>
          <a:blip r:embed="rId3"/>
          <a:stretch>
            <a:fillRect/>
          </a:stretch>
        </p:blipFill>
        <p:spPr>
          <a:xfrm>
            <a:off x="1774668" y="5048220"/>
            <a:ext cx="327721" cy="327721"/>
          </a:xfrm>
          <a:prstGeom prst="rect">
            <a:avLst/>
          </a:prstGeom>
        </p:spPr>
      </p:pic>
      <p:sp>
        <p:nvSpPr>
          <p:cNvPr id="20" name="Text 15"/>
          <p:cNvSpPr txBox="1"/>
          <p:nvPr/>
        </p:nvSpPr>
        <p:spPr>
          <a:xfrm>
            <a:off x="2468880" y="4754880"/>
            <a:ext cx="8869680" cy="411480"/>
          </a:xfrm>
          <a:prstGeom prst="rect">
            <a:avLst/>
          </a:prstGeom>
          <a:noFill/>
          <a:ln/>
        </p:spPr>
        <p:txBody>
          <a:bodyPr wrap="square" lIns="0" tIns="0" rIns="0" bIns="0" rtlCol="0" anchor="ctr"/>
          <a:lstStyle/>
          <a:p>
            <a:pPr indent="0" marL="0">
              <a:buNone/>
            </a:pPr>
            <a:r>
              <a:rPr lang="en-US" sz="1900" b="1" dirty="0">
                <a:solidFill>
                  <a:srgbClr val="1B2229"/>
                </a:solidFill>
                <a:latin typeface="Calibri" pitchFamily="34" charset="0"/>
                <a:ea typeface="Calibri" pitchFamily="34" charset="-122"/>
                <a:cs typeface="Calibri" pitchFamily="34" charset="-120"/>
              </a:rPr>
              <a:t>Put AI behind validation and a person</a:t>
            </a:r>
            <a:endParaRPr lang="en-US" sz="1900" dirty="0"/>
          </a:p>
        </p:txBody>
      </p:sp>
      <p:sp>
        <p:nvSpPr>
          <p:cNvPr id="21" name="Text 16"/>
          <p:cNvSpPr txBox="1"/>
          <p:nvPr/>
        </p:nvSpPr>
        <p:spPr>
          <a:xfrm>
            <a:off x="2468880" y="5166360"/>
            <a:ext cx="8869680" cy="548640"/>
          </a:xfrm>
          <a:prstGeom prst="rect">
            <a:avLst/>
          </a:prstGeom>
          <a:noFill/>
          <a:ln/>
        </p:spPr>
        <p:txBody>
          <a:bodyPr wrap="square" lIns="0" tIns="0" rIns="0" bIns="0" rtlCol="0" anchor="t"/>
          <a:lstStyle/>
          <a:p>
            <a:pPr indent="0" marL="0">
              <a:buNone/>
            </a:pPr>
            <a:r>
              <a:rPr lang="en-US" sz="1500" dirty="0">
                <a:solidFill>
                  <a:srgbClr val="5A6672"/>
                </a:solidFill>
                <a:latin typeface="Calibri" pitchFamily="34" charset="0"/>
                <a:ea typeface="Calibri" pitchFamily="34" charset="-122"/>
                <a:cs typeface="Calibri" pitchFamily="34" charset="-120"/>
              </a:rPr>
              <a:t>Test any risk model against past disruptions, and keep a named human decision point for actions it informs.</a:t>
            </a:r>
            <a:endParaRPr lang="en-US" sz="1500" dirty="0"/>
          </a:p>
        </p:txBody>
      </p:sp>
      <p:sp>
        <p:nvSpPr>
          <p:cNvPr id="22" name="Text 17"/>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900" dirty="0">
                <a:solidFill>
                  <a:srgbClr val="8A96A3"/>
                </a:solidFill>
                <a:latin typeface="Calibri" pitchFamily="34" charset="0"/>
                <a:ea typeface="Calibri" pitchFamily="34" charset="-122"/>
                <a:cs typeface="Calibri" pitchFamily="34" charset="-120"/>
              </a:rPr>
              <a:t>SEMICON West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229"/>
        </a:solidFill>
      </p:bgPr>
    </p:bg>
    <p:spTree>
      <p:nvGrpSpPr>
        <p:cNvPr id="1" name=""/>
        <p:cNvGrpSpPr/>
        <p:nvPr/>
      </p:nvGrpSpPr>
      <p:grpSpPr>
        <a:xfrm>
          <a:off x="0" y="0"/>
          <a:ext cx="0" cy="0"/>
          <a:chOff x="0" y="0"/>
          <a:chExt cx="0" cy="0"/>
        </a:xfrm>
      </p:grpSpPr>
      <p:sp>
        <p:nvSpPr>
          <p:cNvPr id="2" name="Shape 0"/>
          <p:cNvSpPr/>
          <p:nvPr/>
        </p:nvSpPr>
        <p:spPr>
          <a:xfrm>
            <a:off x="548640" y="1280160"/>
            <a:ext cx="914400" cy="914400"/>
          </a:xfrm>
          <a:prstGeom prst="roundRect">
            <a:avLst>
              <a:gd name="adj" fmla="val 8000"/>
            </a:avLst>
          </a:prstGeom>
          <a:solidFill>
            <a:srgbClr val="C46A2B"/>
          </a:solidFill>
          <a:ln w="12700">
            <a:solidFill>
              <a:srgbClr val="C46A2B"/>
            </a:solidFill>
            <a:prstDash val="solid"/>
          </a:ln>
        </p:spPr>
      </p:sp>
      <p:pic>
        <p:nvPicPr>
          <p:cNvPr id="3" name="Image 0" descr="preencoded.png">    </p:cNvPr>
          <p:cNvPicPr>
            <a:picLocks noChangeAspect="1"/>
          </p:cNvPicPr>
          <p:nvPr/>
        </p:nvPicPr>
        <p:blipFill>
          <a:blip r:embed="rId1"/>
          <a:stretch>
            <a:fillRect/>
          </a:stretch>
        </p:blipFill>
        <p:spPr>
          <a:xfrm>
            <a:off x="749808" y="1481328"/>
            <a:ext cx="512064" cy="512064"/>
          </a:xfrm>
          <a:prstGeom prst="rect">
            <a:avLst/>
          </a:prstGeom>
        </p:spPr>
      </p:pic>
      <p:sp>
        <p:nvSpPr>
          <p:cNvPr id="4" name="Text 1"/>
          <p:cNvSpPr txBox="1"/>
          <p:nvPr/>
        </p:nvSpPr>
        <p:spPr>
          <a:xfrm>
            <a:off x="548640" y="2423160"/>
            <a:ext cx="7315200" cy="100584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Questions</a:t>
            </a:r>
            <a:endParaRPr lang="en-US" sz="5400" dirty="0"/>
          </a:p>
        </p:txBody>
      </p:sp>
      <p:sp>
        <p:nvSpPr>
          <p:cNvPr id="5" name="Text 2"/>
          <p:cNvSpPr txBox="1"/>
          <p:nvPr/>
        </p:nvSpPr>
        <p:spPr>
          <a:xfrm>
            <a:off x="548640" y="3520440"/>
            <a:ext cx="8229600" cy="548640"/>
          </a:xfrm>
          <a:prstGeom prst="rect">
            <a:avLst/>
          </a:prstGeom>
          <a:noFill/>
          <a:ln/>
        </p:spPr>
        <p:txBody>
          <a:bodyPr wrap="square" lIns="0" tIns="0" rIns="0" bIns="0" rtlCol="0" anchor="ctr"/>
          <a:lstStyle/>
          <a:p>
            <a:pPr indent="0" marL="0">
              <a:buNone/>
            </a:pPr>
            <a:r>
              <a:rPr lang="en-US" sz="2200" i="1" dirty="0">
                <a:solidFill>
                  <a:srgbClr val="E8B48F"/>
                </a:solidFill>
                <a:latin typeface="Calibri" pitchFamily="34" charset="0"/>
                <a:ea typeface="Calibri" pitchFamily="34" charset="-122"/>
                <a:cs typeface="Calibri" pitchFamily="34" charset="-120"/>
              </a:rPr>
              <a:t>See your risk sooner. Act on it with data you can defend.</a:t>
            </a:r>
            <a:endParaRPr lang="en-US" sz="2200" dirty="0"/>
          </a:p>
        </p:txBody>
      </p:sp>
      <p:sp>
        <p:nvSpPr>
          <p:cNvPr id="6" name="Text 3"/>
          <p:cNvSpPr txBox="1"/>
          <p:nvPr/>
        </p:nvSpPr>
        <p:spPr>
          <a:xfrm>
            <a:off x="548640" y="4846320"/>
            <a:ext cx="640080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[Your Name]</a:t>
            </a:r>
            <a:endParaRPr lang="en-US" sz="1600" dirty="0"/>
          </a:p>
          <a:p>
            <a:pPr indent="0" marL="0">
              <a:buNone/>
            </a:pPr>
            <a:r>
              <a:rPr lang="en-US" sz="1600" dirty="0">
                <a:solidFill>
                  <a:srgbClr val="8A96A3"/>
                </a:solidFill>
                <a:latin typeface="Calibri" pitchFamily="34" charset="0"/>
                <a:ea typeface="Calibri" pitchFamily="34" charset="-122"/>
                <a:cs typeface="Calibri" pitchFamily="34" charset="-120"/>
              </a:rPr>
              <a:t>[email or LinkedIn URL]</a:t>
            </a:r>
            <a:endParaRPr lang="en-US" sz="1600" dirty="0"/>
          </a:p>
        </p:txBody>
      </p:sp>
      <p:sp>
        <p:nvSpPr>
          <p:cNvPr id="7" name="Shape 4"/>
          <p:cNvSpPr/>
          <p:nvPr/>
        </p:nvSpPr>
        <p:spPr>
          <a:xfrm>
            <a:off x="9326880" y="4206240"/>
            <a:ext cx="2286000" cy="1920240"/>
          </a:xfrm>
          <a:prstGeom prst="roundRect">
            <a:avLst>
              <a:gd name="adj" fmla="val 3810"/>
            </a:avLst>
          </a:prstGeom>
          <a:solidFill>
            <a:srgbClr val="27303A"/>
          </a:solidFill>
          <a:ln w="12700">
            <a:solidFill>
              <a:srgbClr val="3A4552"/>
            </a:solidFill>
            <a:prstDash val="dash"/>
          </a:ln>
        </p:spPr>
      </p:sp>
      <p:sp>
        <p:nvSpPr>
          <p:cNvPr id="8" name="Text 5"/>
          <p:cNvSpPr txBox="1"/>
          <p:nvPr/>
        </p:nvSpPr>
        <p:spPr>
          <a:xfrm>
            <a:off x="9326880" y="4206240"/>
            <a:ext cx="2286000" cy="1920240"/>
          </a:xfrm>
          <a:prstGeom prst="rect">
            <a:avLst/>
          </a:prstGeom>
          <a:noFill/>
          <a:ln/>
        </p:spPr>
        <p:txBody>
          <a:bodyPr wrap="square" lIns="0" tIns="0" rIns="0" bIns="0" rtlCol="0" anchor="ctr"/>
          <a:lstStyle/>
          <a:p>
            <a:pPr algn="ctr" indent="0" marL="0">
              <a:buNone/>
            </a:pPr>
            <a:r>
              <a:rPr lang="en-US" sz="1400" dirty="0">
                <a:solidFill>
                  <a:srgbClr val="8A96A3"/>
                </a:solidFill>
                <a:latin typeface="Calibri" pitchFamily="34" charset="0"/>
                <a:ea typeface="Calibri" pitchFamily="34" charset="-122"/>
                <a:cs typeface="Calibri" pitchFamily="34" charset="-120"/>
              </a:rPr>
              <a:t>[QR code]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Addressing the risks associated with the global semiconductor supply chain</dc:title>
  <dc:subject>PptxGenJS Presentation</dc:subject>
  <dc:creator>PptxGenJS</dc:creator>
  <cp:lastModifiedBy>PptxGenJS</cp:lastModifiedBy>
  <cp:revision>1</cp:revision>
  <dcterms:created xsi:type="dcterms:W3CDTF">2026-09-27T02:34:07Z</dcterms:created>
  <dcterms:modified xsi:type="dcterms:W3CDTF">2026-09-27T02:34:07Z</dcterms:modified>
</cp:coreProperties>
</file>