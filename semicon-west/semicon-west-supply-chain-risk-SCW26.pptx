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64" r:id="rId5"/>
    <p:sldId id="265" r:id="rId4"/>
    <p:sldId id="266" r:id="rId3"/>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63" r:id="rId6"/>
    <p:sldId id="281" r:id="rId30"/>
    <p:sldId id="282" r:id="rId3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58"/>
  </p:normalViewPr>
  <p:slideViewPr>
    <p:cSldViewPr snapToGrid="0" snapToObjects="1">
      <p:cViewPr varScale="1">
        <p:scale>
          <a:sx n="31" d="100"/>
          <a:sy n="31" d="100"/>
        </p:scale>
        <p:origin x="116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9.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openxmlformats.org/officeDocument/2006/relationships/customXml" Target="../customXml/item1.xml"/><Relationship Id="rId14" Type="http://schemas.openxmlformats.org/officeDocument/2006/relationships/customXml" Target="../customXml/item2.xml"/><Relationship Id="rId15" Type="http://schemas.openxmlformats.org/officeDocument/2006/relationships/customXml" Target="../customXml/item3.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20.xml"/><Relationship Id="rId31"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 Bui" userId="f8b4c04c-e122-44ad-a089-e1f8a600e6ff" providerId="ADAL" clId="{4029A454-34B0-40D1-92FA-14456294B934}"/>
    <pc:docChg chg="undo custSel modSld">
      <pc:chgData name="Ann Bui" userId="f8b4c04c-e122-44ad-a089-e1f8a600e6ff" providerId="ADAL" clId="{4029A454-34B0-40D1-92FA-14456294B934}" dt="2026-01-10T23:45:39.603" v="19"/>
      <pc:docMkLst>
        <pc:docMk/>
      </pc:docMkLst>
      <pc:sldChg chg="addSp delSp modSp mod">
        <pc:chgData name="Ann Bui" userId="f8b4c04c-e122-44ad-a089-e1f8a600e6ff" providerId="ADAL" clId="{4029A454-34B0-40D1-92FA-14456294B934}" dt="2026-01-10T23:45:39.603" v="19"/>
        <pc:sldMkLst>
          <pc:docMk/>
          <pc:sldMk cId="0" sldId="256"/>
        </pc:sldMkLst>
        <pc:spChg chg="mod">
          <ac:chgData name="Ann Bui" userId="f8b4c04c-e122-44ad-a089-e1f8a600e6ff" providerId="ADAL" clId="{4029A454-34B0-40D1-92FA-14456294B934}" dt="2026-01-10T23:45:39.603" v="19"/>
          <ac:spMkLst>
            <pc:docMk/>
            <pc:sldMk cId="0" sldId="256"/>
            <ac:spMk id="102" creationId="{00000000-0000-0000-0000-000000000000}"/>
          </ac:spMkLst>
        </pc:spChg>
        <pc:spChg chg="mod">
          <ac:chgData name="Ann Bui" userId="f8b4c04c-e122-44ad-a089-e1f8a600e6ff" providerId="ADAL" clId="{4029A454-34B0-40D1-92FA-14456294B934}" dt="2026-01-10T23:45:39.394" v="18" actId="20577"/>
          <ac:spMkLst>
            <pc:docMk/>
            <pc:sldMk cId="0" sldId="256"/>
            <ac:spMk id="103" creationId="{00000000-0000-0000-0000-000000000000}"/>
          </ac:spMkLst>
        </pc:spChg>
        <pc:spChg chg="add del">
          <ac:chgData name="Ann Bui" userId="f8b4c04c-e122-44ad-a089-e1f8a600e6ff" providerId="ADAL" clId="{4029A454-34B0-40D1-92FA-14456294B934}" dt="2026-01-10T23:45:39.135" v="17" actId="478"/>
          <ac:spMkLst>
            <pc:docMk/>
            <pc:sldMk cId="0" sldId="256"/>
            <ac:spMk id="10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100" b="0">
                <a:solidFill>
                  <a:srgbClr val="5E5E5E"/>
                </a:solidFill>
                <a:latin typeface="Gotham Medium"/>
              </a:rPr>
              <a:t>Share of global sub-10 nm logic wafer capacity</a:t>
            </a:r>
          </a:p>
        </c:rich>
      </c:tx>
      <c:layout/>
      <c:overlay val="0"/>
    </c:title>
    <c:autoTitleDeleted val="0"/>
    <c:plotArea>
      <c:barChart>
        <c:barDir val="col"/>
        <c:grouping val="clustered"/>
        <c:varyColors val="0"/>
        <c:ser>
          <c:idx val="0"/>
          <c:order val="0"/>
          <c:tx>
            <c:strRef>
              <c:f>Sheet1!$B$1</c:f>
              <c:strCache>
                <c:ptCount val="1"/>
                <c:pt idx="0">
                  <c:v>2022</c:v>
                </c:pt>
              </c:strCache>
            </c:strRef>
          </c:tx>
          <c:spPr>
            <a:solidFill>
              <a:srgbClr val="2B7FB8"/>
            </a:solidFill>
          </c:spPr>
          <c:cat>
            <c:strRef>
              <c:f>Sheet1!$A$2:$A$6</c:f>
              <c:strCache>
                <c:ptCount val="5"/>
                <c:pt idx="0">
                  <c:v>Taiwan</c:v>
                </c:pt>
                <c:pt idx="1">
                  <c:v>United States</c:v>
                </c:pt>
                <c:pt idx="2">
                  <c:v>South Korea</c:v>
                </c:pt>
                <c:pt idx="3">
                  <c:v>Europe</c:v>
                </c:pt>
                <c:pt idx="4">
                  <c:v>Japan</c:v>
                </c:pt>
              </c:strCache>
            </c:strRef>
          </c:cat>
          <c:val>
            <c:numRef>
              <c:f>Sheet1!$B$2:$B$6</c:f>
              <c:numCache>
                <c:formatCode>General</c:formatCode>
                <c:ptCount val="5"/>
                <c:pt idx="0">
                  <c:v>69</c:v>
                </c:pt>
                <c:pt idx="1">
                  <c:v>0</c:v>
                </c:pt>
                <c:pt idx="2">
                  <c:v>31</c:v>
                </c:pt>
                <c:pt idx="3">
                  <c:v>0</c:v>
                </c:pt>
                <c:pt idx="4">
                  <c:v>0</c:v>
                </c:pt>
              </c:numCache>
            </c:numRef>
          </c:val>
        </c:ser>
        <c:ser>
          <c:idx val="1"/>
          <c:order val="1"/>
          <c:tx>
            <c:strRef>
              <c:f>Sheet1!$C$1</c:f>
              <c:strCache>
                <c:ptCount val="1"/>
                <c:pt idx="0">
                  <c:v>2032 (projected)</c:v>
                </c:pt>
              </c:strCache>
            </c:strRef>
          </c:tx>
          <c:spPr>
            <a:solidFill>
              <a:srgbClr val="E97B05"/>
            </a:solidFill>
          </c:spPr>
          <c:cat>
            <c:strRef>
              <c:f>Sheet1!$A$2:$A$6</c:f>
              <c:strCache>
                <c:ptCount val="5"/>
                <c:pt idx="0">
                  <c:v>Taiwan</c:v>
                </c:pt>
                <c:pt idx="1">
                  <c:v>United States</c:v>
                </c:pt>
                <c:pt idx="2">
                  <c:v>South Korea</c:v>
                </c:pt>
                <c:pt idx="3">
                  <c:v>Europe</c:v>
                </c:pt>
                <c:pt idx="4">
                  <c:v>Japan</c:v>
                </c:pt>
              </c:strCache>
            </c:strRef>
          </c:cat>
          <c:val>
            <c:numRef>
              <c:f>Sheet1!$C$2:$C$6</c:f>
              <c:numCache>
                <c:formatCode>General</c:formatCode>
                <c:ptCount val="5"/>
                <c:pt idx="0">
                  <c:v>47</c:v>
                </c:pt>
                <c:pt idx="1">
                  <c:v>28</c:v>
                </c:pt>
                <c:pt idx="2">
                  <c:v>9</c:v>
                </c:pt>
                <c:pt idx="3">
                  <c:v>6</c:v>
                </c:pt>
                <c:pt idx="4">
                  <c:v>5</c:v>
                </c:pt>
              </c:numCache>
            </c:numRef>
          </c:val>
        </c:ser>
        <c:dLbls>
          <c:numFmt formatCode="0&quot;%&quot;" sourceLinked="0"/>
          <c:txPr>
            <a:bodyPr/>
            <a:lstStyle/>
            <a:p>
              <a:pPr>
                <a:defRPr sz="1800">
                  <a:solidFill>
                    <a:srgbClr val="1A1A1A"/>
                  </a:solidFill>
                  <a:latin typeface="Gotham Book"/>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delete val="0"/>
        <c:axPos val="b"/>
        <c:majorTickMark val="none"/>
        <c:minorTickMark val="none"/>
        <c:tickLblPos val="nextTo"/>
        <c:spPr>
          <a:ln>
            <a:solidFill>
              <a:srgbClr val="D5D5D5"/>
            </a:solidFill>
          </a:ln>
        </c:spPr>
        <c:txPr>
          <a:bodyPr/>
          <a:lstStyle/>
          <a:p>
            <a:pPr>
              <a:defRPr sz="1950">
                <a:solidFill>
                  <a:srgbClr val="1A1A1A"/>
                </a:solidFill>
              </a:defRPr>
            </a:pPr>
          </a:p>
        </c:txPr>
        <c:crossAx val="-2113994440"/>
        <c:crosses val="autoZero"/>
        <c:auto val="1"/>
        <c:lblAlgn val="ctr"/>
        <c:lblOffset val="100"/>
        <c:noMultiLvlLbl val="0"/>
      </c:catAx>
      <c:valAx>
        <c:axId val="-2113994440"/>
        <c:scaling>
          <c:max val="80.0"/>
          <c:min val="0.0"/>
        </c:scaling>
        <c:delete/>
        <c:axPos val="l"/>
        <c:majorTickMark val="out"/>
        <c:minorTickMark val="none"/>
        <c:tickLblPos val="nextTo"/>
        <c:crossAx val="-2068027336"/>
        <c:crosses val="autoZero"/>
      </c:valAx>
    </c:plotArea>
    <c:legend>
      <c:legendPos val="t"/>
      <c:overlay val="0"/>
      <c:txPr>
        <a:bodyPr/>
        <a:lstStyle/>
        <a:p>
          <a:pPr>
            <a:defRPr sz="1950">
              <a:solidFill>
                <a:srgbClr val="1A1A1A"/>
              </a:solidFill>
            </a:defRPr>
          </a:pPr>
        </a:p>
      </c:txPr>
    </c:legend>
    <c:dispBlanksAs val="gap"/>
  </c:chart>
  <c:txPr>
    <a:bodyPr/>
    <a:lstStyle/>
    <a:p>
      <a:pPr>
        <a:defRPr sz="1800">
          <a:latin typeface="Gotham Book"/>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100" b="0">
                <a:solidFill>
                  <a:srgbClr val="5E5E5E"/>
                </a:solidFill>
                <a:latin typeface="Gotham Medium"/>
              </a:rPr>
              <a:t>Share of supply chain organizations (Gartner surveys, 2025)</a:t>
            </a:r>
          </a:p>
        </c:rich>
      </c:tx>
      <c:layout/>
      <c:overlay val="0"/>
    </c:title>
    <c:autoTitleDeleted val="0"/>
    <c:plotArea>
      <c:barChart>
        <c:barDir val="bar"/>
        <c:grouping val="clustered"/>
        <c:varyColors/>
        <c:ser>
          <c:idx val="0"/>
          <c:order val="0"/>
          <c:tx>
            <c:strRef>
              <c:f>Sheet1!$B$1</c:f>
              <c:strCache>
                <c:ptCount val="1"/>
                <c:pt idx="0">
                  <c:v>Share of supply chain organizations</c:v>
                </c:pt>
              </c:strCache>
            </c:strRef>
          </c:tx>
          <c:dPt>
            <c:idx val="0"/>
            <c:spPr>
              <a:solidFill>
                <a:srgbClr val="2B7FB8"/>
              </a:solidFill>
            </c:spPr>
          </c:dPt>
          <c:dPt>
            <c:idx val="1"/>
            <c:spPr>
              <a:solidFill>
                <a:srgbClr val="E97B05"/>
              </a:solidFill>
            </c:spPr>
          </c:dPt>
          <c:cat>
            <c:strRef>
              <c:f>Sheet1!$A$2:$A$3</c:f>
              <c:strCache>
                <c:ptCount val="2"/>
                <c:pt idx="0">
                  <c:v>Deploying generative AI</c:v>
                </c:pt>
                <c:pt idx="1">
                  <c:v>Have a formal supply chain AI strategy</c:v>
                </c:pt>
              </c:strCache>
            </c:strRef>
          </c:cat>
          <c:val>
            <c:numRef>
              <c:f>Sheet1!$B$2:$B$3</c:f>
              <c:numCache>
                <c:formatCode>General</c:formatCode>
                <c:ptCount val="2"/>
                <c:pt idx="0">
                  <c:v>72</c:v>
                </c:pt>
                <c:pt idx="1">
                  <c:v>23</c:v>
                </c:pt>
              </c:numCache>
            </c:numRef>
          </c:val>
        </c:ser>
        <c:dLbls>
          <c:numFmt formatCode="0&quot;%&quot;" sourceLinked="0"/>
          <c:txPr>
            <a:bodyPr/>
            <a:lstStyle/>
            <a:p>
              <a:pPr>
                <a:defRPr sz="3300">
                  <a:solidFill>
                    <a:srgbClr val="1A1A1A"/>
                  </a:solidFill>
                  <a:latin typeface="Gotham Medium"/>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2100">
                <a:solidFill>
                  <a:srgbClr val="1A1A1A"/>
                </a:solidFill>
              </a:defRPr>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800">
          <a:latin typeface="Gotham Book"/>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Shape 99"/>
          <p:cNvSpPr>
            <a:spLocks noGrp="1" noRot="1" noChangeAspect="1"/>
          </p:cNvSpPr>
          <p:nvPr>
            <p:ph type="sldImg"/>
          </p:nvPr>
        </p:nvSpPr>
        <p:spPr>
          <a:xfrm>
            <a:off x="1143000" y="685800"/>
            <a:ext cx="4572000" cy="3429000"/>
          </a:xfrm>
          <a:prstGeom prst="rect">
            <a:avLst/>
          </a:prstGeom>
        </p:spPr>
        <p:txBody>
          <a:bodyPr/>
          <a:lstStyle/>
          <a:p>
            <a:endParaRPr/>
          </a:p>
        </p:txBody>
      </p:sp>
      <p:sp>
        <p:nvSpPr>
          <p:cNvPr id="100" name="Shape 10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[0:00 to 0:30] Good morning, everyone. I'm [your name], [your role] at [your company]. My argument today is simple. Good data and AI governance lets you see your bills of materials in close to real time, track your single points of failure, and stay compliant as trade rules split along geopolitical lines. I'll cover where the chain is fragile, why data alone hasn't fixed it, and what governance adds, then leave about five minutes for your questions.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[0:30 to 1:35] Picture a supplier two tiers below you. You don't have a contract with them, and you may not know their name. Their plant goes down. Your tier 1 supplier finds out days later and puts the material on allocation. By the time it reaches your planners, the lead times in the system are already wrong, and the first signal many of us get is a customer ship date we're about to miss. This is an illustrative scenario, but most people in this room have lived some version of it. [Optional: swap in a real disruption you can speak to.] The pattern is what matters. The failure starts where we can see the least, and the delay comes from data we either don't have or don't trust. Keep this picture in mind, because I'll come back to it near the end and show how it plays out differently.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Section divider. Click straight through.</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[1:35 to 2:05] Here's the chain at a very high level: design, materials and gases, equipment, the fab, assembly and test, and then our customers. We've optimized each step for cost and performance, and that specialization is why the industry works. It's also why it's fragile. Many inputs have only a few qualified sources, and each hand-off can cross a border. And right now, three pressures are pushing on the weakest points. </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[2:05 to 3:00] Three pressures make this urgent now. First, concentration. In 2022, all of the world's sub-10 nanometer logic capacity was in two places. I'll show you the numbers on the next slide. Second, materials. According to the USGS, China produced 99 percent of the world's primary gallium in 2024. It put export licensing on gallium and germanium in 2023, banned exports to the U.S. in December 2024, and suspended that ban about a year later. When one government can switch a material on and off, that's a planning risk, whatever the politics. Third, AI demand. The rush for high-bandwidth memory and AI hardware is stretching lead times and leading-edge capacity, which leaves less slack for everyone else. </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[3:00 to 3:40] Here's how concentrated it is. In 2022, all of the world's sub-10 nanometer logic capacity was in two places: Taiwan with 69 percent and South Korea with 31. SIA and BCG project that by 2032 the U.S. reaches 28 percent, with Europe and Japan adding a few points each. That's real progress, but Taiwan still holds almost half, and much of the new capacity arrives late in the decade. So concentration risk isn't going away within the planning horizon most of us work in.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[3:40 to 4:25] When I map risk, I group it into six types. Concentration comes first, because it multiplies everything else: sole-source inputs, or one site that feeds many of your products. Then geopolitics and trade, natural hazards and utilities, logistics, demand swings, and cyber and IP risk. None of these is new. What matters is that they pile up on the same few nodes, and each one usually has a different owner, so nobody sees the overlap. A sole-source supplier in a region with trade exposure and seismic risk is a very different problem from any one of those alone. </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[4:25 to 5:25] Here's the uncomfortable part. We manage tier 1 well: contracts, purchase orders, scorecards, quarterly reviews. Tier 2 is whatever tier 1 chooses to tell us, and it's usually partial. Tier 3 and below, the raw materials, specialty gases, and sub-components, is mostly dark. And that's often exactly where the sole sources are. You don't need to map the whole tree. You need to decide which sub-tier nodes sit under your most critical parts, and then go get that data on purpose. That's a scoping decision before it's a technology decision. Start with the parts where a shortage would stop a line or break a customer commitment, and work down from there. A short, accurate map beats a complete one that nobody maintains. Which brings me to data.</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Section divider. Click straight through.</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[5:25 to 6:35] When I talk to supply chain teams, the problem is rarely a total lack of data. It sits in ERP and MRP, supplier portals, logistics feeds, MES and quality systems, and outside sources like news and trade data. The trouble is joining it up. The same part or supplier has different IDs in different systems. Nobody can say where a lead time came from or when it was last accurate. Master data like planned lead times and approved sources drifts away from reality between reviews. And partners hold back, because nobody ever agreed how shared data would be used, who could see it, or how long it would be kept. Every one of those is a governance problem more than a technology problem. Buying another tool won't fix mismatched IDs or missing agreements. Someone has to decide which ID is the master, who owns it, and what we promise partners about their data.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[6:35 to 7:20] The industry is adopting AI fast. In separate 2025 surveys, Gartner found 72 percent of supply chain organizations deploying generative AI, but only 23 percent with a formal supply chain AI strategy. That gap is where the risk sits. The payoff is real when it's done well. McKinsey found early adopters of AI-enabled supply chain management improved logistics costs by 15 percent, inventory levels by 35 percent, and service levels by 65 percent compared with slower competitors. Those were the companies that got the data and the decision rights right. Without that, AI scales the errors in data we already don't trust.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Section divider. Click straight through.</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[7:20 to 8:15] Here are the AI models most often used for supply chain risk, and each one needs a different control. Forecasting models predict demand, lead times, and allocation, so you backtest them against past disruptions and watch for drift. Graph models map multi-tier bills of materials to find single points of failure, so every link needs lineage and a confidence level. Language models read news, supplier notices, and regulations; ground them in approved sources and log what they produce. Anomaly detection needs owners who tune the thresholds. Optimization and digital twins test scenarios, but a person approves the plan. And agentic AI, which can act on its own, needs the tightest permissions of all.</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[8:15 to 9:20] So what do I mean by data and AI governance? I think of it as four layers, and you build from the bottom. The data foundation is common IDs for parts and suppliers, lineage so you know where a number came from, quality checks on the fields that drive risk decisions, and an owner for each critical record. On top of that, access and sharing: least-privilege access, data-use agreements with suppliers, and audit trails, because a map of your sole sources is sensitive data in its own right. Then AI model risk, which covers the controls I just described for each model type. And at the top, human oversight: who decides, who gets escalated to, and who owns each action. If you skip a layer, the ones above it don't hold. The work that pays off first is usually at the bottom, in the master data. </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[9:20 to 10:45] Governance only earns its keep if you can tie each control to a risk it reduces and a number that shows it's working. For single points of failure, AI tools can now parse a product into a multi-tier bill of materials and trace components down to raw materials. Governance adds an owner for each critical part, and the measure is how many of those parts you can actually trace. For export controls and sanctions, the control is automated screening of items, parties, and end uses against current lists. The measure is how many hours it takes to go from a rule change to a report of what's affected. For an allocation crunch like the one in HBM, machine learning can watch lead-time and capacity signals at known choke points. The measure is how many weeks of warning you get. For AI, validate against past disruptions and monitor drift, then watch how often planners override the model and why. And for suppliers who won't share, data-use agreements and audit logs, measured by how many critical suppliers actually share sub-tier data. [Swap in any metric your organization already tracks.]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[10:45 to 11:20] You don't need to invent a governance model. The NIST AI Risk Management Framework is voluntary and practical, with four functions: Govern, Map, Measure, and Manage. ISO/IEC 42001 is a certifiable management system standard, which matters when customers or regulators want proof rather than a policy. A common pattern is to design the practice with NIST and certify it with ISO. [Mention the framework your organization uses, if any.] Either way, apply it to one real use case first. A supplier risk score is a good candidate. </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[11:20 to 12:20] [Replace this with your own case if you can share one. If you keep it, say that it's illustrative.] Here's what this looks like when it works. This is an illustrative example. An outside signal flags an outage at a specialty gas supplier. The model ranks it high and can say why: that site is a sole source for material we use. Because the sub-tier map is governed, we can see within hours which parts, products, and customers depend on that site, and how confident we are in each link. Then a person decides. The part owner checks the evidence with the tier 1 supplier and approves an allocation plan. Buyers start qualifying an alternate source, and account teams warn customers early. A human still makes the call. Governance made it faster and easier to defend, and the first signal wasn't a missed ship date. </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[12:20 to 13:15] If you take three things back, make them these. First, pick your single riskiest input, one sole- or single-source material, and trace it as far down the tiers as you can. It's small enough to finish in a quarter, and it will show you exactly where your data gaps are. Second, give every critical part and supplier record an owner, and agree on data-use terms with your key suppliers so they have a reason to share. Third, before you trust an AI risk score, test it against disruptions you've already lived through, and keep a named person in the decision. None of these needs a new budget line to start. They need someone with the authority to say this data matters and this person owns it.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[13:15 to 13:40, buffer to 15:00, then Q&amp;A to 20:00] The goal is simple: see your risk sooner, and act on it with data you can defend. Our industry is very good at controlling variation inside the fab. I think we can bring that same discipline to the data about our supply chain. Thank you. I'm happy to take questions. [See qa-prep.md for prepared answers. If time runs out, point people to the QR code.]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Backup slide. Use if asked what changes when governance is in place.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Appendix. Not presented; keep it for reference and when sharing the deck.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F1035F-0EF3-6D4F-9E2D-4C6263D60CF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24384000" cy="13716000"/>
          </a:xfrm>
          <a:prstGeom prst="rect">
            <a:avLst/>
          </a:prstGeom>
        </p:spPr>
      </p:pic>
      <p:sp>
        <p:nvSpPr>
          <p:cNvPr id="15" name="Title Text"/>
          <p:cNvSpPr txBox="1">
            <a:spLocks noGrp="1"/>
          </p:cNvSpPr>
          <p:nvPr>
            <p:ph type="title"/>
          </p:nvPr>
        </p:nvSpPr>
        <p:spPr>
          <a:xfrm>
            <a:off x="588382" y="3934193"/>
            <a:ext cx="11800087" cy="2923808"/>
          </a:xfrm>
          <a:prstGeom prst="rect">
            <a:avLst/>
          </a:prstGeom>
        </p:spPr>
        <p:txBody>
          <a:bodyPr anchor="b"/>
          <a:lstStyle>
            <a:lvl1pPr>
              <a:defRPr>
                <a:solidFill>
                  <a:schemeClr val="bg1"/>
                </a:solidFill>
              </a:defRPr>
            </a:lvl1pPr>
          </a:lstStyle>
          <a:p>
            <a:r>
              <a:rPr dirty="0"/>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BDEEB4-391D-5F4C-B945-F85683EB582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8" y="-5390"/>
            <a:ext cx="24384000" cy="13716000"/>
          </a:xfrm>
          <a:prstGeom prst="rect">
            <a:avLst/>
          </a:prstGeom>
        </p:spPr>
      </p:pic>
      <p:sp>
        <p:nvSpPr>
          <p:cNvPr id="25" name="Title Text"/>
          <p:cNvSpPr txBox="1">
            <a:spLocks noGrp="1"/>
          </p:cNvSpPr>
          <p:nvPr>
            <p:ph type="title"/>
          </p:nvPr>
        </p:nvSpPr>
        <p:spPr>
          <a:xfrm>
            <a:off x="1083131" y="1653090"/>
            <a:ext cx="11305338" cy="2669673"/>
          </a:xfrm>
          <a:prstGeom prst="rect">
            <a:avLst/>
          </a:prstGeom>
        </p:spPr>
        <p:txBody>
          <a:bodyPr anchor="b"/>
          <a:lstStyle>
            <a:lvl1pPr>
              <a:defRPr sz="7800">
                <a:solidFill>
                  <a:schemeClr val="tx1"/>
                </a:solidFill>
              </a:defRPr>
            </a:lvl1pPr>
          </a:lstStyle>
          <a:p>
            <a:r>
              <a:rPr dirty="0"/>
              <a:t>Title Text</a:t>
            </a:r>
          </a:p>
        </p:txBody>
      </p:sp>
      <p:sp>
        <p:nvSpPr>
          <p:cNvPr id="27" name="Slide Number"/>
          <p:cNvSpPr txBox="1">
            <a:spLocks noGrp="1"/>
          </p:cNvSpPr>
          <p:nvPr>
            <p:ph type="sldNum" sz="quarter" idx="2"/>
          </p:nvPr>
        </p:nvSpPr>
        <p:spPr>
          <a:xfrm>
            <a:off x="12185650" y="13081000"/>
            <a:ext cx="405638" cy="355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Tex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AB8261-255E-9946-91C0-15744DDCFDA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050"/>
            <a:ext cx="24406407" cy="5180260"/>
          </a:xfrm>
          <a:prstGeom prst="rect">
            <a:avLst/>
          </a:prstGeom>
        </p:spPr>
      </p:pic>
      <p:sp>
        <p:nvSpPr>
          <p:cNvPr id="35" name="Title Text"/>
          <p:cNvSpPr txBox="1">
            <a:spLocks noGrp="1"/>
          </p:cNvSpPr>
          <p:nvPr>
            <p:ph type="title"/>
          </p:nvPr>
        </p:nvSpPr>
        <p:spPr>
          <a:xfrm>
            <a:off x="2349549" y="1357238"/>
            <a:ext cx="15959139" cy="1520627"/>
          </a:xfrm>
          <a:prstGeom prst="rect">
            <a:avLst/>
          </a:prstGeom>
        </p:spPr>
        <p:txBody>
          <a:bodyPr anchor="b"/>
          <a:lstStyle>
            <a:lvl1pPr algn="l">
              <a:defRPr/>
            </a:lvl1pPr>
          </a:lstStyle>
          <a:p>
            <a:r>
              <a:rPr dirty="0"/>
              <a:t>Title Text</a:t>
            </a:r>
          </a:p>
        </p:txBody>
      </p:sp>
      <p:sp>
        <p:nvSpPr>
          <p:cNvPr id="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7" name="Body Level One…"/>
          <p:cNvSpPr txBox="1">
            <a:spLocks noGrp="1"/>
          </p:cNvSpPr>
          <p:nvPr>
            <p:ph type="body" idx="1"/>
          </p:nvPr>
        </p:nvSpPr>
        <p:spPr>
          <a:xfrm>
            <a:off x="2328366" y="4235102"/>
            <a:ext cx="19534833" cy="8083898"/>
          </a:xfrm>
          <a:prstGeom prst="rect">
            <a:avLst/>
          </a:prstGeom>
        </p:spPr>
        <p:txBody>
          <a:bodyPr anchor="t"/>
          <a:lstStyle>
            <a:lvl1pPr marL="0" indent="0" algn="l">
              <a:buSzTx/>
              <a:buNone/>
              <a:defRPr/>
            </a:lvl1pPr>
            <a:lvl2pPr marL="952500" indent="-317500" algn="l">
              <a:buSzPct val="80000"/>
              <a:defRPr/>
            </a:lvl2pPr>
            <a:lvl3pPr marL="1587500" indent="-317500" algn="l">
              <a:buSzPct val="80000"/>
              <a:defRPr/>
            </a:lvl3pPr>
            <a:lvl4pPr marL="2222500" indent="-317500" algn="l">
              <a:buSzPct val="80000"/>
              <a:defRPr/>
            </a:lvl4pPr>
            <a:lvl5pPr marL="2857500" indent="-317500" algn="l">
              <a:buSzPct val="80000"/>
              <a:defRPr/>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mp; Bullet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ECE377-0EDE-92FA-B8BC-0849CA8E08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050"/>
            <a:ext cx="24406407" cy="5180260"/>
          </a:xfrm>
          <a:prstGeom prst="rect">
            <a:avLst/>
          </a:prstGeom>
        </p:spPr>
      </p:pic>
      <p:sp>
        <p:nvSpPr>
          <p:cNvPr id="45" name="Body Level One…"/>
          <p:cNvSpPr txBox="1">
            <a:spLocks noGrp="1"/>
          </p:cNvSpPr>
          <p:nvPr>
            <p:ph type="body" idx="1"/>
          </p:nvPr>
        </p:nvSpPr>
        <p:spPr>
          <a:xfrm>
            <a:off x="2349548" y="4234325"/>
            <a:ext cx="20043181" cy="7652875"/>
          </a:xfrm>
          <a:prstGeom prst="rect">
            <a:avLst/>
          </a:prstGeom>
        </p:spPr>
        <p:txBody>
          <a:bodyPr anchor="t"/>
          <a:lstStyle>
            <a:lvl1pPr marL="555625" indent="-555625"/>
            <a:lvl2pPr marL="1190625" indent="-555625"/>
            <a:lvl3pPr marL="1825625" indent="-555625"/>
            <a:lvl4pPr marL="2460625" indent="-555625"/>
            <a:lvl5pPr marL="3095625" indent="-555625"/>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 name="Title Text">
            <a:extLst>
              <a:ext uri="{FF2B5EF4-FFF2-40B4-BE49-F238E27FC236}">
                <a16:creationId xmlns:a16="http://schemas.microsoft.com/office/drawing/2014/main" id="{ED717E69-CAD0-4E4D-8DA0-35F2B990B8DE}"/>
              </a:ext>
            </a:extLst>
          </p:cNvPr>
          <p:cNvSpPr txBox="1">
            <a:spLocks noGrp="1"/>
          </p:cNvSpPr>
          <p:nvPr>
            <p:ph type="title"/>
          </p:nvPr>
        </p:nvSpPr>
        <p:spPr>
          <a:xfrm>
            <a:off x="2349549" y="1357238"/>
            <a:ext cx="15959139" cy="1520627"/>
          </a:xfrm>
          <a:prstGeom prst="rect">
            <a:avLst/>
          </a:prstGeom>
        </p:spPr>
        <p:txBody>
          <a:bodyPr anchor="b"/>
          <a:lstStyle>
            <a:lvl1pPr algn="l">
              <a:defRPr/>
            </a:lvl1pPr>
          </a:lstStyle>
          <a:p>
            <a:r>
              <a:rPr dirty="0"/>
              <a:t>Title Text</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Clos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6FF07E8-4F20-EB4B-BFC0-D955DDE1C5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24384000" cy="13716000"/>
          </a:xfrm>
          <a:prstGeom prst="rect">
            <a:avLst/>
          </a:prstGeom>
        </p:spPr>
      </p:pic>
      <p:sp>
        <p:nvSpPr>
          <p:cNvPr id="2" name="Title 1">
            <a:extLst>
              <a:ext uri="{FF2B5EF4-FFF2-40B4-BE49-F238E27FC236}">
                <a16:creationId xmlns:a16="http://schemas.microsoft.com/office/drawing/2014/main" id="{74B579FD-2E88-444E-B161-79F874C62495}"/>
              </a:ext>
            </a:extLst>
          </p:cNvPr>
          <p:cNvSpPr>
            <a:spLocks noGrp="1"/>
          </p:cNvSpPr>
          <p:nvPr>
            <p:ph type="title"/>
          </p:nvPr>
        </p:nvSpPr>
        <p:spPr>
          <a:xfrm>
            <a:off x="514927" y="4243387"/>
            <a:ext cx="13501111" cy="3857626"/>
          </a:xfrm>
          <a:prstGeom prst="rect">
            <a:avLst/>
          </a:prstGeom>
        </p:spPr>
        <p:txBody>
          <a:bodyPr anchor="ctr"/>
          <a:lstStyle>
            <a:lvl1pPr algn="l">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45036842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93" name="Slide Number"/>
          <p:cNvSpPr txBox="1">
            <a:spLocks noGrp="1"/>
          </p:cNvSpPr>
          <p:nvPr>
            <p:ph type="sldNum" sz="quarter" idx="2"/>
          </p:nvPr>
        </p:nvSpPr>
        <p:spPr>
          <a:xfrm>
            <a:off x="12185650" y="13081000"/>
            <a:ext cx="405638" cy="355600"/>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22860000" y="12192000"/>
            <a:ext cx="405638" cy="355600"/>
          </a:xfrm>
          <a:prstGeom prst="rect">
            <a:avLst/>
          </a:prstGeom>
          <a:ln w="12700">
            <a:miter lim="400000"/>
          </a:ln>
        </p:spPr>
        <p:txBody>
          <a:bodyPr wrap="none" lIns="50800" tIns="50800" rIns="50800" bIns="50800">
            <a:spAutoFit/>
          </a:bodyPr>
          <a:lstStyle>
            <a:lvl1pPr algn="l">
              <a:defRPr sz="2000">
                <a:latin typeface="Gotham Book"/>
                <a:ea typeface="Gotham Book"/>
                <a:cs typeface="Gotham Book"/>
                <a:sym typeface="Gotham Book"/>
              </a:defRPr>
            </a:lvl1pPr>
          </a:lstStyle>
          <a:p>
            <a:fld id="{86CB4B4D-7CA3-9044-876B-883B54F8677D}" type="slidenum">
              <a:t>‹#›</a:t>
            </a:fld>
            <a:endParaRPr/>
          </a:p>
        </p:txBody>
      </p:sp>
      <p:sp>
        <p:nvSpPr>
          <p:cNvPr id="4"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8" r:id="rId5"/>
    <p:sldLayoutId id="2147483657" r:id="rId6"/>
  </p:sldLayoutIdLst>
  <p:transition spd="med"/>
  <p:txStyles>
    <p:titleStyle>
      <a:lvl1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1pPr>
      <a:lvl2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2pPr>
      <a:lvl3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3pPr>
      <a:lvl4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4pPr>
      <a:lvl5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5pPr>
      <a:lvl6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6pPr>
      <a:lvl7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7pPr>
      <a:lvl8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8pPr>
      <a:lvl9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9pPr>
    </p:titleStyle>
    <p:bodyStyle>
      <a:lvl1pPr marL="52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1pPr>
      <a:lvl2pPr marL="116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2pPr>
      <a:lvl3pPr marL="179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3pPr>
      <a:lvl4pPr marL="243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4pPr>
      <a:lvl5pPr marL="306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5pPr>
      <a:lvl6pPr marL="370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6pPr>
      <a:lvl7pPr marL="433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7pPr>
      <a:lvl8pPr marL="497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8pPr>
      <a:lvl9pPr marL="560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9pPr>
    </p:bodyStyle>
    <p:otherStyle>
      <a:lvl1pPr marL="0" marR="0" indent="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1pPr>
      <a:lvl2pPr marL="0" marR="0" indent="2286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2pPr>
      <a:lvl3pPr marL="0" marR="0" indent="4572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3pPr>
      <a:lvl4pPr marL="0" marR="0" indent="6858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4pPr>
      <a:lvl5pPr marL="0" marR="0" indent="9144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5pPr>
      <a:lvl6pPr marL="0" marR="0" indent="11430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6pPr>
      <a:lvl7pPr marL="0" marR="0" indent="13716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7pPr>
      <a:lvl8pPr marL="0" marR="0" indent="16002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8pPr>
      <a:lvl9pPr marL="0" marR="0" indent="18288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8.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21.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27.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emiconductors.org/emerging-resilience-in-the-semiconductor-supply-chain/" TargetMode="External"/><Relationship Id="rId3" Type="http://schemas.openxmlformats.org/officeDocument/2006/relationships/hyperlink" Target="https://pubs.usgs.gov/publication/mcs2025" TargetMode="External"/><Relationship Id="rId4" Type="http://schemas.openxmlformats.org/officeDocument/2006/relationships/hyperlink" Target="https://www.gartner.com/en/newsroom/press-releases/2025-02-05-gartner-survey-supply-chain-genai-productivity-gains-at-individual-level-while-creating-new-complications-for-organizations" TargetMode="External"/><Relationship Id="rId5" Type="http://schemas.openxmlformats.org/officeDocument/2006/relationships/hyperlink" Target="https://www.gartner.com/en/newsroom/2025-06-11-gartner-survey-shows-just-23-percent-of-supply-chain-organizations-have-a-formal-ai-strategy" TargetMode="External"/><Relationship Id="rId6" Type="http://schemas.openxmlformats.org/officeDocument/2006/relationships/hyperlink" Target="https://www.mckinsey.com/industries/metals-and-mining/our-insights/succeeding-in-the-ai-supply-chain-revolution" TargetMode="External"/><Relationship Id="rId7" Type="http://schemas.openxmlformats.org/officeDocument/2006/relationships/hyperlink" Target="https://synergy-inc.com/blogs/strengthening-the-global-semiconductor-supply-chain-challenges-and-opportunities-in-2025-2" TargetMode="External"/><Relationship Id="rId8" Type="http://schemas.openxmlformats.org/officeDocument/2006/relationships/hyperlink" Target="https://www.exiger.com/perspectives/chip-challenges-semiconductors-and-supply-chain-risks/" TargetMode="External"/><Relationship Id="rId9" Type="http://schemas.openxmlformats.org/officeDocument/2006/relationships/hyperlink" Target="https://onlinelibrary.wiley.com/doi/full/10.1002/app5.70046" TargetMode="External"/><Relationship Id="rId10" Type="http://schemas.openxmlformats.org/officeDocument/2006/relationships/hyperlink" Target="https://resources.altium.com/p/supply-chain-resilience-ai-demand-semiconductor-shortage" TargetMode="External"/><Relationship Id="rId11" Type="http://schemas.openxmlformats.org/officeDocument/2006/relationships/hyperlink" Target="https://www.foxbusiness.com/video/6394872288112" TargetMode="External"/><Relationship Id="rId12" Type="http://schemas.openxmlformats.org/officeDocument/2006/relationships/hyperlink" Target="https://www.nist.gov/itl/ai-risk-management-framework" TargetMode="External"/><Relationship Id="rId13" Type="http://schemas.openxmlformats.org/officeDocument/2006/relationships/hyperlink" Target="https://www.iso.org/standard/81230.html" TargetMode="External"/><Relationship Id="rId1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Goes Here  Max Two Lines Long"/>
          <p:cNvSpPr txBox="1">
            <a:spLocks noGrp="1"/>
          </p:cNvSpPr>
          <p:nvPr>
            <p:ph type="ctrTitle"/>
          </p:nvPr>
        </p:nvSpPr>
        <p:spPr>
          <a:xfrm>
            <a:off x="585216" y="2331720"/>
            <a:ext cx="12984480" cy="3931920"/>
          </a:xfrm>
          <a:prstGeom prst="rect">
            <a:avLst/>
          </a:prstGeom>
        </p:spPr>
        <p:txBody>
          <a:bodyPr anchor="b"/>
          <a:lstStyle/>
          <a:p>
            <a:r>
              <a:rPr sz="6400"/>
              <a:t>Addressing the risks associated with the global semiconductor supply chain</a:t>
            </a:r>
          </a:p>
        </p:txBody>
      </p:sp>
      <p:sp>
        <p:nvSpPr>
          <p:cNvPr id="103" name="Subtitle Goes Here Lorem Ipsum"/>
          <p:cNvSpPr txBox="1">
            <a:spLocks noGrp="1"/>
          </p:cNvSpPr>
          <p:nvPr>
            <p:ph type="subTitle" sz="quarter" idx="4294967295"/>
          </p:nvPr>
        </p:nvSpPr>
        <p:spPr>
          <a:xfrm>
            <a:off x="588382" y="6537960"/>
            <a:ext cx="11800087" cy="502494"/>
          </a:xfrm>
          <a:prstGeom prst="rect">
            <a:avLst/>
          </a:prstGeom>
        </p:spPr>
        <p:txBody>
          <a:bodyPr anchor="t">
            <a:noAutofit/>
          </a:bodyPr>
          <a:lstStyle>
            <a:lvl1pPr marL="0" indent="0">
              <a:spcBef>
                <a:spcPts val="0"/>
              </a:spcBef>
              <a:buSzTx/>
              <a:buNone/>
              <a:defRPr sz="3200">
                <a:latin typeface="Gotham Medium"/>
                <a:ea typeface="Gotham Medium"/>
                <a:cs typeface="Gotham Medium"/>
                <a:sym typeface="Gotham Medium"/>
              </a:defRPr>
            </a:lvl1pPr>
          </a:lstStyle>
          <a:p>
            <a:r>
              <a:rPr lang="en-US" sz="4400" dirty="0">
                <a:solidFill>
                  <a:schemeClr val="bg1"/>
                </a:solidFill>
                <a:latin typeface="Gotham Medium" pitchFamily="2" charset="0"/>
                <a:cs typeface="Gotham Medium" pitchFamily="2" charset="0"/>
              </a:rPr>
              <a:t>Leveraging Data and AI Governance</a:t>
            </a:r>
            <a:endParaRPr sz="4400" dirty="0">
              <a:solidFill>
                <a:schemeClr val="bg1"/>
              </a:solidFill>
              <a:latin typeface="Gotham Medium" pitchFamily="2" charset="0"/>
              <a:cs typeface="Gotham Medium" pitchFamily="2" charset="0"/>
            </a:endParaRPr>
          </a:p>
        </p:txBody>
      </p:sp>
      <p:sp>
        <p:nvSpPr>
          <p:cNvPr id="104" name="Month 10, 2020"/>
          <p:cNvSpPr txBox="1"/>
          <p:nvPr/>
        </p:nvSpPr>
        <p:spPr>
          <a:xfrm>
            <a:off x="588382" y="7406640"/>
            <a:ext cx="12984480" cy="50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algn="l">
              <a:lnSpc>
                <a:spcPct val="110000"/>
              </a:lnSpc>
              <a:defRPr sz="3200" b="0">
                <a:latin typeface="Gotham Medium"/>
                <a:ea typeface="Gotham Medium"/>
                <a:cs typeface="Gotham Medium"/>
                <a:sym typeface="Gotham Medium"/>
              </a:defRPr>
            </a:lvl1pPr>
          </a:lstStyle>
          <a:p>
            <a:r>
              <a:rPr lang="en-US" sz="3200" dirty="0">
                <a:solidFill>
                  <a:schemeClr val="bg1"/>
                </a:solidFill>
                <a:latin typeface="Gotham Medium" pitchFamily="2" charset="0"/>
                <a:cs typeface="Gotham Medium" pitchFamily="2" charset="0"/>
              </a:rPr>
              <a:t>[Your Name], [Title, Company]  |  [Session date]</a:t>
            </a:r>
            <a:r>
              <a:rPr sz="4400" dirty="0">
                <a:solidFill>
                  <a:schemeClr val="bg1"/>
                </a:solidFill>
                <a:latin typeface="Gotham Medium" pitchFamily="2" charset="0"/>
                <a:cs typeface="Gotham Medium" pitchFamily="2" charset="0"/>
              </a:rPr>
              <a:t/>
            </a:r>
            <a:r>
              <a:rPr lang="en-US" sz="4400" dirty="0">
                <a:solidFill>
                  <a:schemeClr val="bg1"/>
                </a:solidFill>
                <a:latin typeface="Gotham Medium" pitchFamily="2" charset="0"/>
                <a:cs typeface="Gotham Medium" pitchFamily="2" charset="0"/>
              </a:rPr>
              <a:t/>
            </a:r>
            <a:endParaRPr sz="4400" dirty="0">
              <a:solidFill>
                <a:schemeClr val="bg1"/>
              </a:solidFill>
              <a:latin typeface="Gotham Medium" pitchFamily="2" charset="0"/>
              <a:cs typeface="Gotham Medium" pitchFamily="2" charset="0"/>
            </a:endParaRPr>
          </a:p>
        </p:txBody>
      </p:sp>
    </p:spTree>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One missing input can stall output downstream</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ILLUSTRATIVE SCENARIO</a:t>
            </a:r>
          </a:p>
        </p:txBody>
      </p:sp>
      <p:sp>
        <p:nvSpPr>
          <p:cNvPr id="119" name="Rectangle 118"/>
          <p:cNvSpPr/>
          <p:nvPr/>
        </p:nvSpPr>
        <p:spPr>
          <a:xfrm>
            <a:off x="2350008" y="3857112"/>
            <a:ext cx="4441430" cy="5168210"/>
          </a:xfrm>
          <a:prstGeom prst="rect">
            <a:avLst/>
          </a:prstGeom>
          <a:solidFill>
            <a:srgbClr val="F2F2F2"/>
          </a:solidFill>
          <a:ln>
            <a:noFill/>
          </a:ln>
        </p:spPr>
        <p:txBody>
          <a:bodyPr rtlCol="0" anchor="ctr"/>
          <a:lstStyle/>
          <a:p>
            <a:pPr algn="ctr"/>
          </a:p>
        </p:txBody>
      </p:sp>
      <p:sp>
        <p:nvSpPr>
          <p:cNvPr id="120" name="Rounded Rectangle 119"/>
          <p:cNvSpPr/>
          <p:nvPr/>
        </p:nvSpPr>
        <p:spPr>
          <a:xfrm>
            <a:off x="2834527" y="4422385"/>
            <a:ext cx="1130545" cy="1130545"/>
          </a:xfrm>
          <a:prstGeom prst="roundRect">
            <a:avLst>
              <a:gd name="adj" fmla="val 11428"/>
            </a:avLst>
          </a:prstGeom>
          <a:solidFill>
            <a:srgbClr val="1A1A1A"/>
          </a:solidFill>
          <a:ln>
            <a:noFill/>
          </a:ln>
        </p:spPr>
        <p:txBody>
          <a:bodyPr rtlCol="0" anchor="ctr"/>
          <a:lstStyle/>
          <a:p>
            <a:pPr algn="ctr"/>
          </a:p>
        </p:txBody>
      </p:sp>
      <p:pic>
        <p:nvPicPr>
          <p:cNvPr id="121" name="Picture 120" descr="image.png"/>
          <p:cNvPicPr>
            <a:picLocks noChangeAspect="1"/>
          </p:cNvPicPr>
          <p:nvPr/>
        </p:nvPicPr>
        <p:blipFill>
          <a:blip r:embed="rId2"/>
          <a:stretch>
            <a:fillRect/>
          </a:stretch>
        </p:blipFill>
        <p:spPr>
          <a:xfrm>
            <a:off x="3083247" y="4671106"/>
            <a:ext cx="633105" cy="633105"/>
          </a:xfrm>
          <a:prstGeom prst="rect">
            <a:avLst/>
          </a:prstGeom>
        </p:spPr>
      </p:pic>
      <p:sp>
        <p:nvSpPr>
          <p:cNvPr id="122" name="TextBox 121"/>
          <p:cNvSpPr txBox="1"/>
          <p:nvPr/>
        </p:nvSpPr>
        <p:spPr>
          <a:xfrm>
            <a:off x="5499386" y="4422385"/>
            <a:ext cx="807532" cy="1130545"/>
          </a:xfrm>
          <a:prstGeom prst="rect">
            <a:avLst/>
          </a:prstGeom>
          <a:noFill/>
        </p:spPr>
        <p:txBody>
          <a:bodyPr wrap="square" lIns="0" rIns="0" tIns="0" bIns="0" anchor="t">
            <a:noAutofit/>
          </a:bodyPr>
          <a:lstStyle/>
          <a:p>
            <a:pPr algn="r"/>
            <a:r>
              <a:rPr sz="4500" b="0" i="0">
                <a:solidFill>
                  <a:srgbClr val="8C8C8C"/>
                </a:solidFill>
                <a:latin typeface="Gotham Black"/>
              </a:rPr>
              <a:t>1</a:t>
            </a:r>
          </a:p>
        </p:txBody>
      </p:sp>
      <p:sp>
        <p:nvSpPr>
          <p:cNvPr id="123" name="TextBox 122"/>
          <p:cNvSpPr txBox="1"/>
          <p:nvPr/>
        </p:nvSpPr>
        <p:spPr>
          <a:xfrm>
            <a:off x="2834527" y="5956698"/>
            <a:ext cx="3472391" cy="1292052"/>
          </a:xfrm>
          <a:prstGeom prst="rect">
            <a:avLst/>
          </a:prstGeom>
          <a:noFill/>
        </p:spPr>
        <p:txBody>
          <a:bodyPr wrap="square" lIns="0" rIns="0" tIns="0" bIns="0" anchor="t">
            <a:noAutofit/>
          </a:bodyPr>
          <a:lstStyle/>
          <a:p>
            <a:pPr algn="l"/>
            <a:r>
              <a:rPr sz="2700" b="0" i="0">
                <a:solidFill>
                  <a:srgbClr val="1A1A1A"/>
                </a:solidFill>
                <a:latin typeface="Gotham Medium"/>
              </a:rPr>
              <a:t>Sub-tier site goes down</a:t>
            </a:r>
          </a:p>
        </p:txBody>
      </p:sp>
      <p:sp>
        <p:nvSpPr>
          <p:cNvPr id="124" name="TextBox 123"/>
          <p:cNvSpPr txBox="1"/>
          <p:nvPr/>
        </p:nvSpPr>
        <p:spPr>
          <a:xfrm>
            <a:off x="2834527" y="7248750"/>
            <a:ext cx="3472391" cy="1534312"/>
          </a:xfrm>
          <a:prstGeom prst="rect">
            <a:avLst/>
          </a:prstGeom>
          <a:noFill/>
        </p:spPr>
        <p:txBody>
          <a:bodyPr wrap="square" lIns="0" rIns="0" tIns="0" bIns="0" anchor="t">
            <a:noAutofit/>
          </a:bodyPr>
          <a:lstStyle/>
          <a:p>
            <a:pPr algn="l"/>
            <a:r>
              <a:rPr sz="2100" b="0" i="0">
                <a:solidFill>
                  <a:srgbClr val="5E5E5E"/>
                </a:solidFill>
                <a:latin typeface="Gotham Book"/>
              </a:rPr>
              <a:t>A sole-source supplier two tiers below you loses a plant</a:t>
            </a:r>
          </a:p>
        </p:txBody>
      </p:sp>
      <p:sp>
        <p:nvSpPr>
          <p:cNvPr id="125" name="Chevron 124"/>
          <p:cNvSpPr/>
          <p:nvPr/>
        </p:nvSpPr>
        <p:spPr>
          <a:xfrm>
            <a:off x="6904493" y="6198958"/>
            <a:ext cx="258410" cy="484519"/>
          </a:xfrm>
          <a:prstGeom prst="chevron">
            <a:avLst/>
          </a:prstGeom>
          <a:solidFill>
            <a:srgbClr val="E97B05"/>
          </a:solidFill>
          <a:ln>
            <a:noFill/>
          </a:ln>
        </p:spPr>
        <p:txBody>
          <a:bodyPr rtlCol="0" anchor="ctr"/>
          <a:lstStyle/>
          <a:p>
            <a:pPr algn="ctr"/>
          </a:p>
        </p:txBody>
      </p:sp>
      <p:sp>
        <p:nvSpPr>
          <p:cNvPr id="126" name="Rectangle 125"/>
          <p:cNvSpPr/>
          <p:nvPr/>
        </p:nvSpPr>
        <p:spPr>
          <a:xfrm>
            <a:off x="7275958" y="3857112"/>
            <a:ext cx="4441430" cy="5168210"/>
          </a:xfrm>
          <a:prstGeom prst="rect">
            <a:avLst/>
          </a:prstGeom>
          <a:solidFill>
            <a:srgbClr val="F2F2F2"/>
          </a:solidFill>
          <a:ln>
            <a:noFill/>
          </a:ln>
        </p:spPr>
        <p:txBody>
          <a:bodyPr rtlCol="0" anchor="ctr"/>
          <a:lstStyle/>
          <a:p>
            <a:pPr algn="ctr"/>
          </a:p>
        </p:txBody>
      </p:sp>
      <p:sp>
        <p:nvSpPr>
          <p:cNvPr id="127" name="Rounded Rectangle 126"/>
          <p:cNvSpPr/>
          <p:nvPr/>
        </p:nvSpPr>
        <p:spPr>
          <a:xfrm>
            <a:off x="7760478" y="4422385"/>
            <a:ext cx="1130545" cy="1130545"/>
          </a:xfrm>
          <a:prstGeom prst="roundRect">
            <a:avLst>
              <a:gd name="adj" fmla="val 11428"/>
            </a:avLst>
          </a:prstGeom>
          <a:solidFill>
            <a:srgbClr val="1A1A1A"/>
          </a:solidFill>
          <a:ln>
            <a:noFill/>
          </a:ln>
        </p:spPr>
        <p:txBody>
          <a:bodyPr rtlCol="0" anchor="ctr"/>
          <a:lstStyle/>
          <a:p>
            <a:pPr algn="ctr"/>
          </a:p>
        </p:txBody>
      </p:sp>
      <p:pic>
        <p:nvPicPr>
          <p:cNvPr id="128" name="Picture 127" descr="image.png"/>
          <p:cNvPicPr>
            <a:picLocks noChangeAspect="1"/>
          </p:cNvPicPr>
          <p:nvPr/>
        </p:nvPicPr>
        <p:blipFill>
          <a:blip r:embed="rId3"/>
          <a:stretch>
            <a:fillRect/>
          </a:stretch>
        </p:blipFill>
        <p:spPr>
          <a:xfrm>
            <a:off x="8009198" y="4671106"/>
            <a:ext cx="633105" cy="633105"/>
          </a:xfrm>
          <a:prstGeom prst="rect">
            <a:avLst/>
          </a:prstGeom>
        </p:spPr>
      </p:pic>
      <p:sp>
        <p:nvSpPr>
          <p:cNvPr id="129" name="TextBox 128"/>
          <p:cNvSpPr txBox="1"/>
          <p:nvPr/>
        </p:nvSpPr>
        <p:spPr>
          <a:xfrm>
            <a:off x="10425336" y="4422385"/>
            <a:ext cx="807532" cy="1130545"/>
          </a:xfrm>
          <a:prstGeom prst="rect">
            <a:avLst/>
          </a:prstGeom>
          <a:noFill/>
        </p:spPr>
        <p:txBody>
          <a:bodyPr wrap="square" lIns="0" rIns="0" tIns="0" bIns="0" anchor="t">
            <a:noAutofit/>
          </a:bodyPr>
          <a:lstStyle/>
          <a:p>
            <a:pPr algn="r"/>
            <a:r>
              <a:rPr sz="4500" b="0" i="0">
                <a:solidFill>
                  <a:srgbClr val="8C8C8C"/>
                </a:solidFill>
                <a:latin typeface="Gotham Black"/>
              </a:rPr>
              <a:t>2</a:t>
            </a:r>
          </a:p>
        </p:txBody>
      </p:sp>
      <p:sp>
        <p:nvSpPr>
          <p:cNvPr id="130" name="TextBox 129"/>
          <p:cNvSpPr txBox="1"/>
          <p:nvPr/>
        </p:nvSpPr>
        <p:spPr>
          <a:xfrm>
            <a:off x="7760478" y="5956698"/>
            <a:ext cx="3472391" cy="1292052"/>
          </a:xfrm>
          <a:prstGeom prst="rect">
            <a:avLst/>
          </a:prstGeom>
          <a:noFill/>
        </p:spPr>
        <p:txBody>
          <a:bodyPr wrap="square" lIns="0" rIns="0" tIns="0" bIns="0" anchor="t">
            <a:noAutofit/>
          </a:bodyPr>
          <a:lstStyle/>
          <a:p>
            <a:pPr algn="l"/>
            <a:r>
              <a:rPr sz="2700" b="0" i="0">
                <a:solidFill>
                  <a:srgbClr val="1A1A1A"/>
                </a:solidFill>
                <a:latin typeface="Gotham Medium"/>
              </a:rPr>
              <a:t>Material goes on allocation</a:t>
            </a:r>
          </a:p>
        </p:txBody>
      </p:sp>
      <p:sp>
        <p:nvSpPr>
          <p:cNvPr id="131" name="TextBox 130"/>
          <p:cNvSpPr txBox="1"/>
          <p:nvPr/>
        </p:nvSpPr>
        <p:spPr>
          <a:xfrm>
            <a:off x="7760478" y="7248750"/>
            <a:ext cx="3472391" cy="1534312"/>
          </a:xfrm>
          <a:prstGeom prst="rect">
            <a:avLst/>
          </a:prstGeom>
          <a:noFill/>
        </p:spPr>
        <p:txBody>
          <a:bodyPr wrap="square" lIns="0" rIns="0" tIns="0" bIns="0" anchor="t">
            <a:noAutofit/>
          </a:bodyPr>
          <a:lstStyle/>
          <a:p>
            <a:pPr algn="l"/>
            <a:r>
              <a:rPr sz="2100" b="0" i="0">
                <a:solidFill>
                  <a:srgbClr val="5E5E5E"/>
                </a:solidFill>
                <a:latin typeface="Gotham Book"/>
              </a:rPr>
              <a:t>Your tier 1 learns late and rations what is left</a:t>
            </a:r>
          </a:p>
        </p:txBody>
      </p:sp>
      <p:sp>
        <p:nvSpPr>
          <p:cNvPr id="132" name="Chevron 131"/>
          <p:cNvSpPr/>
          <p:nvPr/>
        </p:nvSpPr>
        <p:spPr>
          <a:xfrm>
            <a:off x="11830443" y="6198958"/>
            <a:ext cx="258410" cy="484519"/>
          </a:xfrm>
          <a:prstGeom prst="chevron">
            <a:avLst/>
          </a:prstGeom>
          <a:solidFill>
            <a:srgbClr val="E97B05"/>
          </a:solidFill>
          <a:ln>
            <a:noFill/>
          </a:ln>
        </p:spPr>
        <p:txBody>
          <a:bodyPr rtlCol="0" anchor="ctr"/>
          <a:lstStyle/>
          <a:p>
            <a:pPr algn="ctr"/>
          </a:p>
        </p:txBody>
      </p:sp>
      <p:sp>
        <p:nvSpPr>
          <p:cNvPr id="133" name="Rectangle 132"/>
          <p:cNvSpPr/>
          <p:nvPr/>
        </p:nvSpPr>
        <p:spPr>
          <a:xfrm>
            <a:off x="12201908" y="3857112"/>
            <a:ext cx="4441430" cy="5168210"/>
          </a:xfrm>
          <a:prstGeom prst="rect">
            <a:avLst/>
          </a:prstGeom>
          <a:solidFill>
            <a:srgbClr val="F2F2F2"/>
          </a:solidFill>
          <a:ln>
            <a:noFill/>
          </a:ln>
        </p:spPr>
        <p:txBody>
          <a:bodyPr rtlCol="0" anchor="ctr"/>
          <a:lstStyle/>
          <a:p>
            <a:pPr algn="ctr"/>
          </a:p>
        </p:txBody>
      </p:sp>
      <p:sp>
        <p:nvSpPr>
          <p:cNvPr id="134" name="Rounded Rectangle 133"/>
          <p:cNvSpPr/>
          <p:nvPr/>
        </p:nvSpPr>
        <p:spPr>
          <a:xfrm>
            <a:off x="12686428" y="4422385"/>
            <a:ext cx="1130545" cy="1130545"/>
          </a:xfrm>
          <a:prstGeom prst="roundRect">
            <a:avLst>
              <a:gd name="adj" fmla="val 11428"/>
            </a:avLst>
          </a:prstGeom>
          <a:solidFill>
            <a:srgbClr val="1A1A1A"/>
          </a:solidFill>
          <a:ln>
            <a:noFill/>
          </a:ln>
        </p:spPr>
        <p:txBody>
          <a:bodyPr rtlCol="0" anchor="ctr"/>
          <a:lstStyle/>
          <a:p>
            <a:pPr algn="ctr"/>
          </a:p>
        </p:txBody>
      </p:sp>
      <p:pic>
        <p:nvPicPr>
          <p:cNvPr id="135" name="Picture 134" descr="image.png"/>
          <p:cNvPicPr>
            <a:picLocks noChangeAspect="1"/>
          </p:cNvPicPr>
          <p:nvPr/>
        </p:nvPicPr>
        <p:blipFill>
          <a:blip r:embed="rId4"/>
          <a:stretch>
            <a:fillRect/>
          </a:stretch>
        </p:blipFill>
        <p:spPr>
          <a:xfrm>
            <a:off x="12935148" y="4671106"/>
            <a:ext cx="633105" cy="633105"/>
          </a:xfrm>
          <a:prstGeom prst="rect">
            <a:avLst/>
          </a:prstGeom>
        </p:spPr>
      </p:pic>
      <p:sp>
        <p:nvSpPr>
          <p:cNvPr id="136" name="TextBox 135"/>
          <p:cNvSpPr txBox="1"/>
          <p:nvPr/>
        </p:nvSpPr>
        <p:spPr>
          <a:xfrm>
            <a:off x="15351286" y="4422385"/>
            <a:ext cx="807532" cy="1130545"/>
          </a:xfrm>
          <a:prstGeom prst="rect">
            <a:avLst/>
          </a:prstGeom>
          <a:noFill/>
        </p:spPr>
        <p:txBody>
          <a:bodyPr wrap="square" lIns="0" rIns="0" tIns="0" bIns="0" anchor="t">
            <a:noAutofit/>
          </a:bodyPr>
          <a:lstStyle/>
          <a:p>
            <a:pPr algn="r"/>
            <a:r>
              <a:rPr sz="4500" b="0" i="0">
                <a:solidFill>
                  <a:srgbClr val="8C8C8C"/>
                </a:solidFill>
                <a:latin typeface="Gotham Black"/>
              </a:rPr>
              <a:t>3</a:t>
            </a:r>
          </a:p>
        </p:txBody>
      </p:sp>
      <p:sp>
        <p:nvSpPr>
          <p:cNvPr id="137" name="TextBox 136"/>
          <p:cNvSpPr txBox="1"/>
          <p:nvPr/>
        </p:nvSpPr>
        <p:spPr>
          <a:xfrm>
            <a:off x="12686428" y="5956698"/>
            <a:ext cx="3472391" cy="1292052"/>
          </a:xfrm>
          <a:prstGeom prst="rect">
            <a:avLst/>
          </a:prstGeom>
          <a:noFill/>
        </p:spPr>
        <p:txBody>
          <a:bodyPr wrap="square" lIns="0" rIns="0" tIns="0" bIns="0" anchor="t">
            <a:noAutofit/>
          </a:bodyPr>
          <a:lstStyle/>
          <a:p>
            <a:pPr algn="l"/>
            <a:r>
              <a:rPr sz="2700" b="0" i="0">
                <a:solidFill>
                  <a:srgbClr val="1A1A1A"/>
                </a:solidFill>
                <a:latin typeface="Gotham Medium"/>
              </a:rPr>
              <a:t>Production plans get cut</a:t>
            </a:r>
          </a:p>
        </p:txBody>
      </p:sp>
      <p:sp>
        <p:nvSpPr>
          <p:cNvPr id="138" name="TextBox 137"/>
          <p:cNvSpPr txBox="1"/>
          <p:nvPr/>
        </p:nvSpPr>
        <p:spPr>
          <a:xfrm>
            <a:off x="12686428" y="7248750"/>
            <a:ext cx="3472391" cy="1534312"/>
          </a:xfrm>
          <a:prstGeom prst="rect">
            <a:avLst/>
          </a:prstGeom>
          <a:noFill/>
        </p:spPr>
        <p:txBody>
          <a:bodyPr wrap="square" lIns="0" rIns="0" tIns="0" bIns="0" anchor="t">
            <a:noAutofit/>
          </a:bodyPr>
          <a:lstStyle/>
          <a:p>
            <a:pPr algn="l"/>
            <a:r>
              <a:rPr sz="2100" b="0" i="0">
                <a:solidFill>
                  <a:srgbClr val="5E5E5E"/>
                </a:solidFill>
                <a:latin typeface="Gotham Book"/>
              </a:rPr>
              <a:t>Planners scramble with lead times that no longer hold</a:t>
            </a:r>
          </a:p>
        </p:txBody>
      </p:sp>
      <p:sp>
        <p:nvSpPr>
          <p:cNvPr id="139" name="Chevron 138"/>
          <p:cNvSpPr/>
          <p:nvPr/>
        </p:nvSpPr>
        <p:spPr>
          <a:xfrm>
            <a:off x="16756393" y="6198958"/>
            <a:ext cx="258410" cy="484519"/>
          </a:xfrm>
          <a:prstGeom prst="chevron">
            <a:avLst/>
          </a:prstGeom>
          <a:solidFill>
            <a:srgbClr val="E97B05"/>
          </a:solidFill>
          <a:ln>
            <a:noFill/>
          </a:ln>
        </p:spPr>
        <p:txBody>
          <a:bodyPr rtlCol="0" anchor="ctr"/>
          <a:lstStyle/>
          <a:p>
            <a:pPr algn="ctr"/>
          </a:p>
        </p:txBody>
      </p:sp>
      <p:sp>
        <p:nvSpPr>
          <p:cNvPr id="140" name="Rectangle 139"/>
          <p:cNvSpPr/>
          <p:nvPr/>
        </p:nvSpPr>
        <p:spPr>
          <a:xfrm>
            <a:off x="17127859" y="3857112"/>
            <a:ext cx="4441430" cy="5168210"/>
          </a:xfrm>
          <a:prstGeom prst="rect">
            <a:avLst/>
          </a:prstGeom>
          <a:solidFill>
            <a:srgbClr val="FDEBD3"/>
          </a:solidFill>
          <a:ln>
            <a:noFill/>
          </a:ln>
        </p:spPr>
        <p:txBody>
          <a:bodyPr rtlCol="0" anchor="ctr"/>
          <a:lstStyle/>
          <a:p>
            <a:pPr algn="ctr"/>
          </a:p>
        </p:txBody>
      </p:sp>
      <p:sp>
        <p:nvSpPr>
          <p:cNvPr id="141" name="Rounded Rectangle 140"/>
          <p:cNvSpPr/>
          <p:nvPr/>
        </p:nvSpPr>
        <p:spPr>
          <a:xfrm>
            <a:off x="17612378" y="4422385"/>
            <a:ext cx="1130545" cy="1130545"/>
          </a:xfrm>
          <a:prstGeom prst="roundRect">
            <a:avLst>
              <a:gd name="adj" fmla="val 11428"/>
            </a:avLst>
          </a:prstGeom>
          <a:solidFill>
            <a:srgbClr val="E97B05"/>
          </a:solidFill>
          <a:ln>
            <a:noFill/>
          </a:ln>
        </p:spPr>
        <p:txBody>
          <a:bodyPr rtlCol="0" anchor="ctr"/>
          <a:lstStyle/>
          <a:p>
            <a:pPr algn="ctr"/>
          </a:p>
        </p:txBody>
      </p:sp>
      <p:pic>
        <p:nvPicPr>
          <p:cNvPr id="142" name="Picture 141" descr="image.png"/>
          <p:cNvPicPr>
            <a:picLocks noChangeAspect="1"/>
          </p:cNvPicPr>
          <p:nvPr/>
        </p:nvPicPr>
        <p:blipFill>
          <a:blip r:embed="rId5"/>
          <a:stretch>
            <a:fillRect/>
          </a:stretch>
        </p:blipFill>
        <p:spPr>
          <a:xfrm>
            <a:off x="17861098" y="4671106"/>
            <a:ext cx="633105" cy="633105"/>
          </a:xfrm>
          <a:prstGeom prst="rect">
            <a:avLst/>
          </a:prstGeom>
        </p:spPr>
      </p:pic>
      <p:sp>
        <p:nvSpPr>
          <p:cNvPr id="143" name="TextBox 142"/>
          <p:cNvSpPr txBox="1"/>
          <p:nvPr/>
        </p:nvSpPr>
        <p:spPr>
          <a:xfrm>
            <a:off x="20277237" y="4422385"/>
            <a:ext cx="807532" cy="1130545"/>
          </a:xfrm>
          <a:prstGeom prst="rect">
            <a:avLst/>
          </a:prstGeom>
          <a:noFill/>
        </p:spPr>
        <p:txBody>
          <a:bodyPr wrap="square" lIns="0" rIns="0" tIns="0" bIns="0" anchor="t">
            <a:noAutofit/>
          </a:bodyPr>
          <a:lstStyle/>
          <a:p>
            <a:pPr algn="r"/>
            <a:r>
              <a:rPr sz="4500" b="0" i="0">
                <a:solidFill>
                  <a:srgbClr val="8C8C8C"/>
                </a:solidFill>
                <a:latin typeface="Gotham Black"/>
              </a:rPr>
              <a:t>4</a:t>
            </a:r>
          </a:p>
        </p:txBody>
      </p:sp>
      <p:sp>
        <p:nvSpPr>
          <p:cNvPr id="144" name="TextBox 143"/>
          <p:cNvSpPr txBox="1"/>
          <p:nvPr/>
        </p:nvSpPr>
        <p:spPr>
          <a:xfrm>
            <a:off x="17612378" y="5956698"/>
            <a:ext cx="3472391" cy="1292052"/>
          </a:xfrm>
          <a:prstGeom prst="rect">
            <a:avLst/>
          </a:prstGeom>
          <a:noFill/>
        </p:spPr>
        <p:txBody>
          <a:bodyPr wrap="square" lIns="0" rIns="0" tIns="0" bIns="0" anchor="t">
            <a:noAutofit/>
          </a:bodyPr>
          <a:lstStyle/>
          <a:p>
            <a:pPr algn="l"/>
            <a:r>
              <a:rPr sz="2700" b="0" i="0">
                <a:solidFill>
                  <a:srgbClr val="1A1A1A"/>
                </a:solidFill>
                <a:latin typeface="Gotham Medium"/>
              </a:rPr>
              <a:t>Customer commits slip</a:t>
            </a:r>
          </a:p>
        </p:txBody>
      </p:sp>
      <p:sp>
        <p:nvSpPr>
          <p:cNvPr id="145" name="TextBox 144"/>
          <p:cNvSpPr txBox="1"/>
          <p:nvPr/>
        </p:nvSpPr>
        <p:spPr>
          <a:xfrm>
            <a:off x="17612378" y="7248750"/>
            <a:ext cx="3472391" cy="1534312"/>
          </a:xfrm>
          <a:prstGeom prst="rect">
            <a:avLst/>
          </a:prstGeom>
          <a:noFill/>
        </p:spPr>
        <p:txBody>
          <a:bodyPr wrap="square" lIns="0" rIns="0" tIns="0" bIns="0" anchor="t">
            <a:noAutofit/>
          </a:bodyPr>
          <a:lstStyle/>
          <a:p>
            <a:pPr algn="l"/>
            <a:r>
              <a:rPr sz="2100" b="0" i="0">
                <a:solidFill>
                  <a:srgbClr val="5E5E5E"/>
                </a:solidFill>
                <a:latin typeface="Gotham Book"/>
              </a:rPr>
              <a:t>The first you hear of it is a missed ship date</a:t>
            </a:r>
          </a:p>
        </p:txBody>
      </p:sp>
      <p:sp>
        <p:nvSpPr>
          <p:cNvPr id="146" name="TextBox 145"/>
          <p:cNvSpPr txBox="1"/>
          <p:nvPr/>
        </p:nvSpPr>
        <p:spPr>
          <a:xfrm>
            <a:off x="2350008" y="9913609"/>
            <a:ext cx="19595592" cy="807532"/>
          </a:xfrm>
          <a:prstGeom prst="rect">
            <a:avLst/>
          </a:prstGeom>
          <a:noFill/>
        </p:spPr>
        <p:txBody>
          <a:bodyPr wrap="square" lIns="0" rIns="0" tIns="0" bIns="0" anchor="t">
            <a:noAutofit/>
          </a:bodyPr>
          <a:lstStyle/>
          <a:p>
            <a:pPr algn="l"/>
            <a:r>
              <a:rPr sz="2700" b="0" i="1">
                <a:solidFill>
                  <a:srgbClr val="B35900"/>
                </a:solidFill>
                <a:latin typeface="Gotham Book"/>
              </a:rPr>
              <a:t>The failure starts where most of us have the least visibility.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risk map</a:t>
            </a:r>
          </a:p>
        </p:txBody>
      </p:sp>
      <p:sp>
        <p:nvSpPr>
          <p:cNvPr id="3" name="TextBox 2"/>
          <p:cNvSpPr txBox="1"/>
          <p:nvPr/>
        </p:nvSpPr>
        <p:spPr>
          <a:xfrm>
            <a:off x="1078992" y="4526280"/>
            <a:ext cx="11155680" cy="2194560"/>
          </a:xfrm>
          <a:prstGeom prst="rect">
            <a:avLst/>
          </a:prstGeom>
          <a:noFill/>
        </p:spPr>
        <p:txBody>
          <a:bodyPr wrap="square" lIns="0" rIns="0" tIns="0" bIns="0" anchor="t">
            <a:noAutofit/>
          </a:bodyPr>
          <a:lstStyle/>
          <a:p>
            <a:pPr algn="l"/>
            <a:r>
              <a:rPr sz="2700" b="0" i="0">
                <a:solidFill>
                  <a:srgbClr val="5E5E5E"/>
                </a:solidFill>
                <a:latin typeface="Gotham Book"/>
              </a:rPr>
              <a:t>Where the global chain is fragile, and why it matters 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Specialization made the chain efficient and fragile</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THE RISK MAP</a:t>
            </a:r>
          </a:p>
        </p:txBody>
      </p:sp>
      <p:cxnSp>
        <p:nvCxnSpPr>
          <p:cNvPr id="119" name="Connector 118"/>
          <p:cNvCxnSpPr/>
          <p:nvPr/>
        </p:nvCxnSpPr>
        <p:spPr>
          <a:xfrm>
            <a:off x="3763190" y="5229918"/>
            <a:ext cx="16769227" cy="0"/>
          </a:xfrm>
          <a:prstGeom prst="line">
            <a:avLst/>
          </a:prstGeom>
          <a:ln w="57150">
            <a:solidFill>
              <a:srgbClr val="D5D5D5"/>
            </a:solidFill>
          </a:ln>
        </p:spPr>
      </p:cxnSp>
      <p:sp>
        <p:nvSpPr>
          <p:cNvPr id="120" name="Rounded Rectangle 119"/>
          <p:cNvSpPr/>
          <p:nvPr/>
        </p:nvSpPr>
        <p:spPr>
          <a:xfrm>
            <a:off x="2874904" y="4341632"/>
            <a:ext cx="1776572" cy="1776572"/>
          </a:xfrm>
          <a:prstGeom prst="roundRect">
            <a:avLst>
              <a:gd name="adj" fmla="val 7272"/>
            </a:avLst>
          </a:prstGeom>
          <a:solidFill>
            <a:srgbClr val="1A1A1A"/>
          </a:solidFill>
          <a:ln>
            <a:noFill/>
          </a:ln>
        </p:spPr>
        <p:txBody>
          <a:bodyPr rtlCol="0" anchor="ctr"/>
          <a:lstStyle/>
          <a:p>
            <a:pPr algn="ctr"/>
          </a:p>
        </p:txBody>
      </p:sp>
      <p:pic>
        <p:nvPicPr>
          <p:cNvPr id="121" name="Picture 120" descr="image.png"/>
          <p:cNvPicPr>
            <a:picLocks noChangeAspect="1"/>
          </p:cNvPicPr>
          <p:nvPr/>
        </p:nvPicPr>
        <p:blipFill>
          <a:blip r:embed="rId2"/>
          <a:stretch>
            <a:fillRect/>
          </a:stretch>
        </p:blipFill>
        <p:spPr>
          <a:xfrm>
            <a:off x="3265750" y="4732478"/>
            <a:ext cx="994880" cy="994880"/>
          </a:xfrm>
          <a:prstGeom prst="rect">
            <a:avLst/>
          </a:prstGeom>
        </p:spPr>
      </p:pic>
      <p:sp>
        <p:nvSpPr>
          <p:cNvPr id="122" name="TextBox 121"/>
          <p:cNvSpPr txBox="1"/>
          <p:nvPr/>
        </p:nvSpPr>
        <p:spPr>
          <a:xfrm>
            <a:off x="2350008" y="6360464"/>
            <a:ext cx="2826364" cy="807532"/>
          </a:xfrm>
          <a:prstGeom prst="rect">
            <a:avLst/>
          </a:prstGeom>
          <a:noFill/>
        </p:spPr>
        <p:txBody>
          <a:bodyPr wrap="square" lIns="0" rIns="0" tIns="0" bIns="0" anchor="t">
            <a:noAutofit/>
          </a:bodyPr>
          <a:lstStyle/>
          <a:p>
            <a:pPr algn="ctr"/>
            <a:r>
              <a:rPr sz="2250" b="0" i="0">
                <a:solidFill>
                  <a:srgbClr val="1A1A1A"/>
                </a:solidFill>
                <a:latin typeface="Gotham Medium"/>
              </a:rPr>
              <a:t>Design &amp; IP</a:t>
            </a:r>
          </a:p>
        </p:txBody>
      </p:sp>
      <p:sp>
        <p:nvSpPr>
          <p:cNvPr id="123" name="Rounded Rectangle 122"/>
          <p:cNvSpPr/>
          <p:nvPr/>
        </p:nvSpPr>
        <p:spPr>
          <a:xfrm>
            <a:off x="6228749" y="4341632"/>
            <a:ext cx="1776572" cy="1776572"/>
          </a:xfrm>
          <a:prstGeom prst="roundRect">
            <a:avLst>
              <a:gd name="adj" fmla="val 7272"/>
            </a:avLst>
          </a:prstGeom>
          <a:solidFill>
            <a:srgbClr val="1A1A1A"/>
          </a:solidFill>
          <a:ln>
            <a:noFill/>
          </a:ln>
        </p:spPr>
        <p:txBody>
          <a:bodyPr rtlCol="0" anchor="ctr"/>
          <a:lstStyle/>
          <a:p>
            <a:pPr algn="ctr"/>
          </a:p>
        </p:txBody>
      </p:sp>
      <p:pic>
        <p:nvPicPr>
          <p:cNvPr id="124" name="Picture 123" descr="image.png"/>
          <p:cNvPicPr>
            <a:picLocks noChangeAspect="1"/>
          </p:cNvPicPr>
          <p:nvPr/>
        </p:nvPicPr>
        <p:blipFill>
          <a:blip r:embed="rId3"/>
          <a:stretch>
            <a:fillRect/>
          </a:stretch>
        </p:blipFill>
        <p:spPr>
          <a:xfrm>
            <a:off x="6619595" y="4732478"/>
            <a:ext cx="994880" cy="994880"/>
          </a:xfrm>
          <a:prstGeom prst="rect">
            <a:avLst/>
          </a:prstGeom>
        </p:spPr>
      </p:pic>
      <p:sp>
        <p:nvSpPr>
          <p:cNvPr id="125" name="TextBox 124"/>
          <p:cNvSpPr txBox="1"/>
          <p:nvPr/>
        </p:nvSpPr>
        <p:spPr>
          <a:xfrm>
            <a:off x="5703853" y="6360464"/>
            <a:ext cx="2826364" cy="807532"/>
          </a:xfrm>
          <a:prstGeom prst="rect">
            <a:avLst/>
          </a:prstGeom>
          <a:noFill/>
        </p:spPr>
        <p:txBody>
          <a:bodyPr wrap="square" lIns="0" rIns="0" tIns="0" bIns="0" anchor="t">
            <a:noAutofit/>
          </a:bodyPr>
          <a:lstStyle/>
          <a:p>
            <a:pPr algn="ctr"/>
            <a:r>
              <a:rPr sz="2250" b="0" i="0">
                <a:solidFill>
                  <a:srgbClr val="1A1A1A"/>
                </a:solidFill>
                <a:latin typeface="Gotham Medium"/>
              </a:rPr>
              <a:t>Materials &amp; gases</a:t>
            </a:r>
          </a:p>
        </p:txBody>
      </p:sp>
      <p:sp>
        <p:nvSpPr>
          <p:cNvPr id="126" name="Rounded Rectangle 125"/>
          <p:cNvSpPr/>
          <p:nvPr/>
        </p:nvSpPr>
        <p:spPr>
          <a:xfrm>
            <a:off x="9582595" y="4341632"/>
            <a:ext cx="1776572" cy="1776572"/>
          </a:xfrm>
          <a:prstGeom prst="roundRect">
            <a:avLst>
              <a:gd name="adj" fmla="val 7272"/>
            </a:avLst>
          </a:prstGeom>
          <a:solidFill>
            <a:srgbClr val="1A1A1A"/>
          </a:solidFill>
          <a:ln>
            <a:noFill/>
          </a:ln>
        </p:spPr>
        <p:txBody>
          <a:bodyPr rtlCol="0" anchor="ctr"/>
          <a:lstStyle/>
          <a:p>
            <a:pPr algn="ctr"/>
          </a:p>
        </p:txBody>
      </p:sp>
      <p:pic>
        <p:nvPicPr>
          <p:cNvPr id="127" name="Picture 126" descr="image.png"/>
          <p:cNvPicPr>
            <a:picLocks noChangeAspect="1"/>
          </p:cNvPicPr>
          <p:nvPr/>
        </p:nvPicPr>
        <p:blipFill>
          <a:blip r:embed="rId4"/>
          <a:stretch>
            <a:fillRect/>
          </a:stretch>
        </p:blipFill>
        <p:spPr>
          <a:xfrm>
            <a:off x="9973441" y="4732478"/>
            <a:ext cx="994880" cy="994880"/>
          </a:xfrm>
          <a:prstGeom prst="rect">
            <a:avLst/>
          </a:prstGeom>
        </p:spPr>
      </p:pic>
      <p:sp>
        <p:nvSpPr>
          <p:cNvPr id="128" name="TextBox 127"/>
          <p:cNvSpPr txBox="1"/>
          <p:nvPr/>
        </p:nvSpPr>
        <p:spPr>
          <a:xfrm>
            <a:off x="9057698" y="6360464"/>
            <a:ext cx="2826364" cy="807532"/>
          </a:xfrm>
          <a:prstGeom prst="rect">
            <a:avLst/>
          </a:prstGeom>
          <a:noFill/>
        </p:spPr>
        <p:txBody>
          <a:bodyPr wrap="square" lIns="0" rIns="0" tIns="0" bIns="0" anchor="t">
            <a:noAutofit/>
          </a:bodyPr>
          <a:lstStyle/>
          <a:p>
            <a:pPr algn="ctr"/>
            <a:r>
              <a:rPr sz="2250" b="0" i="0">
                <a:solidFill>
                  <a:srgbClr val="1A1A1A"/>
                </a:solidFill>
                <a:latin typeface="Gotham Medium"/>
              </a:rPr>
              <a:t>Equipment</a:t>
            </a:r>
          </a:p>
        </p:txBody>
      </p:sp>
      <p:sp>
        <p:nvSpPr>
          <p:cNvPr id="129" name="Rounded Rectangle 128"/>
          <p:cNvSpPr/>
          <p:nvPr/>
        </p:nvSpPr>
        <p:spPr>
          <a:xfrm>
            <a:off x="12936440" y="4341632"/>
            <a:ext cx="1776572" cy="1776572"/>
          </a:xfrm>
          <a:prstGeom prst="roundRect">
            <a:avLst>
              <a:gd name="adj" fmla="val 7272"/>
            </a:avLst>
          </a:prstGeom>
          <a:solidFill>
            <a:srgbClr val="E97B05"/>
          </a:solidFill>
          <a:ln>
            <a:noFill/>
          </a:ln>
        </p:spPr>
        <p:txBody>
          <a:bodyPr rtlCol="0" anchor="ctr"/>
          <a:lstStyle/>
          <a:p>
            <a:pPr algn="ctr"/>
          </a:p>
        </p:txBody>
      </p:sp>
      <p:pic>
        <p:nvPicPr>
          <p:cNvPr id="130" name="Picture 129" descr="image.png"/>
          <p:cNvPicPr>
            <a:picLocks noChangeAspect="1"/>
          </p:cNvPicPr>
          <p:nvPr/>
        </p:nvPicPr>
        <p:blipFill>
          <a:blip r:embed="rId5"/>
          <a:stretch>
            <a:fillRect/>
          </a:stretch>
        </p:blipFill>
        <p:spPr>
          <a:xfrm>
            <a:off x="13327286" y="4732478"/>
            <a:ext cx="994880" cy="994880"/>
          </a:xfrm>
          <a:prstGeom prst="rect">
            <a:avLst/>
          </a:prstGeom>
        </p:spPr>
      </p:pic>
      <p:sp>
        <p:nvSpPr>
          <p:cNvPr id="131" name="TextBox 130"/>
          <p:cNvSpPr txBox="1"/>
          <p:nvPr/>
        </p:nvSpPr>
        <p:spPr>
          <a:xfrm>
            <a:off x="12411544" y="6360464"/>
            <a:ext cx="2826364" cy="807532"/>
          </a:xfrm>
          <a:prstGeom prst="rect">
            <a:avLst/>
          </a:prstGeom>
          <a:noFill/>
        </p:spPr>
        <p:txBody>
          <a:bodyPr wrap="square" lIns="0" rIns="0" tIns="0" bIns="0" anchor="t">
            <a:noAutofit/>
          </a:bodyPr>
          <a:lstStyle/>
          <a:p>
            <a:pPr algn="ctr"/>
            <a:r>
              <a:rPr sz="2250" b="0" i="0">
                <a:solidFill>
                  <a:srgbClr val="1A1A1A"/>
                </a:solidFill>
                <a:latin typeface="Gotham Medium"/>
              </a:rPr>
              <a:t>Wafer fab</a:t>
            </a:r>
          </a:p>
        </p:txBody>
      </p:sp>
      <p:sp>
        <p:nvSpPr>
          <p:cNvPr id="132" name="Rounded Rectangle 131"/>
          <p:cNvSpPr/>
          <p:nvPr/>
        </p:nvSpPr>
        <p:spPr>
          <a:xfrm>
            <a:off x="16290285" y="4341632"/>
            <a:ext cx="1776572" cy="1776572"/>
          </a:xfrm>
          <a:prstGeom prst="roundRect">
            <a:avLst>
              <a:gd name="adj" fmla="val 7272"/>
            </a:avLst>
          </a:prstGeom>
          <a:solidFill>
            <a:srgbClr val="1A1A1A"/>
          </a:solidFill>
          <a:ln>
            <a:noFill/>
          </a:ln>
        </p:spPr>
        <p:txBody>
          <a:bodyPr rtlCol="0" anchor="ctr"/>
          <a:lstStyle/>
          <a:p>
            <a:pPr algn="ctr"/>
          </a:p>
        </p:txBody>
      </p:sp>
      <p:pic>
        <p:nvPicPr>
          <p:cNvPr id="133" name="Picture 132" descr="image.png"/>
          <p:cNvPicPr>
            <a:picLocks noChangeAspect="1"/>
          </p:cNvPicPr>
          <p:nvPr/>
        </p:nvPicPr>
        <p:blipFill>
          <a:blip r:embed="rId6"/>
          <a:stretch>
            <a:fillRect/>
          </a:stretch>
        </p:blipFill>
        <p:spPr>
          <a:xfrm>
            <a:off x="16681131" y="4732478"/>
            <a:ext cx="994880" cy="994880"/>
          </a:xfrm>
          <a:prstGeom prst="rect">
            <a:avLst/>
          </a:prstGeom>
        </p:spPr>
      </p:pic>
      <p:sp>
        <p:nvSpPr>
          <p:cNvPr id="134" name="TextBox 133"/>
          <p:cNvSpPr txBox="1"/>
          <p:nvPr/>
        </p:nvSpPr>
        <p:spPr>
          <a:xfrm>
            <a:off x="15765389" y="6360464"/>
            <a:ext cx="2826364" cy="807532"/>
          </a:xfrm>
          <a:prstGeom prst="rect">
            <a:avLst/>
          </a:prstGeom>
          <a:noFill/>
        </p:spPr>
        <p:txBody>
          <a:bodyPr wrap="square" lIns="0" rIns="0" tIns="0" bIns="0" anchor="t">
            <a:noAutofit/>
          </a:bodyPr>
          <a:lstStyle/>
          <a:p>
            <a:pPr algn="ctr"/>
            <a:r>
              <a:rPr sz="2250" b="0" i="0">
                <a:solidFill>
                  <a:srgbClr val="1A1A1A"/>
                </a:solidFill>
                <a:latin typeface="Gotham Medium"/>
              </a:rPr>
              <a:t>Assembly &amp; test</a:t>
            </a:r>
          </a:p>
        </p:txBody>
      </p:sp>
      <p:sp>
        <p:nvSpPr>
          <p:cNvPr id="135" name="Rounded Rectangle 134"/>
          <p:cNvSpPr/>
          <p:nvPr/>
        </p:nvSpPr>
        <p:spPr>
          <a:xfrm>
            <a:off x="19644131" y="4341632"/>
            <a:ext cx="1776572" cy="1776572"/>
          </a:xfrm>
          <a:prstGeom prst="roundRect">
            <a:avLst>
              <a:gd name="adj" fmla="val 7272"/>
            </a:avLst>
          </a:prstGeom>
          <a:solidFill>
            <a:srgbClr val="1A1A1A"/>
          </a:solidFill>
          <a:ln>
            <a:noFill/>
          </a:ln>
        </p:spPr>
        <p:txBody>
          <a:bodyPr rtlCol="0" anchor="ctr"/>
          <a:lstStyle/>
          <a:p>
            <a:pPr algn="ctr"/>
          </a:p>
        </p:txBody>
      </p:sp>
      <p:pic>
        <p:nvPicPr>
          <p:cNvPr id="136" name="Picture 135" descr="image.png"/>
          <p:cNvPicPr>
            <a:picLocks noChangeAspect="1"/>
          </p:cNvPicPr>
          <p:nvPr/>
        </p:nvPicPr>
        <p:blipFill>
          <a:blip r:embed="rId7"/>
          <a:stretch>
            <a:fillRect/>
          </a:stretch>
        </p:blipFill>
        <p:spPr>
          <a:xfrm>
            <a:off x="20034977" y="4732478"/>
            <a:ext cx="994880" cy="994880"/>
          </a:xfrm>
          <a:prstGeom prst="rect">
            <a:avLst/>
          </a:prstGeom>
        </p:spPr>
      </p:pic>
      <p:sp>
        <p:nvSpPr>
          <p:cNvPr id="137" name="TextBox 136"/>
          <p:cNvSpPr txBox="1"/>
          <p:nvPr/>
        </p:nvSpPr>
        <p:spPr>
          <a:xfrm>
            <a:off x="19119235" y="6360464"/>
            <a:ext cx="2826364" cy="807532"/>
          </a:xfrm>
          <a:prstGeom prst="rect">
            <a:avLst/>
          </a:prstGeom>
          <a:noFill/>
        </p:spPr>
        <p:txBody>
          <a:bodyPr wrap="square" lIns="0" rIns="0" tIns="0" bIns="0" anchor="t">
            <a:noAutofit/>
          </a:bodyPr>
          <a:lstStyle/>
          <a:p>
            <a:pPr algn="ctr"/>
            <a:r>
              <a:rPr sz="2250" b="0" i="0">
                <a:solidFill>
                  <a:srgbClr val="1A1A1A"/>
                </a:solidFill>
                <a:latin typeface="Gotham Medium"/>
              </a:rPr>
              <a:t>Customers</a:t>
            </a:r>
          </a:p>
        </p:txBody>
      </p:sp>
      <p:sp>
        <p:nvSpPr>
          <p:cNvPr id="138" name="Rectangle 137"/>
          <p:cNvSpPr/>
          <p:nvPr/>
        </p:nvSpPr>
        <p:spPr>
          <a:xfrm>
            <a:off x="2350008" y="7814023"/>
            <a:ext cx="9528887" cy="3068624"/>
          </a:xfrm>
          <a:prstGeom prst="rect">
            <a:avLst/>
          </a:prstGeom>
          <a:solidFill>
            <a:srgbClr val="F2F2F2"/>
          </a:solidFill>
          <a:ln>
            <a:noFill/>
          </a:ln>
        </p:spPr>
        <p:txBody>
          <a:bodyPr rtlCol="0" anchor="ctr"/>
          <a:lstStyle/>
          <a:p>
            <a:pPr algn="ctr"/>
          </a:p>
        </p:txBody>
      </p:sp>
      <p:sp>
        <p:nvSpPr>
          <p:cNvPr id="139" name="TextBox 138"/>
          <p:cNvSpPr txBox="1"/>
          <p:nvPr/>
        </p:nvSpPr>
        <p:spPr>
          <a:xfrm>
            <a:off x="2834527" y="8137037"/>
            <a:ext cx="8559848" cy="726779"/>
          </a:xfrm>
          <a:prstGeom prst="rect">
            <a:avLst/>
          </a:prstGeom>
          <a:noFill/>
        </p:spPr>
        <p:txBody>
          <a:bodyPr wrap="square" lIns="0" rIns="0" tIns="0" bIns="0" anchor="t">
            <a:noAutofit/>
          </a:bodyPr>
          <a:lstStyle/>
          <a:p>
            <a:pPr algn="l"/>
            <a:r>
              <a:rPr sz="2700" b="0" i="0">
                <a:solidFill>
                  <a:srgbClr val="1A1A1A"/>
                </a:solidFill>
                <a:latin typeface="Gotham Medium"/>
              </a:rPr>
              <a:t>Each step is specialized</a:t>
            </a:r>
          </a:p>
        </p:txBody>
      </p:sp>
      <p:sp>
        <p:nvSpPr>
          <p:cNvPr id="140" name="TextBox 139"/>
          <p:cNvSpPr txBox="1"/>
          <p:nvPr/>
        </p:nvSpPr>
        <p:spPr>
          <a:xfrm>
            <a:off x="2834527" y="8944569"/>
            <a:ext cx="8559848" cy="1695818"/>
          </a:xfrm>
          <a:prstGeom prst="rect">
            <a:avLst/>
          </a:prstGeom>
          <a:noFill/>
        </p:spPr>
        <p:txBody>
          <a:bodyPr wrap="square" lIns="0" rIns="0" tIns="0" bIns="0" anchor="t">
            <a:noAutofit/>
          </a:bodyPr>
          <a:lstStyle/>
          <a:p>
            <a:pPr algn="l"/>
            <a:r>
              <a:rPr sz="2250" b="0" i="0">
                <a:solidFill>
                  <a:srgbClr val="5E5E5E"/>
                </a:solidFill>
                <a:latin typeface="Gotham Book"/>
              </a:rPr>
              <a:t>Few qualified sources exist for many inputs, and qualifying a new one takes months to years.</a:t>
            </a:r>
          </a:p>
        </p:txBody>
      </p:sp>
      <p:sp>
        <p:nvSpPr>
          <p:cNvPr id="141" name="Rectangle 140"/>
          <p:cNvSpPr/>
          <p:nvPr/>
        </p:nvSpPr>
        <p:spPr>
          <a:xfrm>
            <a:off x="12363415" y="7814023"/>
            <a:ext cx="9528887" cy="3068624"/>
          </a:xfrm>
          <a:prstGeom prst="rect">
            <a:avLst/>
          </a:prstGeom>
          <a:solidFill>
            <a:srgbClr val="F2F2F2"/>
          </a:solidFill>
          <a:ln>
            <a:noFill/>
          </a:ln>
        </p:spPr>
        <p:txBody>
          <a:bodyPr rtlCol="0" anchor="ctr"/>
          <a:lstStyle/>
          <a:p>
            <a:pPr algn="ctr"/>
          </a:p>
        </p:txBody>
      </p:sp>
      <p:sp>
        <p:nvSpPr>
          <p:cNvPr id="142" name="TextBox 141"/>
          <p:cNvSpPr txBox="1"/>
          <p:nvPr/>
        </p:nvSpPr>
        <p:spPr>
          <a:xfrm>
            <a:off x="12847934" y="8137037"/>
            <a:ext cx="8559848" cy="726779"/>
          </a:xfrm>
          <a:prstGeom prst="rect">
            <a:avLst/>
          </a:prstGeom>
          <a:noFill/>
        </p:spPr>
        <p:txBody>
          <a:bodyPr wrap="square" lIns="0" rIns="0" tIns="0" bIns="0" anchor="t">
            <a:noAutofit/>
          </a:bodyPr>
          <a:lstStyle/>
          <a:p>
            <a:pPr algn="l"/>
            <a:r>
              <a:rPr sz="2700" b="0" i="0">
                <a:solidFill>
                  <a:srgbClr val="1A1A1A"/>
                </a:solidFill>
                <a:latin typeface="Gotham Medium"/>
              </a:rPr>
              <a:t>Each hand-off can cross a border</a:t>
            </a:r>
          </a:p>
        </p:txBody>
      </p:sp>
      <p:sp>
        <p:nvSpPr>
          <p:cNvPr id="143" name="TextBox 142"/>
          <p:cNvSpPr txBox="1"/>
          <p:nvPr/>
        </p:nvSpPr>
        <p:spPr>
          <a:xfrm>
            <a:off x="12847934" y="8944569"/>
            <a:ext cx="8559848" cy="1695818"/>
          </a:xfrm>
          <a:prstGeom prst="rect">
            <a:avLst/>
          </a:prstGeom>
          <a:noFill/>
        </p:spPr>
        <p:txBody>
          <a:bodyPr wrap="square" lIns="0" rIns="0" tIns="0" bIns="0" anchor="t">
            <a:noAutofit/>
          </a:bodyPr>
          <a:lstStyle/>
          <a:p>
            <a:pPr algn="l"/>
            <a:r>
              <a:rPr sz="2250" b="0" i="0">
                <a:solidFill>
                  <a:srgbClr val="5E5E5E"/>
                </a:solidFill>
                <a:latin typeface="Gotham Book"/>
              </a:rPr>
              <a:t>Parts and materials often move through several countries before a finished chip ships, so trade policy, logistics, and local events all add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Three pressures are tightening the chain right now</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THE RISK MAP</a:t>
            </a:r>
          </a:p>
        </p:txBody>
      </p:sp>
      <p:sp>
        <p:nvSpPr>
          <p:cNvPr id="119" name="Rectangle 118"/>
          <p:cNvSpPr/>
          <p:nvPr/>
        </p:nvSpPr>
        <p:spPr>
          <a:xfrm>
            <a:off x="2350008" y="3534099"/>
            <a:ext cx="6218002" cy="6783275"/>
          </a:xfrm>
          <a:prstGeom prst="rect">
            <a:avLst/>
          </a:prstGeom>
          <a:solidFill>
            <a:srgbClr val="1A1A1A"/>
          </a:solidFill>
          <a:ln>
            <a:noFill/>
          </a:ln>
        </p:spPr>
        <p:txBody>
          <a:bodyPr rtlCol="0" anchor="ctr"/>
          <a:lstStyle/>
          <a:p>
            <a:pPr algn="ctr"/>
          </a:p>
        </p:txBody>
      </p:sp>
      <p:sp>
        <p:nvSpPr>
          <p:cNvPr id="120" name="TextBox 119"/>
          <p:cNvSpPr txBox="1"/>
          <p:nvPr/>
        </p:nvSpPr>
        <p:spPr>
          <a:xfrm>
            <a:off x="2915280" y="4018619"/>
            <a:ext cx="5087456" cy="1776572"/>
          </a:xfrm>
          <a:prstGeom prst="rect">
            <a:avLst/>
          </a:prstGeom>
          <a:noFill/>
        </p:spPr>
        <p:txBody>
          <a:bodyPr wrap="square" lIns="0" rIns="0" tIns="0" bIns="0" anchor="ctr">
            <a:noAutofit/>
          </a:bodyPr>
          <a:lstStyle/>
          <a:p>
            <a:pPr algn="l"/>
            <a:r>
              <a:rPr sz="8100" b="0" i="0">
                <a:solidFill>
                  <a:srgbClr val="E97B05"/>
                </a:solidFill>
                <a:latin typeface="Gotham Black"/>
              </a:rPr>
              <a:t>100%</a:t>
            </a:r>
          </a:p>
        </p:txBody>
      </p:sp>
      <p:sp>
        <p:nvSpPr>
          <p:cNvPr id="121" name="TextBox 120"/>
          <p:cNvSpPr txBox="1"/>
          <p:nvPr/>
        </p:nvSpPr>
        <p:spPr>
          <a:xfrm>
            <a:off x="2915280" y="5956698"/>
            <a:ext cx="5087456" cy="807532"/>
          </a:xfrm>
          <a:prstGeom prst="rect">
            <a:avLst/>
          </a:prstGeom>
          <a:noFill/>
        </p:spPr>
        <p:txBody>
          <a:bodyPr wrap="square" lIns="0" rIns="0" tIns="0" bIns="0" anchor="t">
            <a:noAutofit/>
          </a:bodyPr>
          <a:lstStyle/>
          <a:p>
            <a:pPr algn="l"/>
            <a:r>
              <a:rPr sz="2700" b="0" i="0">
                <a:solidFill>
                  <a:srgbClr val="FFFFFF"/>
                </a:solidFill>
                <a:latin typeface="Gotham Medium"/>
              </a:rPr>
              <a:t>Advanced logic in two places</a:t>
            </a:r>
          </a:p>
        </p:txBody>
      </p:sp>
      <p:sp>
        <p:nvSpPr>
          <p:cNvPr id="122" name="TextBox 121"/>
          <p:cNvSpPr txBox="1"/>
          <p:nvPr/>
        </p:nvSpPr>
        <p:spPr>
          <a:xfrm>
            <a:off x="2915280" y="6844984"/>
            <a:ext cx="5087456" cy="2503351"/>
          </a:xfrm>
          <a:prstGeom prst="rect">
            <a:avLst/>
          </a:prstGeom>
          <a:noFill/>
        </p:spPr>
        <p:txBody>
          <a:bodyPr wrap="square" lIns="0" rIns="0" tIns="0" bIns="0" anchor="t">
            <a:noAutofit/>
          </a:bodyPr>
          <a:lstStyle/>
          <a:p>
            <a:pPr algn="l"/>
            <a:r>
              <a:rPr sz="2100" b="0" i="0">
                <a:solidFill>
                  <a:srgbClr val="D5D5D5"/>
                </a:solidFill>
                <a:latin typeface="Gotham Book"/>
              </a:rPr>
              <a:t>In 2022, all sub-10 nm logic capacity was in Taiwan (69%) and South Korea (31%). A regional conflict or blockade would hit nearly every advanced product.</a:t>
            </a:r>
          </a:p>
        </p:txBody>
      </p:sp>
      <p:sp>
        <p:nvSpPr>
          <p:cNvPr id="123" name="TextBox 122"/>
          <p:cNvSpPr txBox="1"/>
          <p:nvPr/>
        </p:nvSpPr>
        <p:spPr>
          <a:xfrm>
            <a:off x="2915280" y="9509842"/>
            <a:ext cx="5087456" cy="484519"/>
          </a:xfrm>
          <a:prstGeom prst="rect">
            <a:avLst/>
          </a:prstGeom>
          <a:noFill/>
        </p:spPr>
        <p:txBody>
          <a:bodyPr wrap="square" lIns="0" rIns="0" tIns="0" bIns="0" anchor="t">
            <a:noAutofit/>
          </a:bodyPr>
          <a:lstStyle/>
          <a:p>
            <a:pPr algn="l"/>
            <a:r>
              <a:rPr sz="1500" b="0" i="1">
                <a:solidFill>
                  <a:srgbClr val="8C8C8C"/>
                </a:solidFill>
                <a:latin typeface="Gotham Book"/>
              </a:rPr>
              <a:t>Source: SIA &amp; BCG (2024)</a:t>
            </a:r>
          </a:p>
        </p:txBody>
      </p:sp>
      <p:sp>
        <p:nvSpPr>
          <p:cNvPr id="124" name="Rectangle 123"/>
          <p:cNvSpPr/>
          <p:nvPr/>
        </p:nvSpPr>
        <p:spPr>
          <a:xfrm>
            <a:off x="9052530" y="3534099"/>
            <a:ext cx="6218002" cy="6783275"/>
          </a:xfrm>
          <a:prstGeom prst="rect">
            <a:avLst/>
          </a:prstGeom>
          <a:solidFill>
            <a:srgbClr val="F2F2F2"/>
          </a:solidFill>
          <a:ln>
            <a:noFill/>
          </a:ln>
        </p:spPr>
        <p:txBody>
          <a:bodyPr rtlCol="0" anchor="ctr"/>
          <a:lstStyle/>
          <a:p>
            <a:pPr algn="ctr"/>
          </a:p>
        </p:txBody>
      </p:sp>
      <p:sp>
        <p:nvSpPr>
          <p:cNvPr id="125" name="TextBox 124"/>
          <p:cNvSpPr txBox="1"/>
          <p:nvPr/>
        </p:nvSpPr>
        <p:spPr>
          <a:xfrm>
            <a:off x="9617803" y="4018619"/>
            <a:ext cx="5087456" cy="1776572"/>
          </a:xfrm>
          <a:prstGeom prst="rect">
            <a:avLst/>
          </a:prstGeom>
          <a:noFill/>
        </p:spPr>
        <p:txBody>
          <a:bodyPr wrap="square" lIns="0" rIns="0" tIns="0" bIns="0" anchor="ctr">
            <a:noAutofit/>
          </a:bodyPr>
          <a:lstStyle/>
          <a:p>
            <a:pPr algn="l"/>
            <a:r>
              <a:rPr sz="8100" b="0" i="0">
                <a:solidFill>
                  <a:srgbClr val="E97B05"/>
                </a:solidFill>
                <a:latin typeface="Gotham Black"/>
              </a:rPr>
              <a:t>99%</a:t>
            </a:r>
          </a:p>
        </p:txBody>
      </p:sp>
      <p:sp>
        <p:nvSpPr>
          <p:cNvPr id="126" name="TextBox 125"/>
          <p:cNvSpPr txBox="1"/>
          <p:nvPr/>
        </p:nvSpPr>
        <p:spPr>
          <a:xfrm>
            <a:off x="9617803" y="5956698"/>
            <a:ext cx="5087456" cy="807532"/>
          </a:xfrm>
          <a:prstGeom prst="rect">
            <a:avLst/>
          </a:prstGeom>
          <a:noFill/>
        </p:spPr>
        <p:txBody>
          <a:bodyPr wrap="square" lIns="0" rIns="0" tIns="0" bIns="0" anchor="t">
            <a:noAutofit/>
          </a:bodyPr>
          <a:lstStyle/>
          <a:p>
            <a:pPr algn="l"/>
            <a:r>
              <a:rPr sz="2700" b="0" i="0">
                <a:solidFill>
                  <a:srgbClr val="1A1A1A"/>
                </a:solidFill>
                <a:latin typeface="Gotham Medium"/>
              </a:rPr>
              <a:t>Gallium from one country</a:t>
            </a:r>
          </a:p>
        </p:txBody>
      </p:sp>
      <p:sp>
        <p:nvSpPr>
          <p:cNvPr id="127" name="TextBox 126"/>
          <p:cNvSpPr txBox="1"/>
          <p:nvPr/>
        </p:nvSpPr>
        <p:spPr>
          <a:xfrm>
            <a:off x="9617803" y="6844984"/>
            <a:ext cx="5087456" cy="2503351"/>
          </a:xfrm>
          <a:prstGeom prst="rect">
            <a:avLst/>
          </a:prstGeom>
          <a:noFill/>
        </p:spPr>
        <p:txBody>
          <a:bodyPr wrap="square" lIns="0" rIns="0" tIns="0" bIns="0" anchor="t">
            <a:noAutofit/>
          </a:bodyPr>
          <a:lstStyle/>
          <a:p>
            <a:pPr algn="l"/>
            <a:r>
              <a:rPr sz="2100" b="0" i="0">
                <a:solidFill>
                  <a:srgbClr val="5E5E5E"/>
                </a:solidFill>
                <a:latin typeface="Gotham Book"/>
              </a:rPr>
              <a:t>China produced 99% of the world's primary gallium in 2024, and has put export licensing and bans on gallium and germanium since 2023.</a:t>
            </a:r>
          </a:p>
        </p:txBody>
      </p:sp>
      <p:sp>
        <p:nvSpPr>
          <p:cNvPr id="128" name="TextBox 127"/>
          <p:cNvSpPr txBox="1"/>
          <p:nvPr/>
        </p:nvSpPr>
        <p:spPr>
          <a:xfrm>
            <a:off x="9617803" y="9509842"/>
            <a:ext cx="5087456" cy="484519"/>
          </a:xfrm>
          <a:prstGeom prst="rect">
            <a:avLst/>
          </a:prstGeom>
          <a:noFill/>
        </p:spPr>
        <p:txBody>
          <a:bodyPr wrap="square" lIns="0" rIns="0" tIns="0" bIns="0" anchor="t">
            <a:noAutofit/>
          </a:bodyPr>
          <a:lstStyle/>
          <a:p>
            <a:pPr algn="l"/>
            <a:r>
              <a:rPr sz="1500" b="0" i="1">
                <a:solidFill>
                  <a:srgbClr val="8C8C8C"/>
                </a:solidFill>
                <a:latin typeface="Gotham Book"/>
              </a:rPr>
              <a:t>Source: USGS Mineral Commodity Summaries 2025</a:t>
            </a:r>
          </a:p>
        </p:txBody>
      </p:sp>
      <p:sp>
        <p:nvSpPr>
          <p:cNvPr id="129" name="Rectangle 128"/>
          <p:cNvSpPr/>
          <p:nvPr/>
        </p:nvSpPr>
        <p:spPr>
          <a:xfrm>
            <a:off x="15755053" y="3534099"/>
            <a:ext cx="6218002" cy="6783275"/>
          </a:xfrm>
          <a:prstGeom prst="rect">
            <a:avLst/>
          </a:prstGeom>
          <a:solidFill>
            <a:srgbClr val="F2F2F2"/>
          </a:solidFill>
          <a:ln>
            <a:noFill/>
          </a:ln>
        </p:spPr>
        <p:txBody>
          <a:bodyPr rtlCol="0" anchor="ctr"/>
          <a:lstStyle/>
          <a:p>
            <a:pPr algn="ctr"/>
          </a:p>
        </p:txBody>
      </p:sp>
      <p:sp>
        <p:nvSpPr>
          <p:cNvPr id="130" name="TextBox 129"/>
          <p:cNvSpPr txBox="1"/>
          <p:nvPr/>
        </p:nvSpPr>
        <p:spPr>
          <a:xfrm>
            <a:off x="16320326" y="4018619"/>
            <a:ext cx="5087456" cy="1776572"/>
          </a:xfrm>
          <a:prstGeom prst="rect">
            <a:avLst/>
          </a:prstGeom>
          <a:noFill/>
        </p:spPr>
        <p:txBody>
          <a:bodyPr wrap="square" lIns="0" rIns="0" tIns="0" bIns="0" anchor="ctr">
            <a:noAutofit/>
          </a:bodyPr>
          <a:lstStyle/>
          <a:p>
            <a:pPr algn="l"/>
            <a:r>
              <a:rPr sz="8100" b="0" i="0">
                <a:solidFill>
                  <a:srgbClr val="E97B05"/>
                </a:solidFill>
                <a:latin typeface="Gotham Black"/>
              </a:rPr>
              <a:t>HBM</a:t>
            </a:r>
          </a:p>
        </p:txBody>
      </p:sp>
      <p:sp>
        <p:nvSpPr>
          <p:cNvPr id="131" name="TextBox 130"/>
          <p:cNvSpPr txBox="1"/>
          <p:nvPr/>
        </p:nvSpPr>
        <p:spPr>
          <a:xfrm>
            <a:off x="16320326" y="5956698"/>
            <a:ext cx="5087456" cy="807532"/>
          </a:xfrm>
          <a:prstGeom prst="rect">
            <a:avLst/>
          </a:prstGeom>
          <a:noFill/>
        </p:spPr>
        <p:txBody>
          <a:bodyPr wrap="square" lIns="0" rIns="0" tIns="0" bIns="0" anchor="t">
            <a:noAutofit/>
          </a:bodyPr>
          <a:lstStyle/>
          <a:p>
            <a:pPr algn="l"/>
            <a:r>
              <a:rPr sz="2700" b="0" i="0">
                <a:solidFill>
                  <a:srgbClr val="1A1A1A"/>
                </a:solidFill>
                <a:latin typeface="Gotham Medium"/>
              </a:rPr>
              <a:t>AI demand absorbs capacity</a:t>
            </a:r>
          </a:p>
        </p:txBody>
      </p:sp>
      <p:sp>
        <p:nvSpPr>
          <p:cNvPr id="132" name="TextBox 131"/>
          <p:cNvSpPr txBox="1"/>
          <p:nvPr/>
        </p:nvSpPr>
        <p:spPr>
          <a:xfrm>
            <a:off x="16320326" y="6844984"/>
            <a:ext cx="5087456" cy="2503351"/>
          </a:xfrm>
          <a:prstGeom prst="rect">
            <a:avLst/>
          </a:prstGeom>
          <a:noFill/>
        </p:spPr>
        <p:txBody>
          <a:bodyPr wrap="square" lIns="0" rIns="0" tIns="0" bIns="0" anchor="t">
            <a:noAutofit/>
          </a:bodyPr>
          <a:lstStyle/>
          <a:p>
            <a:pPr algn="l"/>
            <a:r>
              <a:rPr sz="2100" b="0" i="0">
                <a:solidFill>
                  <a:srgbClr val="5E5E5E"/>
                </a:solidFill>
                <a:latin typeface="Gotham Book"/>
              </a:rPr>
              <a:t>Demand for high-bandwidth memory and AI hardware has stretched lead times and strained sub-10 nm fab capacity.</a:t>
            </a:r>
          </a:p>
        </p:txBody>
      </p:sp>
      <p:sp>
        <p:nvSpPr>
          <p:cNvPr id="133" name="TextBox 132"/>
          <p:cNvSpPr txBox="1"/>
          <p:nvPr/>
        </p:nvSpPr>
        <p:spPr>
          <a:xfrm>
            <a:off x="16320326" y="9509842"/>
            <a:ext cx="5087456" cy="484519"/>
          </a:xfrm>
          <a:prstGeom prst="rect">
            <a:avLst/>
          </a:prstGeom>
          <a:noFill/>
        </p:spPr>
        <p:txBody>
          <a:bodyPr wrap="square" lIns="0" rIns="0" tIns="0" bIns="0" anchor="t">
            <a:noAutofit/>
          </a:bodyPr>
          <a:lstStyle/>
          <a:p>
            <a:pPr algn="l"/>
            <a:r>
              <a:rPr sz="1500" b="0" i="1">
                <a:solidFill>
                  <a:srgbClr val="8C8C8C"/>
                </a:solidFill>
                <a:latin typeface="Gotham Book"/>
              </a:rPr>
              <a:t>Source: Altium</a:t>
            </a:r>
          </a:p>
        </p:txBody>
      </p:sp>
      <p:sp>
        <p:nvSpPr>
          <p:cNvPr id="134" name="TextBox 133"/>
          <p:cNvSpPr txBox="1"/>
          <p:nvPr/>
        </p:nvSpPr>
        <p:spPr>
          <a:xfrm>
            <a:off x="2350008" y="10801895"/>
            <a:ext cx="19595592" cy="726779"/>
          </a:xfrm>
          <a:prstGeom prst="rect">
            <a:avLst/>
          </a:prstGeom>
          <a:noFill/>
        </p:spPr>
        <p:txBody>
          <a:bodyPr wrap="square" lIns="0" rIns="0" tIns="0" bIns="0" anchor="t">
            <a:noAutofit/>
          </a:bodyPr>
          <a:lstStyle/>
          <a:p>
            <a:pPr algn="l"/>
            <a:r>
              <a:rPr sz="2400" b="0" i="1">
                <a:solidFill>
                  <a:srgbClr val="B35900"/>
                </a:solidFill>
                <a:latin typeface="Gotham Book"/>
              </a:rPr>
              <a:t>Each one lands on a node most companies can't see well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Advanced logic stays concentrated as new fabs arrive</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THE RISK MAP</a:t>
            </a:r>
          </a:p>
        </p:txBody>
      </p:sp>
      <p:graphicFrame>
        <p:nvGraphicFramePr>
          <p:cNvPr id="119" name="Chart 118"/>
          <p:cNvGraphicFramePr>
            <a:graphicFrameLocks noGrp="1"/>
          </p:cNvGraphicFramePr>
          <p:nvPr/>
        </p:nvGraphicFramePr>
        <p:xfrm>
          <a:off x="2350008" y="3291840"/>
          <a:ext cx="13082032" cy="7833068"/>
        </p:xfrm>
        <a:graphic>
          <a:graphicData uri="http://schemas.openxmlformats.org/drawingml/2006/chart">
            <c:chart xmlns:c="http://schemas.openxmlformats.org/drawingml/2006/chart" r:id="rId2"/>
          </a:graphicData>
        </a:graphic>
      </p:graphicFrame>
      <p:sp>
        <p:nvSpPr>
          <p:cNvPr id="120" name="Rectangle 119"/>
          <p:cNvSpPr/>
          <p:nvPr/>
        </p:nvSpPr>
        <p:spPr>
          <a:xfrm>
            <a:off x="16078066" y="3453346"/>
            <a:ext cx="5867533" cy="2180338"/>
          </a:xfrm>
          <a:prstGeom prst="rect">
            <a:avLst/>
          </a:prstGeom>
          <a:solidFill>
            <a:srgbClr val="FDEBD3"/>
          </a:solidFill>
          <a:ln>
            <a:noFill/>
          </a:ln>
        </p:spPr>
        <p:txBody>
          <a:bodyPr rtlCol="0" anchor="ctr"/>
          <a:lstStyle/>
          <a:p>
            <a:pPr algn="ctr"/>
          </a:p>
        </p:txBody>
      </p:sp>
      <p:sp>
        <p:nvSpPr>
          <p:cNvPr id="121" name="TextBox 120"/>
          <p:cNvSpPr txBox="1"/>
          <p:nvPr/>
        </p:nvSpPr>
        <p:spPr>
          <a:xfrm>
            <a:off x="16481832" y="3647154"/>
            <a:ext cx="5060000" cy="1001340"/>
          </a:xfrm>
          <a:prstGeom prst="rect">
            <a:avLst/>
          </a:prstGeom>
          <a:noFill/>
        </p:spPr>
        <p:txBody>
          <a:bodyPr wrap="square" lIns="0" rIns="0" tIns="0" bIns="0" anchor="t">
            <a:noAutofit/>
          </a:bodyPr>
          <a:lstStyle/>
          <a:p>
            <a:pPr algn="l"/>
            <a:r>
              <a:rPr sz="4500" b="0" i="0">
                <a:solidFill>
                  <a:srgbClr val="1A1A1A"/>
                </a:solidFill>
                <a:latin typeface="Gotham Black"/>
              </a:rPr>
              <a:t>2 places</a:t>
            </a:r>
          </a:p>
        </p:txBody>
      </p:sp>
      <p:sp>
        <p:nvSpPr>
          <p:cNvPr id="122" name="TextBox 121"/>
          <p:cNvSpPr txBox="1"/>
          <p:nvPr/>
        </p:nvSpPr>
        <p:spPr>
          <a:xfrm>
            <a:off x="16481832" y="4648495"/>
            <a:ext cx="5060000" cy="807532"/>
          </a:xfrm>
          <a:prstGeom prst="rect">
            <a:avLst/>
          </a:prstGeom>
          <a:noFill/>
        </p:spPr>
        <p:txBody>
          <a:bodyPr wrap="square" lIns="0" rIns="0" tIns="0" bIns="0" anchor="t">
            <a:noAutofit/>
          </a:bodyPr>
          <a:lstStyle/>
          <a:p>
            <a:pPr algn="l"/>
            <a:r>
              <a:rPr sz="1950" b="0" i="0">
                <a:solidFill>
                  <a:srgbClr val="5E5E5E"/>
                </a:solidFill>
                <a:latin typeface="Gotham Book"/>
              </a:rPr>
              <a:t>held all sub-10 nm logic capacity in 2022</a:t>
            </a:r>
          </a:p>
        </p:txBody>
      </p:sp>
      <p:sp>
        <p:nvSpPr>
          <p:cNvPr id="123" name="Rectangle 122"/>
          <p:cNvSpPr/>
          <p:nvPr/>
        </p:nvSpPr>
        <p:spPr>
          <a:xfrm>
            <a:off x="16078066" y="5956698"/>
            <a:ext cx="5867533" cy="2180338"/>
          </a:xfrm>
          <a:prstGeom prst="rect">
            <a:avLst/>
          </a:prstGeom>
          <a:solidFill>
            <a:srgbClr val="F2F2F2"/>
          </a:solidFill>
          <a:ln>
            <a:noFill/>
          </a:ln>
        </p:spPr>
        <p:txBody>
          <a:bodyPr rtlCol="0" anchor="ctr"/>
          <a:lstStyle/>
          <a:p>
            <a:pPr algn="ctr"/>
          </a:p>
        </p:txBody>
      </p:sp>
      <p:sp>
        <p:nvSpPr>
          <p:cNvPr id="124" name="TextBox 123"/>
          <p:cNvSpPr txBox="1"/>
          <p:nvPr/>
        </p:nvSpPr>
        <p:spPr>
          <a:xfrm>
            <a:off x="16481832" y="6150506"/>
            <a:ext cx="5060000" cy="1001340"/>
          </a:xfrm>
          <a:prstGeom prst="rect">
            <a:avLst/>
          </a:prstGeom>
          <a:noFill/>
        </p:spPr>
        <p:txBody>
          <a:bodyPr wrap="square" lIns="0" rIns="0" tIns="0" bIns="0" anchor="t">
            <a:noAutofit/>
          </a:bodyPr>
          <a:lstStyle/>
          <a:p>
            <a:pPr algn="l"/>
            <a:r>
              <a:rPr sz="4500" b="0" i="0">
                <a:solidFill>
                  <a:srgbClr val="1A1A1A"/>
                </a:solidFill>
                <a:latin typeface="Gotham Black"/>
              </a:rPr>
              <a:t>47%</a:t>
            </a:r>
          </a:p>
        </p:txBody>
      </p:sp>
      <p:sp>
        <p:nvSpPr>
          <p:cNvPr id="125" name="TextBox 124"/>
          <p:cNvSpPr txBox="1"/>
          <p:nvPr/>
        </p:nvSpPr>
        <p:spPr>
          <a:xfrm>
            <a:off x="16481832" y="7151846"/>
            <a:ext cx="5060000" cy="807532"/>
          </a:xfrm>
          <a:prstGeom prst="rect">
            <a:avLst/>
          </a:prstGeom>
          <a:noFill/>
        </p:spPr>
        <p:txBody>
          <a:bodyPr wrap="square" lIns="0" rIns="0" tIns="0" bIns="0" anchor="t">
            <a:noAutofit/>
          </a:bodyPr>
          <a:lstStyle/>
          <a:p>
            <a:pPr algn="l"/>
            <a:r>
              <a:rPr sz="1950" b="0" i="0">
                <a:solidFill>
                  <a:srgbClr val="5E5E5E"/>
                </a:solidFill>
                <a:latin typeface="Gotham Book"/>
              </a:rPr>
              <a:t>Taiwan's projected share in 2032, still the largest</a:t>
            </a:r>
          </a:p>
        </p:txBody>
      </p:sp>
      <p:sp>
        <p:nvSpPr>
          <p:cNvPr id="126" name="Rectangle 125"/>
          <p:cNvSpPr/>
          <p:nvPr/>
        </p:nvSpPr>
        <p:spPr>
          <a:xfrm>
            <a:off x="16078066" y="8460050"/>
            <a:ext cx="5867533" cy="2180338"/>
          </a:xfrm>
          <a:prstGeom prst="rect">
            <a:avLst/>
          </a:prstGeom>
          <a:solidFill>
            <a:srgbClr val="F2F2F2"/>
          </a:solidFill>
          <a:ln>
            <a:noFill/>
          </a:ln>
        </p:spPr>
        <p:txBody>
          <a:bodyPr rtlCol="0" anchor="ctr"/>
          <a:lstStyle/>
          <a:p>
            <a:pPr algn="ctr"/>
          </a:p>
        </p:txBody>
      </p:sp>
      <p:sp>
        <p:nvSpPr>
          <p:cNvPr id="127" name="TextBox 126"/>
          <p:cNvSpPr txBox="1"/>
          <p:nvPr/>
        </p:nvSpPr>
        <p:spPr>
          <a:xfrm>
            <a:off x="16481832" y="8653858"/>
            <a:ext cx="5060000" cy="1001340"/>
          </a:xfrm>
          <a:prstGeom prst="rect">
            <a:avLst/>
          </a:prstGeom>
          <a:noFill/>
        </p:spPr>
        <p:txBody>
          <a:bodyPr wrap="square" lIns="0" rIns="0" tIns="0" bIns="0" anchor="t">
            <a:noAutofit/>
          </a:bodyPr>
          <a:lstStyle/>
          <a:p>
            <a:pPr algn="l"/>
            <a:r>
              <a:rPr sz="4500" b="0" i="0">
                <a:solidFill>
                  <a:srgbClr val="1A1A1A"/>
                </a:solidFill>
                <a:latin typeface="Gotham Black"/>
              </a:rPr>
              <a:t>28%</a:t>
            </a:r>
          </a:p>
        </p:txBody>
      </p:sp>
      <p:sp>
        <p:nvSpPr>
          <p:cNvPr id="128" name="TextBox 127"/>
          <p:cNvSpPr txBox="1"/>
          <p:nvPr/>
        </p:nvSpPr>
        <p:spPr>
          <a:xfrm>
            <a:off x="16481832" y="9655198"/>
            <a:ext cx="5060000" cy="807532"/>
          </a:xfrm>
          <a:prstGeom prst="rect">
            <a:avLst/>
          </a:prstGeom>
          <a:noFill/>
        </p:spPr>
        <p:txBody>
          <a:bodyPr wrap="square" lIns="0" rIns="0" tIns="0" bIns="0" anchor="t">
            <a:noAutofit/>
          </a:bodyPr>
          <a:lstStyle/>
          <a:p>
            <a:pPr algn="l"/>
            <a:r>
              <a:rPr sz="1950" b="0" i="0">
                <a:solidFill>
                  <a:srgbClr val="5E5E5E"/>
                </a:solidFill>
                <a:latin typeface="Gotham Book"/>
              </a:rPr>
              <a:t>projected U.S. share by 2032, up from 0%</a:t>
            </a:r>
          </a:p>
        </p:txBody>
      </p:sp>
      <p:sp>
        <p:nvSpPr>
          <p:cNvPr id="129" name="TextBox 128"/>
          <p:cNvSpPr txBox="1"/>
          <p:nvPr/>
        </p:nvSpPr>
        <p:spPr>
          <a:xfrm>
            <a:off x="2350008" y="11286415"/>
            <a:ext cx="19595592" cy="565272"/>
          </a:xfrm>
          <a:prstGeom prst="rect">
            <a:avLst/>
          </a:prstGeom>
          <a:noFill/>
        </p:spPr>
        <p:txBody>
          <a:bodyPr wrap="square" lIns="0" rIns="0" tIns="0" bIns="0" anchor="t">
            <a:noAutofit/>
          </a:bodyPr>
          <a:lstStyle/>
          <a:p>
            <a:pPr algn="l"/>
            <a:r>
              <a:rPr sz="1500" b="0" i="1">
                <a:solidFill>
                  <a:srgbClr val="8C8C8C"/>
                </a:solidFill>
                <a:latin typeface="Gotham Book"/>
              </a:rPr>
              <a:t>Source: SIA &amp; BCG, Emerging Resilience in the Semiconductor Supply Chain (May 2024). 2032 values are projections; the remaining ~5% in 2032 includes China and other regions.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Six kinds of risk tend to hit the same few nodes</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THE RISK MAP</a:t>
            </a:r>
          </a:p>
        </p:txBody>
      </p:sp>
      <p:sp>
        <p:nvSpPr>
          <p:cNvPr id="119" name="Rectangle 118"/>
          <p:cNvSpPr/>
          <p:nvPr/>
        </p:nvSpPr>
        <p:spPr>
          <a:xfrm>
            <a:off x="2350008" y="3534099"/>
            <a:ext cx="6218002" cy="3391637"/>
          </a:xfrm>
          <a:prstGeom prst="rect">
            <a:avLst/>
          </a:prstGeom>
          <a:solidFill>
            <a:srgbClr val="FDEBD3"/>
          </a:solidFill>
          <a:ln>
            <a:noFill/>
          </a:ln>
        </p:spPr>
        <p:txBody>
          <a:bodyPr rtlCol="0" anchor="ctr"/>
          <a:lstStyle/>
          <a:p>
            <a:pPr algn="ctr"/>
          </a:p>
        </p:txBody>
      </p:sp>
      <p:sp>
        <p:nvSpPr>
          <p:cNvPr id="120" name="Rounded Rectangle 119"/>
          <p:cNvSpPr/>
          <p:nvPr/>
        </p:nvSpPr>
        <p:spPr>
          <a:xfrm>
            <a:off x="2834527" y="4018619"/>
            <a:ext cx="969039" cy="969039"/>
          </a:xfrm>
          <a:prstGeom prst="roundRect">
            <a:avLst>
              <a:gd name="adj" fmla="val 13333"/>
            </a:avLst>
          </a:prstGeom>
          <a:solidFill>
            <a:srgbClr val="E97B05"/>
          </a:solidFill>
          <a:ln>
            <a:noFill/>
          </a:ln>
        </p:spPr>
        <p:txBody>
          <a:bodyPr rtlCol="0" anchor="ctr"/>
          <a:lstStyle/>
          <a:p>
            <a:pPr algn="ctr"/>
          </a:p>
        </p:txBody>
      </p:sp>
      <p:pic>
        <p:nvPicPr>
          <p:cNvPr id="121" name="Picture 120" descr="image.png"/>
          <p:cNvPicPr>
            <a:picLocks noChangeAspect="1"/>
          </p:cNvPicPr>
          <p:nvPr/>
        </p:nvPicPr>
        <p:blipFill>
          <a:blip r:embed="rId2"/>
          <a:stretch>
            <a:fillRect/>
          </a:stretch>
        </p:blipFill>
        <p:spPr>
          <a:xfrm>
            <a:off x="3047716" y="4231808"/>
            <a:ext cx="542662" cy="542662"/>
          </a:xfrm>
          <a:prstGeom prst="rect">
            <a:avLst/>
          </a:prstGeom>
        </p:spPr>
      </p:pic>
      <p:sp>
        <p:nvSpPr>
          <p:cNvPr id="122" name="TextBox 121"/>
          <p:cNvSpPr txBox="1"/>
          <p:nvPr/>
        </p:nvSpPr>
        <p:spPr>
          <a:xfrm>
            <a:off x="4126580" y="4018619"/>
            <a:ext cx="4118417" cy="969039"/>
          </a:xfrm>
          <a:prstGeom prst="rect">
            <a:avLst/>
          </a:prstGeom>
          <a:noFill/>
        </p:spPr>
        <p:txBody>
          <a:bodyPr wrap="square" lIns="0" rIns="0" tIns="0" bIns="0" anchor="ctr">
            <a:noAutofit/>
          </a:bodyPr>
          <a:lstStyle/>
          <a:p>
            <a:pPr algn="l"/>
            <a:r>
              <a:rPr sz="2700" b="0" i="0">
                <a:solidFill>
                  <a:srgbClr val="1A1A1A"/>
                </a:solidFill>
                <a:latin typeface="Gotham Medium"/>
              </a:rPr>
              <a:t>Concentration</a:t>
            </a:r>
          </a:p>
        </p:txBody>
      </p:sp>
      <p:sp>
        <p:nvSpPr>
          <p:cNvPr id="123" name="TextBox 122"/>
          <p:cNvSpPr txBox="1"/>
          <p:nvPr/>
        </p:nvSpPr>
        <p:spPr>
          <a:xfrm>
            <a:off x="2834527" y="5229918"/>
            <a:ext cx="5248963" cy="1453559"/>
          </a:xfrm>
          <a:prstGeom prst="rect">
            <a:avLst/>
          </a:prstGeom>
          <a:noFill/>
        </p:spPr>
        <p:txBody>
          <a:bodyPr wrap="square" lIns="0" rIns="0" tIns="0" bIns="0" anchor="t">
            <a:noAutofit/>
          </a:bodyPr>
          <a:lstStyle/>
          <a:p>
            <a:pPr algn="l"/>
            <a:r>
              <a:rPr sz="2100" b="0" i="0">
                <a:solidFill>
                  <a:srgbClr val="5E5E5E"/>
                </a:solidFill>
                <a:latin typeface="Gotham Book"/>
              </a:rPr>
              <a:t>Sole- and single-source inputs, and sites that serve many products at once</a:t>
            </a:r>
          </a:p>
        </p:txBody>
      </p:sp>
      <p:sp>
        <p:nvSpPr>
          <p:cNvPr id="124" name="Rectangle 123"/>
          <p:cNvSpPr/>
          <p:nvPr/>
        </p:nvSpPr>
        <p:spPr>
          <a:xfrm>
            <a:off x="9052530" y="3534099"/>
            <a:ext cx="6218002" cy="3391637"/>
          </a:xfrm>
          <a:prstGeom prst="rect">
            <a:avLst/>
          </a:prstGeom>
          <a:solidFill>
            <a:srgbClr val="F2F2F2"/>
          </a:solidFill>
          <a:ln>
            <a:noFill/>
          </a:ln>
        </p:spPr>
        <p:txBody>
          <a:bodyPr rtlCol="0" anchor="ctr"/>
          <a:lstStyle/>
          <a:p>
            <a:pPr algn="ctr"/>
          </a:p>
        </p:txBody>
      </p:sp>
      <p:sp>
        <p:nvSpPr>
          <p:cNvPr id="125" name="Rounded Rectangle 124"/>
          <p:cNvSpPr/>
          <p:nvPr/>
        </p:nvSpPr>
        <p:spPr>
          <a:xfrm>
            <a:off x="9537050" y="4018619"/>
            <a:ext cx="969039" cy="969039"/>
          </a:xfrm>
          <a:prstGeom prst="roundRect">
            <a:avLst>
              <a:gd name="adj" fmla="val 13333"/>
            </a:avLst>
          </a:prstGeom>
          <a:solidFill>
            <a:srgbClr val="1A1A1A"/>
          </a:solidFill>
          <a:ln>
            <a:noFill/>
          </a:ln>
        </p:spPr>
        <p:txBody>
          <a:bodyPr rtlCol="0" anchor="ctr"/>
          <a:lstStyle/>
          <a:p>
            <a:pPr algn="ctr"/>
          </a:p>
        </p:txBody>
      </p:sp>
      <p:pic>
        <p:nvPicPr>
          <p:cNvPr id="126" name="Picture 125" descr="image.png"/>
          <p:cNvPicPr>
            <a:picLocks noChangeAspect="1"/>
          </p:cNvPicPr>
          <p:nvPr/>
        </p:nvPicPr>
        <p:blipFill>
          <a:blip r:embed="rId3"/>
          <a:stretch>
            <a:fillRect/>
          </a:stretch>
        </p:blipFill>
        <p:spPr>
          <a:xfrm>
            <a:off x="9750238" y="4231808"/>
            <a:ext cx="542662" cy="542662"/>
          </a:xfrm>
          <a:prstGeom prst="rect">
            <a:avLst/>
          </a:prstGeom>
        </p:spPr>
      </p:pic>
      <p:sp>
        <p:nvSpPr>
          <p:cNvPr id="127" name="TextBox 126"/>
          <p:cNvSpPr txBox="1"/>
          <p:nvPr/>
        </p:nvSpPr>
        <p:spPr>
          <a:xfrm>
            <a:off x="10829102" y="4018619"/>
            <a:ext cx="4118417" cy="969039"/>
          </a:xfrm>
          <a:prstGeom prst="rect">
            <a:avLst/>
          </a:prstGeom>
          <a:noFill/>
        </p:spPr>
        <p:txBody>
          <a:bodyPr wrap="square" lIns="0" rIns="0" tIns="0" bIns="0" anchor="ctr">
            <a:noAutofit/>
          </a:bodyPr>
          <a:lstStyle/>
          <a:p>
            <a:pPr algn="l"/>
            <a:r>
              <a:rPr sz="2700" b="0" i="0">
                <a:solidFill>
                  <a:srgbClr val="1A1A1A"/>
                </a:solidFill>
                <a:latin typeface="Gotham Medium"/>
              </a:rPr>
              <a:t>Geopolitics &amp; trade</a:t>
            </a:r>
          </a:p>
        </p:txBody>
      </p:sp>
      <p:sp>
        <p:nvSpPr>
          <p:cNvPr id="128" name="TextBox 127"/>
          <p:cNvSpPr txBox="1"/>
          <p:nvPr/>
        </p:nvSpPr>
        <p:spPr>
          <a:xfrm>
            <a:off x="9537050" y="5229918"/>
            <a:ext cx="5248963" cy="1453559"/>
          </a:xfrm>
          <a:prstGeom prst="rect">
            <a:avLst/>
          </a:prstGeom>
          <a:noFill/>
        </p:spPr>
        <p:txBody>
          <a:bodyPr wrap="square" lIns="0" rIns="0" tIns="0" bIns="0" anchor="t">
            <a:noAutofit/>
          </a:bodyPr>
          <a:lstStyle/>
          <a:p>
            <a:pPr algn="l"/>
            <a:r>
              <a:rPr sz="2100" b="0" i="0">
                <a:solidFill>
                  <a:srgbClr val="5E5E5E"/>
                </a:solidFill>
                <a:latin typeface="Gotham Book"/>
              </a:rPr>
              <a:t>Export controls, entity lists, tariffs, and shifting rules of origin</a:t>
            </a:r>
          </a:p>
        </p:txBody>
      </p:sp>
      <p:sp>
        <p:nvSpPr>
          <p:cNvPr id="129" name="Rectangle 128"/>
          <p:cNvSpPr/>
          <p:nvPr/>
        </p:nvSpPr>
        <p:spPr>
          <a:xfrm>
            <a:off x="15755053" y="3534099"/>
            <a:ext cx="6218002" cy="3391637"/>
          </a:xfrm>
          <a:prstGeom prst="rect">
            <a:avLst/>
          </a:prstGeom>
          <a:solidFill>
            <a:srgbClr val="F2F2F2"/>
          </a:solidFill>
          <a:ln>
            <a:noFill/>
          </a:ln>
        </p:spPr>
        <p:txBody>
          <a:bodyPr rtlCol="0" anchor="ctr"/>
          <a:lstStyle/>
          <a:p>
            <a:pPr algn="ctr"/>
          </a:p>
        </p:txBody>
      </p:sp>
      <p:sp>
        <p:nvSpPr>
          <p:cNvPr id="130" name="Rounded Rectangle 129"/>
          <p:cNvSpPr/>
          <p:nvPr/>
        </p:nvSpPr>
        <p:spPr>
          <a:xfrm>
            <a:off x="16239572" y="4018619"/>
            <a:ext cx="969039" cy="969039"/>
          </a:xfrm>
          <a:prstGeom prst="roundRect">
            <a:avLst>
              <a:gd name="adj" fmla="val 13333"/>
            </a:avLst>
          </a:prstGeom>
          <a:solidFill>
            <a:srgbClr val="1A1A1A"/>
          </a:solidFill>
          <a:ln>
            <a:noFill/>
          </a:ln>
        </p:spPr>
        <p:txBody>
          <a:bodyPr rtlCol="0" anchor="ctr"/>
          <a:lstStyle/>
          <a:p>
            <a:pPr algn="ctr"/>
          </a:p>
        </p:txBody>
      </p:sp>
      <p:pic>
        <p:nvPicPr>
          <p:cNvPr id="131" name="Picture 130" descr="image.png"/>
          <p:cNvPicPr>
            <a:picLocks noChangeAspect="1"/>
          </p:cNvPicPr>
          <p:nvPr/>
        </p:nvPicPr>
        <p:blipFill>
          <a:blip r:embed="rId4"/>
          <a:stretch>
            <a:fillRect/>
          </a:stretch>
        </p:blipFill>
        <p:spPr>
          <a:xfrm>
            <a:off x="16452761" y="4231808"/>
            <a:ext cx="542662" cy="542662"/>
          </a:xfrm>
          <a:prstGeom prst="rect">
            <a:avLst/>
          </a:prstGeom>
        </p:spPr>
      </p:pic>
      <p:sp>
        <p:nvSpPr>
          <p:cNvPr id="132" name="TextBox 131"/>
          <p:cNvSpPr txBox="1"/>
          <p:nvPr/>
        </p:nvSpPr>
        <p:spPr>
          <a:xfrm>
            <a:off x="17531625" y="4018619"/>
            <a:ext cx="4118417" cy="969039"/>
          </a:xfrm>
          <a:prstGeom prst="rect">
            <a:avLst/>
          </a:prstGeom>
          <a:noFill/>
        </p:spPr>
        <p:txBody>
          <a:bodyPr wrap="square" lIns="0" rIns="0" tIns="0" bIns="0" anchor="ctr">
            <a:noAutofit/>
          </a:bodyPr>
          <a:lstStyle/>
          <a:p>
            <a:pPr algn="l"/>
            <a:r>
              <a:rPr sz="2700" b="0" i="0">
                <a:solidFill>
                  <a:srgbClr val="1A1A1A"/>
                </a:solidFill>
                <a:latin typeface="Gotham Medium"/>
              </a:rPr>
              <a:t>Natural hazards &amp; utilities</a:t>
            </a:r>
          </a:p>
        </p:txBody>
      </p:sp>
      <p:sp>
        <p:nvSpPr>
          <p:cNvPr id="133" name="TextBox 132"/>
          <p:cNvSpPr txBox="1"/>
          <p:nvPr/>
        </p:nvSpPr>
        <p:spPr>
          <a:xfrm>
            <a:off x="16239572" y="5229918"/>
            <a:ext cx="5248963" cy="1453559"/>
          </a:xfrm>
          <a:prstGeom prst="rect">
            <a:avLst/>
          </a:prstGeom>
          <a:noFill/>
        </p:spPr>
        <p:txBody>
          <a:bodyPr wrap="square" lIns="0" rIns="0" tIns="0" bIns="0" anchor="t">
            <a:noAutofit/>
          </a:bodyPr>
          <a:lstStyle/>
          <a:p>
            <a:pPr algn="l"/>
            <a:r>
              <a:rPr sz="2100" b="0" i="0">
                <a:solidFill>
                  <a:srgbClr val="5E5E5E"/>
                </a:solidFill>
                <a:latin typeface="Gotham Book"/>
              </a:rPr>
              <a:t>Earthquakes, storms, drought, and power or water outages at key sites</a:t>
            </a:r>
          </a:p>
        </p:txBody>
      </p:sp>
      <p:sp>
        <p:nvSpPr>
          <p:cNvPr id="134" name="Rectangle 133"/>
          <p:cNvSpPr/>
          <p:nvPr/>
        </p:nvSpPr>
        <p:spPr>
          <a:xfrm>
            <a:off x="2350008" y="7410257"/>
            <a:ext cx="6218002" cy="3391637"/>
          </a:xfrm>
          <a:prstGeom prst="rect">
            <a:avLst/>
          </a:prstGeom>
          <a:solidFill>
            <a:srgbClr val="F2F2F2"/>
          </a:solidFill>
          <a:ln>
            <a:noFill/>
          </a:ln>
        </p:spPr>
        <p:txBody>
          <a:bodyPr rtlCol="0" anchor="ctr"/>
          <a:lstStyle/>
          <a:p>
            <a:pPr algn="ctr"/>
          </a:p>
        </p:txBody>
      </p:sp>
      <p:sp>
        <p:nvSpPr>
          <p:cNvPr id="135" name="Rounded Rectangle 134"/>
          <p:cNvSpPr/>
          <p:nvPr/>
        </p:nvSpPr>
        <p:spPr>
          <a:xfrm>
            <a:off x="2834527" y="7894777"/>
            <a:ext cx="969039" cy="969039"/>
          </a:xfrm>
          <a:prstGeom prst="roundRect">
            <a:avLst>
              <a:gd name="adj" fmla="val 13333"/>
            </a:avLst>
          </a:prstGeom>
          <a:solidFill>
            <a:srgbClr val="1A1A1A"/>
          </a:solidFill>
          <a:ln>
            <a:noFill/>
          </a:ln>
        </p:spPr>
        <p:txBody>
          <a:bodyPr rtlCol="0" anchor="ctr"/>
          <a:lstStyle/>
          <a:p>
            <a:pPr algn="ctr"/>
          </a:p>
        </p:txBody>
      </p:sp>
      <p:pic>
        <p:nvPicPr>
          <p:cNvPr id="136" name="Picture 135" descr="image.png"/>
          <p:cNvPicPr>
            <a:picLocks noChangeAspect="1"/>
          </p:cNvPicPr>
          <p:nvPr/>
        </p:nvPicPr>
        <p:blipFill>
          <a:blip r:embed="rId5"/>
          <a:stretch>
            <a:fillRect/>
          </a:stretch>
        </p:blipFill>
        <p:spPr>
          <a:xfrm>
            <a:off x="3047716" y="8107965"/>
            <a:ext cx="542662" cy="542662"/>
          </a:xfrm>
          <a:prstGeom prst="rect">
            <a:avLst/>
          </a:prstGeom>
        </p:spPr>
      </p:pic>
      <p:sp>
        <p:nvSpPr>
          <p:cNvPr id="137" name="TextBox 136"/>
          <p:cNvSpPr txBox="1"/>
          <p:nvPr/>
        </p:nvSpPr>
        <p:spPr>
          <a:xfrm>
            <a:off x="4126580" y="7894777"/>
            <a:ext cx="4118417" cy="969039"/>
          </a:xfrm>
          <a:prstGeom prst="rect">
            <a:avLst/>
          </a:prstGeom>
          <a:noFill/>
        </p:spPr>
        <p:txBody>
          <a:bodyPr wrap="square" lIns="0" rIns="0" tIns="0" bIns="0" anchor="ctr">
            <a:noAutofit/>
          </a:bodyPr>
          <a:lstStyle/>
          <a:p>
            <a:pPr algn="l"/>
            <a:r>
              <a:rPr sz="2700" b="0" i="0">
                <a:solidFill>
                  <a:srgbClr val="1A1A1A"/>
                </a:solidFill>
                <a:latin typeface="Gotham Medium"/>
              </a:rPr>
              <a:t>Logistics</a:t>
            </a:r>
          </a:p>
        </p:txBody>
      </p:sp>
      <p:sp>
        <p:nvSpPr>
          <p:cNvPr id="138" name="TextBox 137"/>
          <p:cNvSpPr txBox="1"/>
          <p:nvPr/>
        </p:nvSpPr>
        <p:spPr>
          <a:xfrm>
            <a:off x="2834527" y="9106076"/>
            <a:ext cx="5248963" cy="1453559"/>
          </a:xfrm>
          <a:prstGeom prst="rect">
            <a:avLst/>
          </a:prstGeom>
          <a:noFill/>
        </p:spPr>
        <p:txBody>
          <a:bodyPr wrap="square" lIns="0" rIns="0" tIns="0" bIns="0" anchor="t">
            <a:noAutofit/>
          </a:bodyPr>
          <a:lstStyle/>
          <a:p>
            <a:pPr algn="l"/>
            <a:r>
              <a:rPr sz="2100" b="0" i="0">
                <a:solidFill>
                  <a:srgbClr val="5E5E5E"/>
                </a:solidFill>
                <a:latin typeface="Gotham Book"/>
              </a:rPr>
              <a:t>Port, air freight, and customs delays for time-critical materials</a:t>
            </a:r>
          </a:p>
        </p:txBody>
      </p:sp>
      <p:sp>
        <p:nvSpPr>
          <p:cNvPr id="139" name="Rectangle 138"/>
          <p:cNvSpPr/>
          <p:nvPr/>
        </p:nvSpPr>
        <p:spPr>
          <a:xfrm>
            <a:off x="9052530" y="7410257"/>
            <a:ext cx="6218002" cy="3391637"/>
          </a:xfrm>
          <a:prstGeom prst="rect">
            <a:avLst/>
          </a:prstGeom>
          <a:solidFill>
            <a:srgbClr val="F2F2F2"/>
          </a:solidFill>
          <a:ln>
            <a:noFill/>
          </a:ln>
        </p:spPr>
        <p:txBody>
          <a:bodyPr rtlCol="0" anchor="ctr"/>
          <a:lstStyle/>
          <a:p>
            <a:pPr algn="ctr"/>
          </a:p>
        </p:txBody>
      </p:sp>
      <p:sp>
        <p:nvSpPr>
          <p:cNvPr id="140" name="Rounded Rectangle 139"/>
          <p:cNvSpPr/>
          <p:nvPr/>
        </p:nvSpPr>
        <p:spPr>
          <a:xfrm>
            <a:off x="9537050" y="7894777"/>
            <a:ext cx="969039" cy="969039"/>
          </a:xfrm>
          <a:prstGeom prst="roundRect">
            <a:avLst>
              <a:gd name="adj" fmla="val 13333"/>
            </a:avLst>
          </a:prstGeom>
          <a:solidFill>
            <a:srgbClr val="1A1A1A"/>
          </a:solidFill>
          <a:ln>
            <a:noFill/>
          </a:ln>
        </p:spPr>
        <p:txBody>
          <a:bodyPr rtlCol="0" anchor="ctr"/>
          <a:lstStyle/>
          <a:p>
            <a:pPr algn="ctr"/>
          </a:p>
        </p:txBody>
      </p:sp>
      <p:pic>
        <p:nvPicPr>
          <p:cNvPr id="141" name="Picture 140" descr="image.png"/>
          <p:cNvPicPr>
            <a:picLocks noChangeAspect="1"/>
          </p:cNvPicPr>
          <p:nvPr/>
        </p:nvPicPr>
        <p:blipFill>
          <a:blip r:embed="rId6"/>
          <a:stretch>
            <a:fillRect/>
          </a:stretch>
        </p:blipFill>
        <p:spPr>
          <a:xfrm>
            <a:off x="9750238" y="8107965"/>
            <a:ext cx="542662" cy="542662"/>
          </a:xfrm>
          <a:prstGeom prst="rect">
            <a:avLst/>
          </a:prstGeom>
        </p:spPr>
      </p:pic>
      <p:sp>
        <p:nvSpPr>
          <p:cNvPr id="142" name="TextBox 141"/>
          <p:cNvSpPr txBox="1"/>
          <p:nvPr/>
        </p:nvSpPr>
        <p:spPr>
          <a:xfrm>
            <a:off x="10829102" y="7894777"/>
            <a:ext cx="4118417" cy="969039"/>
          </a:xfrm>
          <a:prstGeom prst="rect">
            <a:avLst/>
          </a:prstGeom>
          <a:noFill/>
        </p:spPr>
        <p:txBody>
          <a:bodyPr wrap="square" lIns="0" rIns="0" tIns="0" bIns="0" anchor="ctr">
            <a:noAutofit/>
          </a:bodyPr>
          <a:lstStyle/>
          <a:p>
            <a:pPr algn="l"/>
            <a:r>
              <a:rPr sz="2700" b="0" i="0">
                <a:solidFill>
                  <a:srgbClr val="1A1A1A"/>
                </a:solidFill>
                <a:latin typeface="Gotham Medium"/>
              </a:rPr>
              <a:t>Demand swings</a:t>
            </a:r>
          </a:p>
        </p:txBody>
      </p:sp>
      <p:sp>
        <p:nvSpPr>
          <p:cNvPr id="143" name="TextBox 142"/>
          <p:cNvSpPr txBox="1"/>
          <p:nvPr/>
        </p:nvSpPr>
        <p:spPr>
          <a:xfrm>
            <a:off x="9537050" y="9106076"/>
            <a:ext cx="5248963" cy="1453559"/>
          </a:xfrm>
          <a:prstGeom prst="rect">
            <a:avLst/>
          </a:prstGeom>
          <a:noFill/>
        </p:spPr>
        <p:txBody>
          <a:bodyPr wrap="square" lIns="0" rIns="0" tIns="0" bIns="0" anchor="t">
            <a:noAutofit/>
          </a:bodyPr>
          <a:lstStyle/>
          <a:p>
            <a:pPr algn="l"/>
            <a:r>
              <a:rPr sz="2100" b="0" i="0">
                <a:solidFill>
                  <a:srgbClr val="5E5E5E"/>
                </a:solidFill>
                <a:latin typeface="Gotham Book"/>
              </a:rPr>
              <a:t>Forecast whiplash that turns into over-ordering, then shortages</a:t>
            </a:r>
          </a:p>
        </p:txBody>
      </p:sp>
      <p:sp>
        <p:nvSpPr>
          <p:cNvPr id="144" name="Rectangle 143"/>
          <p:cNvSpPr/>
          <p:nvPr/>
        </p:nvSpPr>
        <p:spPr>
          <a:xfrm>
            <a:off x="15755053" y="7410257"/>
            <a:ext cx="6218002" cy="3391637"/>
          </a:xfrm>
          <a:prstGeom prst="rect">
            <a:avLst/>
          </a:prstGeom>
          <a:solidFill>
            <a:srgbClr val="F2F2F2"/>
          </a:solidFill>
          <a:ln>
            <a:noFill/>
          </a:ln>
        </p:spPr>
        <p:txBody>
          <a:bodyPr rtlCol="0" anchor="ctr"/>
          <a:lstStyle/>
          <a:p>
            <a:pPr algn="ctr"/>
          </a:p>
        </p:txBody>
      </p:sp>
      <p:sp>
        <p:nvSpPr>
          <p:cNvPr id="145" name="Rounded Rectangle 144"/>
          <p:cNvSpPr/>
          <p:nvPr/>
        </p:nvSpPr>
        <p:spPr>
          <a:xfrm>
            <a:off x="16239572" y="7894777"/>
            <a:ext cx="969039" cy="969039"/>
          </a:xfrm>
          <a:prstGeom prst="roundRect">
            <a:avLst>
              <a:gd name="adj" fmla="val 13333"/>
            </a:avLst>
          </a:prstGeom>
          <a:solidFill>
            <a:srgbClr val="1A1A1A"/>
          </a:solidFill>
          <a:ln>
            <a:noFill/>
          </a:ln>
        </p:spPr>
        <p:txBody>
          <a:bodyPr rtlCol="0" anchor="ctr"/>
          <a:lstStyle/>
          <a:p>
            <a:pPr algn="ctr"/>
          </a:p>
        </p:txBody>
      </p:sp>
      <p:pic>
        <p:nvPicPr>
          <p:cNvPr id="146" name="Picture 145" descr="image.png"/>
          <p:cNvPicPr>
            <a:picLocks noChangeAspect="1"/>
          </p:cNvPicPr>
          <p:nvPr/>
        </p:nvPicPr>
        <p:blipFill>
          <a:blip r:embed="rId7"/>
          <a:stretch>
            <a:fillRect/>
          </a:stretch>
        </p:blipFill>
        <p:spPr>
          <a:xfrm>
            <a:off x="16452761" y="8107965"/>
            <a:ext cx="542662" cy="542662"/>
          </a:xfrm>
          <a:prstGeom prst="rect">
            <a:avLst/>
          </a:prstGeom>
        </p:spPr>
      </p:pic>
      <p:sp>
        <p:nvSpPr>
          <p:cNvPr id="147" name="TextBox 146"/>
          <p:cNvSpPr txBox="1"/>
          <p:nvPr/>
        </p:nvSpPr>
        <p:spPr>
          <a:xfrm>
            <a:off x="17531625" y="7894777"/>
            <a:ext cx="4118417" cy="969039"/>
          </a:xfrm>
          <a:prstGeom prst="rect">
            <a:avLst/>
          </a:prstGeom>
          <a:noFill/>
        </p:spPr>
        <p:txBody>
          <a:bodyPr wrap="square" lIns="0" rIns="0" tIns="0" bIns="0" anchor="ctr">
            <a:noAutofit/>
          </a:bodyPr>
          <a:lstStyle/>
          <a:p>
            <a:pPr algn="l"/>
            <a:r>
              <a:rPr sz="2700" b="0" i="0">
                <a:solidFill>
                  <a:srgbClr val="1A1A1A"/>
                </a:solidFill>
                <a:latin typeface="Gotham Medium"/>
              </a:rPr>
              <a:t>Cyber &amp; IP</a:t>
            </a:r>
          </a:p>
        </p:txBody>
      </p:sp>
      <p:sp>
        <p:nvSpPr>
          <p:cNvPr id="148" name="TextBox 147"/>
          <p:cNvSpPr txBox="1"/>
          <p:nvPr/>
        </p:nvSpPr>
        <p:spPr>
          <a:xfrm>
            <a:off x="16239572" y="9106076"/>
            <a:ext cx="5248963" cy="1453559"/>
          </a:xfrm>
          <a:prstGeom prst="rect">
            <a:avLst/>
          </a:prstGeom>
          <a:noFill/>
        </p:spPr>
        <p:txBody>
          <a:bodyPr wrap="square" lIns="0" rIns="0" tIns="0" bIns="0" anchor="t">
            <a:noAutofit/>
          </a:bodyPr>
          <a:lstStyle/>
          <a:p>
            <a:pPr algn="l"/>
            <a:r>
              <a:rPr sz="2100" b="0" i="0">
                <a:solidFill>
                  <a:srgbClr val="5E5E5E"/>
                </a:solidFill>
                <a:latin typeface="Gotham Book"/>
              </a:rPr>
              <a:t>Attacks on suppliers and leaks of sensitive design or process data</a:t>
            </a:r>
          </a:p>
        </p:txBody>
      </p:sp>
      <p:sp>
        <p:nvSpPr>
          <p:cNvPr id="149" name="TextBox 148"/>
          <p:cNvSpPr txBox="1"/>
          <p:nvPr/>
        </p:nvSpPr>
        <p:spPr>
          <a:xfrm>
            <a:off x="2350008" y="11205661"/>
            <a:ext cx="19595592" cy="646026"/>
          </a:xfrm>
          <a:prstGeom prst="rect">
            <a:avLst/>
          </a:prstGeom>
          <a:noFill/>
        </p:spPr>
        <p:txBody>
          <a:bodyPr wrap="square" lIns="0" rIns="0" tIns="0" bIns="0" anchor="t">
            <a:noAutofit/>
          </a:bodyPr>
          <a:lstStyle/>
          <a:p>
            <a:pPr algn="l"/>
            <a:r>
              <a:rPr sz="2400" b="0" i="1">
                <a:solidFill>
                  <a:srgbClr val="B35900"/>
                </a:solidFill>
                <a:latin typeface="Gotham Book"/>
              </a:rPr>
              <a:t>When several of these overlap at one node, that node is where to look first.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Most exposure sits below tier 1, where visibility drops off</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THE RISK MAP</a:t>
            </a:r>
          </a:p>
        </p:txBody>
      </p:sp>
      <p:sp>
        <p:nvSpPr>
          <p:cNvPr id="119" name="Rectangle 118"/>
          <p:cNvSpPr/>
          <p:nvPr/>
        </p:nvSpPr>
        <p:spPr>
          <a:xfrm>
            <a:off x="2673021" y="3695606"/>
            <a:ext cx="19219281" cy="2018832"/>
          </a:xfrm>
          <a:prstGeom prst="rect">
            <a:avLst/>
          </a:prstGeom>
          <a:solidFill>
            <a:srgbClr val="1A1A1A"/>
          </a:solidFill>
          <a:ln>
            <a:noFill/>
          </a:ln>
        </p:spPr>
        <p:txBody>
          <a:bodyPr rtlCol="0" anchor="ctr"/>
          <a:lstStyle/>
          <a:p>
            <a:pPr algn="ctr"/>
          </a:p>
        </p:txBody>
      </p:sp>
      <p:sp>
        <p:nvSpPr>
          <p:cNvPr id="120" name="TextBox 119"/>
          <p:cNvSpPr txBox="1"/>
          <p:nvPr/>
        </p:nvSpPr>
        <p:spPr>
          <a:xfrm>
            <a:off x="3157540" y="3695606"/>
            <a:ext cx="2261091" cy="2018832"/>
          </a:xfrm>
          <a:prstGeom prst="rect">
            <a:avLst/>
          </a:prstGeom>
          <a:noFill/>
        </p:spPr>
        <p:txBody>
          <a:bodyPr wrap="square" lIns="0" rIns="0" tIns="0" bIns="0" anchor="ctr">
            <a:noAutofit/>
          </a:bodyPr>
          <a:lstStyle/>
          <a:p>
            <a:pPr algn="l"/>
            <a:r>
              <a:rPr sz="3300" b="0" i="0">
                <a:solidFill>
                  <a:srgbClr val="FFFFFF"/>
                </a:solidFill>
                <a:latin typeface="Gotham Medium"/>
              </a:rPr>
              <a:t>Tier 1</a:t>
            </a:r>
          </a:p>
        </p:txBody>
      </p:sp>
      <p:sp>
        <p:nvSpPr>
          <p:cNvPr id="121" name="TextBox 120"/>
          <p:cNvSpPr txBox="1"/>
          <p:nvPr/>
        </p:nvSpPr>
        <p:spPr>
          <a:xfrm>
            <a:off x="5580139" y="3695606"/>
            <a:ext cx="12597512" cy="2018832"/>
          </a:xfrm>
          <a:prstGeom prst="rect">
            <a:avLst/>
          </a:prstGeom>
          <a:noFill/>
        </p:spPr>
        <p:txBody>
          <a:bodyPr wrap="square" lIns="0" rIns="0" tIns="0" bIns="0" anchor="ctr">
            <a:noAutofit/>
          </a:bodyPr>
          <a:lstStyle/>
          <a:p>
            <a:pPr algn="l"/>
            <a:r>
              <a:rPr sz="2100" b="0" i="0">
                <a:solidFill>
                  <a:srgbClr val="FFFFFF"/>
                </a:solidFill>
                <a:latin typeface="Gotham Medium"/>
              </a:rPr>
              <a:t>Direct suppliers</a:t>
            </a:r>
          </a:p>
          <a:p>
            <a:pPr algn="l"/>
            <a:r>
              <a:rPr sz="2100" b="0" i="0">
                <a:solidFill>
                  <a:srgbClr val="FFFFFF"/>
                </a:solidFill>
                <a:latin typeface="Gotham Book"/>
              </a:rPr>
              <a:t>Contracts, POs, scorecards, regular reviews</a:t>
            </a:r>
          </a:p>
        </p:txBody>
      </p:sp>
      <p:sp>
        <p:nvSpPr>
          <p:cNvPr id="122" name="TextBox 121"/>
          <p:cNvSpPr txBox="1"/>
          <p:nvPr/>
        </p:nvSpPr>
        <p:spPr>
          <a:xfrm>
            <a:off x="18339158" y="3695606"/>
            <a:ext cx="3230131" cy="2018832"/>
          </a:xfrm>
          <a:prstGeom prst="rect">
            <a:avLst/>
          </a:prstGeom>
          <a:noFill/>
        </p:spPr>
        <p:txBody>
          <a:bodyPr wrap="square" lIns="0" rIns="0" tIns="0" bIns="0" anchor="ctr">
            <a:noAutofit/>
          </a:bodyPr>
          <a:lstStyle/>
          <a:p>
            <a:pPr algn="r"/>
            <a:r>
              <a:rPr sz="2250" b="0" i="1">
                <a:solidFill>
                  <a:srgbClr val="FFFFFF"/>
                </a:solidFill>
                <a:latin typeface="Gotham Book"/>
              </a:rPr>
              <a:t>Good visibility</a:t>
            </a:r>
          </a:p>
        </p:txBody>
      </p:sp>
      <p:sp>
        <p:nvSpPr>
          <p:cNvPr id="123" name="Rectangle 122"/>
          <p:cNvSpPr/>
          <p:nvPr/>
        </p:nvSpPr>
        <p:spPr>
          <a:xfrm>
            <a:off x="4530346" y="6118204"/>
            <a:ext cx="15504630" cy="2018832"/>
          </a:xfrm>
          <a:prstGeom prst="rect">
            <a:avLst/>
          </a:prstGeom>
          <a:solidFill>
            <a:srgbClr val="5E5E5E"/>
          </a:solidFill>
          <a:ln>
            <a:noFill/>
          </a:ln>
        </p:spPr>
        <p:txBody>
          <a:bodyPr rtlCol="0" anchor="ctr"/>
          <a:lstStyle/>
          <a:p>
            <a:pPr algn="ctr"/>
          </a:p>
        </p:txBody>
      </p:sp>
      <p:sp>
        <p:nvSpPr>
          <p:cNvPr id="124" name="TextBox 123"/>
          <p:cNvSpPr txBox="1"/>
          <p:nvPr/>
        </p:nvSpPr>
        <p:spPr>
          <a:xfrm>
            <a:off x="5014866" y="6118204"/>
            <a:ext cx="2261091" cy="2018832"/>
          </a:xfrm>
          <a:prstGeom prst="rect">
            <a:avLst/>
          </a:prstGeom>
          <a:noFill/>
        </p:spPr>
        <p:txBody>
          <a:bodyPr wrap="square" lIns="0" rIns="0" tIns="0" bIns="0" anchor="ctr">
            <a:noAutofit/>
          </a:bodyPr>
          <a:lstStyle/>
          <a:p>
            <a:pPr algn="l"/>
            <a:r>
              <a:rPr sz="3300" b="0" i="0">
                <a:solidFill>
                  <a:srgbClr val="FFFFFF"/>
                </a:solidFill>
                <a:latin typeface="Gotham Medium"/>
              </a:rPr>
              <a:t>Tier 2</a:t>
            </a:r>
          </a:p>
        </p:txBody>
      </p:sp>
      <p:sp>
        <p:nvSpPr>
          <p:cNvPr id="125" name="TextBox 124"/>
          <p:cNvSpPr txBox="1"/>
          <p:nvPr/>
        </p:nvSpPr>
        <p:spPr>
          <a:xfrm>
            <a:off x="7437464" y="6118204"/>
            <a:ext cx="8882861" cy="2018832"/>
          </a:xfrm>
          <a:prstGeom prst="rect">
            <a:avLst/>
          </a:prstGeom>
          <a:noFill/>
        </p:spPr>
        <p:txBody>
          <a:bodyPr wrap="square" lIns="0" rIns="0" tIns="0" bIns="0" anchor="ctr">
            <a:noAutofit/>
          </a:bodyPr>
          <a:lstStyle/>
          <a:p>
            <a:pPr algn="l"/>
            <a:r>
              <a:rPr sz="2100" b="0" i="0">
                <a:solidFill>
                  <a:srgbClr val="FFFFFF"/>
                </a:solidFill>
                <a:latin typeface="Gotham Medium"/>
              </a:rPr>
              <a:t>Their suppliers</a:t>
            </a:r>
          </a:p>
          <a:p>
            <a:pPr algn="l"/>
            <a:r>
              <a:rPr sz="2100" b="0" i="0">
                <a:solidFill>
                  <a:srgbClr val="FFFFFF"/>
                </a:solidFill>
                <a:latin typeface="Gotham Book"/>
              </a:rPr>
              <a:t>What tier 1 chooses to disclose, often partial</a:t>
            </a:r>
          </a:p>
        </p:txBody>
      </p:sp>
      <p:sp>
        <p:nvSpPr>
          <p:cNvPr id="126" name="TextBox 125"/>
          <p:cNvSpPr txBox="1"/>
          <p:nvPr/>
        </p:nvSpPr>
        <p:spPr>
          <a:xfrm>
            <a:off x="16481832" y="6118204"/>
            <a:ext cx="3230131" cy="2018832"/>
          </a:xfrm>
          <a:prstGeom prst="rect">
            <a:avLst/>
          </a:prstGeom>
          <a:noFill/>
        </p:spPr>
        <p:txBody>
          <a:bodyPr wrap="square" lIns="0" rIns="0" tIns="0" bIns="0" anchor="ctr">
            <a:noAutofit/>
          </a:bodyPr>
          <a:lstStyle/>
          <a:p>
            <a:pPr algn="r"/>
            <a:r>
              <a:rPr sz="2250" b="0" i="1">
                <a:solidFill>
                  <a:srgbClr val="FFFFFF"/>
                </a:solidFill>
                <a:latin typeface="Gotham Book"/>
              </a:rPr>
              <a:t>Partial visibility</a:t>
            </a:r>
          </a:p>
        </p:txBody>
      </p:sp>
      <p:sp>
        <p:nvSpPr>
          <p:cNvPr id="127" name="Rectangle 126"/>
          <p:cNvSpPr/>
          <p:nvPr/>
        </p:nvSpPr>
        <p:spPr>
          <a:xfrm>
            <a:off x="6387672" y="8540803"/>
            <a:ext cx="11789979" cy="2018832"/>
          </a:xfrm>
          <a:prstGeom prst="rect">
            <a:avLst/>
          </a:prstGeom>
          <a:solidFill>
            <a:srgbClr val="E97B05"/>
          </a:solidFill>
          <a:ln>
            <a:noFill/>
          </a:ln>
        </p:spPr>
        <p:txBody>
          <a:bodyPr rtlCol="0" anchor="ctr"/>
          <a:lstStyle/>
          <a:p>
            <a:pPr algn="ctr"/>
          </a:p>
        </p:txBody>
      </p:sp>
      <p:sp>
        <p:nvSpPr>
          <p:cNvPr id="128" name="TextBox 127"/>
          <p:cNvSpPr txBox="1"/>
          <p:nvPr/>
        </p:nvSpPr>
        <p:spPr>
          <a:xfrm>
            <a:off x="6872191" y="8540803"/>
            <a:ext cx="2261091" cy="2018832"/>
          </a:xfrm>
          <a:prstGeom prst="rect">
            <a:avLst/>
          </a:prstGeom>
          <a:noFill/>
        </p:spPr>
        <p:txBody>
          <a:bodyPr wrap="square" lIns="0" rIns="0" tIns="0" bIns="0" anchor="ctr">
            <a:noAutofit/>
          </a:bodyPr>
          <a:lstStyle/>
          <a:p>
            <a:pPr algn="l"/>
            <a:r>
              <a:rPr sz="3300" b="0" i="0">
                <a:solidFill>
                  <a:srgbClr val="FFFFFF"/>
                </a:solidFill>
                <a:latin typeface="Gotham Medium"/>
              </a:rPr>
              <a:t>Tier 3+</a:t>
            </a:r>
          </a:p>
        </p:txBody>
      </p:sp>
      <p:sp>
        <p:nvSpPr>
          <p:cNvPr id="129" name="TextBox 128"/>
          <p:cNvSpPr txBox="1"/>
          <p:nvPr/>
        </p:nvSpPr>
        <p:spPr>
          <a:xfrm>
            <a:off x="9294790" y="8540803"/>
            <a:ext cx="5168210" cy="2018832"/>
          </a:xfrm>
          <a:prstGeom prst="rect">
            <a:avLst/>
          </a:prstGeom>
          <a:noFill/>
        </p:spPr>
        <p:txBody>
          <a:bodyPr wrap="square" lIns="0" rIns="0" tIns="0" bIns="0" anchor="ctr">
            <a:noAutofit/>
          </a:bodyPr>
          <a:lstStyle/>
          <a:p>
            <a:pPr algn="l"/>
            <a:r>
              <a:rPr sz="2100" b="0" i="0">
                <a:solidFill>
                  <a:srgbClr val="FFFFFF"/>
                </a:solidFill>
                <a:latin typeface="Gotham Medium"/>
              </a:rPr>
              <a:t>Raw materials, gases, sub-components</a:t>
            </a:r>
          </a:p>
          <a:p>
            <a:pPr algn="l"/>
            <a:r>
              <a:rPr sz="2100" b="0" i="0">
                <a:solidFill>
                  <a:srgbClr val="FFFFFF"/>
                </a:solidFill>
                <a:latin typeface="Gotham Book"/>
              </a:rPr>
              <a:t>Little or no direct data. Often where sole sources hide</a:t>
            </a:r>
          </a:p>
        </p:txBody>
      </p:sp>
      <p:sp>
        <p:nvSpPr>
          <p:cNvPr id="130" name="TextBox 129"/>
          <p:cNvSpPr txBox="1"/>
          <p:nvPr/>
        </p:nvSpPr>
        <p:spPr>
          <a:xfrm>
            <a:off x="14624507" y="8540803"/>
            <a:ext cx="3230131" cy="2018832"/>
          </a:xfrm>
          <a:prstGeom prst="rect">
            <a:avLst/>
          </a:prstGeom>
          <a:noFill/>
        </p:spPr>
        <p:txBody>
          <a:bodyPr wrap="square" lIns="0" rIns="0" tIns="0" bIns="0" anchor="ctr">
            <a:noAutofit/>
          </a:bodyPr>
          <a:lstStyle/>
          <a:p>
            <a:pPr algn="r"/>
            <a:r>
              <a:rPr sz="2250" b="0" i="1">
                <a:solidFill>
                  <a:srgbClr val="FFFFFF"/>
                </a:solidFill>
                <a:latin typeface="Gotham Book"/>
              </a:rPr>
              <a:t>Mostly dark</a:t>
            </a:r>
          </a:p>
        </p:txBody>
      </p:sp>
      <p:sp>
        <p:nvSpPr>
          <p:cNvPr id="131" name="TextBox 130"/>
          <p:cNvSpPr txBox="1"/>
          <p:nvPr/>
        </p:nvSpPr>
        <p:spPr>
          <a:xfrm>
            <a:off x="2350008" y="10963402"/>
            <a:ext cx="19595592" cy="807532"/>
          </a:xfrm>
          <a:prstGeom prst="rect">
            <a:avLst/>
          </a:prstGeom>
          <a:noFill/>
        </p:spPr>
        <p:txBody>
          <a:bodyPr wrap="square" lIns="0" rIns="0" tIns="0" bIns="0" anchor="t">
            <a:noAutofit/>
          </a:bodyPr>
          <a:lstStyle/>
          <a:p>
            <a:pPr algn="l"/>
            <a:r>
              <a:rPr sz="2400" b="0" i="1">
                <a:solidFill>
                  <a:srgbClr val="B35900"/>
                </a:solidFill>
                <a:latin typeface="Gotham Book"/>
              </a:rPr>
              <a:t>You can't govern data you never collect. The first job is deciding which sub-tier nodes you need to see.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data is the gap</a:t>
            </a:r>
          </a:p>
        </p:txBody>
      </p:sp>
      <p:sp>
        <p:nvSpPr>
          <p:cNvPr id="3" name="TextBox 2"/>
          <p:cNvSpPr txBox="1"/>
          <p:nvPr/>
        </p:nvSpPr>
        <p:spPr>
          <a:xfrm>
            <a:off x="1078992" y="4526280"/>
            <a:ext cx="11155680" cy="2194560"/>
          </a:xfrm>
          <a:prstGeom prst="rect">
            <a:avLst/>
          </a:prstGeom>
          <a:noFill/>
        </p:spPr>
        <p:txBody>
          <a:bodyPr wrap="square" lIns="0" rIns="0" tIns="0" bIns="0" anchor="t">
            <a:noAutofit/>
          </a:bodyPr>
          <a:lstStyle/>
          <a:p>
            <a:pPr algn="l"/>
            <a:r>
              <a:rPr sz="2700" b="0" i="0">
                <a:solidFill>
                  <a:srgbClr val="5E5E5E"/>
                </a:solidFill>
                <a:latin typeface="Gotham Book"/>
              </a:rPr>
              <a:t>The data exists. Trusting and connecting it is the problem.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Risk data exists, but it's scattered across systems</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WHY DATA IS THE GAP</a:t>
            </a:r>
          </a:p>
        </p:txBody>
      </p:sp>
      <p:sp>
        <p:nvSpPr>
          <p:cNvPr id="119" name="Rectangle 118"/>
          <p:cNvSpPr/>
          <p:nvPr/>
        </p:nvSpPr>
        <p:spPr>
          <a:xfrm>
            <a:off x="2350008" y="3614853"/>
            <a:ext cx="6944782" cy="1211299"/>
          </a:xfrm>
          <a:prstGeom prst="rect">
            <a:avLst/>
          </a:prstGeom>
          <a:solidFill>
            <a:srgbClr val="F2F2F2"/>
          </a:solidFill>
          <a:ln>
            <a:noFill/>
          </a:ln>
        </p:spPr>
        <p:txBody>
          <a:bodyPr rtlCol="0" anchor="ctr"/>
          <a:lstStyle/>
          <a:p>
            <a:pPr algn="ctr"/>
          </a:p>
        </p:txBody>
      </p:sp>
      <p:sp>
        <p:nvSpPr>
          <p:cNvPr id="120" name="Rounded Rectangle 119"/>
          <p:cNvSpPr/>
          <p:nvPr/>
        </p:nvSpPr>
        <p:spPr>
          <a:xfrm>
            <a:off x="2592267" y="3808661"/>
            <a:ext cx="807532" cy="807532"/>
          </a:xfrm>
          <a:prstGeom prst="roundRect">
            <a:avLst>
              <a:gd name="adj" fmla="val 16000"/>
            </a:avLst>
          </a:prstGeom>
          <a:solidFill>
            <a:srgbClr val="1A1A1A"/>
          </a:solidFill>
          <a:ln>
            <a:noFill/>
          </a:ln>
        </p:spPr>
        <p:txBody>
          <a:bodyPr rtlCol="0" anchor="ctr"/>
          <a:lstStyle/>
          <a:p>
            <a:pPr algn="ctr"/>
          </a:p>
        </p:txBody>
      </p:sp>
      <p:pic>
        <p:nvPicPr>
          <p:cNvPr id="121" name="Picture 120" descr="image.png"/>
          <p:cNvPicPr>
            <a:picLocks noChangeAspect="1"/>
          </p:cNvPicPr>
          <p:nvPr/>
        </p:nvPicPr>
        <p:blipFill>
          <a:blip r:embed="rId2"/>
          <a:stretch>
            <a:fillRect/>
          </a:stretch>
        </p:blipFill>
        <p:spPr>
          <a:xfrm>
            <a:off x="2769925" y="3986318"/>
            <a:ext cx="452218" cy="452218"/>
          </a:xfrm>
          <a:prstGeom prst="rect">
            <a:avLst/>
          </a:prstGeom>
        </p:spPr>
      </p:pic>
      <p:sp>
        <p:nvSpPr>
          <p:cNvPr id="122" name="TextBox 121"/>
          <p:cNvSpPr txBox="1"/>
          <p:nvPr/>
        </p:nvSpPr>
        <p:spPr>
          <a:xfrm>
            <a:off x="3722813" y="3614853"/>
            <a:ext cx="5329716" cy="1211299"/>
          </a:xfrm>
          <a:prstGeom prst="rect">
            <a:avLst/>
          </a:prstGeom>
          <a:noFill/>
        </p:spPr>
        <p:txBody>
          <a:bodyPr wrap="square" lIns="0" rIns="0" tIns="0" bIns="0" anchor="ctr">
            <a:noAutofit/>
          </a:bodyPr>
          <a:lstStyle/>
          <a:p>
            <a:pPr algn="l"/>
            <a:r>
              <a:rPr sz="2400" b="0" i="0">
                <a:solidFill>
                  <a:srgbClr val="1A1A1A"/>
                </a:solidFill>
                <a:latin typeface="Gotham Medium"/>
              </a:rPr>
              <a:t>ERP / MRP</a:t>
            </a:r>
          </a:p>
        </p:txBody>
      </p:sp>
      <p:sp>
        <p:nvSpPr>
          <p:cNvPr id="123" name="Rectangle 122"/>
          <p:cNvSpPr/>
          <p:nvPr/>
        </p:nvSpPr>
        <p:spPr>
          <a:xfrm>
            <a:off x="2350008" y="5149165"/>
            <a:ext cx="6944782" cy="1211299"/>
          </a:xfrm>
          <a:prstGeom prst="rect">
            <a:avLst/>
          </a:prstGeom>
          <a:solidFill>
            <a:srgbClr val="F2F2F2"/>
          </a:solidFill>
          <a:ln>
            <a:noFill/>
          </a:ln>
        </p:spPr>
        <p:txBody>
          <a:bodyPr rtlCol="0" anchor="ctr"/>
          <a:lstStyle/>
          <a:p>
            <a:pPr algn="ctr"/>
          </a:p>
        </p:txBody>
      </p:sp>
      <p:sp>
        <p:nvSpPr>
          <p:cNvPr id="124" name="Rounded Rectangle 123"/>
          <p:cNvSpPr/>
          <p:nvPr/>
        </p:nvSpPr>
        <p:spPr>
          <a:xfrm>
            <a:off x="2592267" y="5342973"/>
            <a:ext cx="807532" cy="807532"/>
          </a:xfrm>
          <a:prstGeom prst="roundRect">
            <a:avLst>
              <a:gd name="adj" fmla="val 16000"/>
            </a:avLst>
          </a:prstGeom>
          <a:solidFill>
            <a:srgbClr val="1A1A1A"/>
          </a:solidFill>
          <a:ln>
            <a:noFill/>
          </a:ln>
        </p:spPr>
        <p:txBody>
          <a:bodyPr rtlCol="0" anchor="ctr"/>
          <a:lstStyle/>
          <a:p>
            <a:pPr algn="ctr"/>
          </a:p>
        </p:txBody>
      </p:sp>
      <p:pic>
        <p:nvPicPr>
          <p:cNvPr id="125" name="Picture 124" descr="image.png"/>
          <p:cNvPicPr>
            <a:picLocks noChangeAspect="1"/>
          </p:cNvPicPr>
          <p:nvPr/>
        </p:nvPicPr>
        <p:blipFill>
          <a:blip r:embed="rId3"/>
          <a:stretch>
            <a:fillRect/>
          </a:stretch>
        </p:blipFill>
        <p:spPr>
          <a:xfrm>
            <a:off x="2769925" y="5520630"/>
            <a:ext cx="452218" cy="452218"/>
          </a:xfrm>
          <a:prstGeom prst="rect">
            <a:avLst/>
          </a:prstGeom>
        </p:spPr>
      </p:pic>
      <p:sp>
        <p:nvSpPr>
          <p:cNvPr id="126" name="TextBox 125"/>
          <p:cNvSpPr txBox="1"/>
          <p:nvPr/>
        </p:nvSpPr>
        <p:spPr>
          <a:xfrm>
            <a:off x="3722813" y="5149165"/>
            <a:ext cx="5329716" cy="1211299"/>
          </a:xfrm>
          <a:prstGeom prst="rect">
            <a:avLst/>
          </a:prstGeom>
          <a:noFill/>
        </p:spPr>
        <p:txBody>
          <a:bodyPr wrap="square" lIns="0" rIns="0" tIns="0" bIns="0" anchor="ctr">
            <a:noAutofit/>
          </a:bodyPr>
          <a:lstStyle/>
          <a:p>
            <a:pPr algn="l"/>
            <a:r>
              <a:rPr sz="2400" b="0" i="0">
                <a:solidFill>
                  <a:srgbClr val="1A1A1A"/>
                </a:solidFill>
                <a:latin typeface="Gotham Medium"/>
              </a:rPr>
              <a:t>Supplier portals</a:t>
            </a:r>
          </a:p>
        </p:txBody>
      </p:sp>
      <p:sp>
        <p:nvSpPr>
          <p:cNvPr id="127" name="Rectangle 126"/>
          <p:cNvSpPr/>
          <p:nvPr/>
        </p:nvSpPr>
        <p:spPr>
          <a:xfrm>
            <a:off x="2350008" y="6683477"/>
            <a:ext cx="6944782" cy="1211299"/>
          </a:xfrm>
          <a:prstGeom prst="rect">
            <a:avLst/>
          </a:prstGeom>
          <a:solidFill>
            <a:srgbClr val="F2F2F2"/>
          </a:solidFill>
          <a:ln>
            <a:noFill/>
          </a:ln>
        </p:spPr>
        <p:txBody>
          <a:bodyPr rtlCol="0" anchor="ctr"/>
          <a:lstStyle/>
          <a:p>
            <a:pPr algn="ctr"/>
          </a:p>
        </p:txBody>
      </p:sp>
      <p:sp>
        <p:nvSpPr>
          <p:cNvPr id="128" name="Rounded Rectangle 127"/>
          <p:cNvSpPr/>
          <p:nvPr/>
        </p:nvSpPr>
        <p:spPr>
          <a:xfrm>
            <a:off x="2592267" y="6877285"/>
            <a:ext cx="807532" cy="807532"/>
          </a:xfrm>
          <a:prstGeom prst="roundRect">
            <a:avLst>
              <a:gd name="adj" fmla="val 16000"/>
            </a:avLst>
          </a:prstGeom>
          <a:solidFill>
            <a:srgbClr val="1A1A1A"/>
          </a:solidFill>
          <a:ln>
            <a:noFill/>
          </a:ln>
        </p:spPr>
        <p:txBody>
          <a:bodyPr rtlCol="0" anchor="ctr"/>
          <a:lstStyle/>
          <a:p>
            <a:pPr algn="ctr"/>
          </a:p>
        </p:txBody>
      </p:sp>
      <p:pic>
        <p:nvPicPr>
          <p:cNvPr id="129" name="Picture 128" descr="image.png"/>
          <p:cNvPicPr>
            <a:picLocks noChangeAspect="1"/>
          </p:cNvPicPr>
          <p:nvPr/>
        </p:nvPicPr>
        <p:blipFill>
          <a:blip r:embed="rId4"/>
          <a:stretch>
            <a:fillRect/>
          </a:stretch>
        </p:blipFill>
        <p:spPr>
          <a:xfrm>
            <a:off x="2769925" y="7054943"/>
            <a:ext cx="452218" cy="452218"/>
          </a:xfrm>
          <a:prstGeom prst="rect">
            <a:avLst/>
          </a:prstGeom>
        </p:spPr>
      </p:pic>
      <p:sp>
        <p:nvSpPr>
          <p:cNvPr id="130" name="TextBox 129"/>
          <p:cNvSpPr txBox="1"/>
          <p:nvPr/>
        </p:nvSpPr>
        <p:spPr>
          <a:xfrm>
            <a:off x="3722813" y="6683477"/>
            <a:ext cx="5329716" cy="1211299"/>
          </a:xfrm>
          <a:prstGeom prst="rect">
            <a:avLst/>
          </a:prstGeom>
          <a:noFill/>
        </p:spPr>
        <p:txBody>
          <a:bodyPr wrap="square" lIns="0" rIns="0" tIns="0" bIns="0" anchor="ctr">
            <a:noAutofit/>
          </a:bodyPr>
          <a:lstStyle/>
          <a:p>
            <a:pPr algn="l"/>
            <a:r>
              <a:rPr sz="2400" b="0" i="0">
                <a:solidFill>
                  <a:srgbClr val="1A1A1A"/>
                </a:solidFill>
                <a:latin typeface="Gotham Medium"/>
              </a:rPr>
              <a:t>Logistics feeds</a:t>
            </a:r>
          </a:p>
        </p:txBody>
      </p:sp>
      <p:sp>
        <p:nvSpPr>
          <p:cNvPr id="131" name="Rectangle 130"/>
          <p:cNvSpPr/>
          <p:nvPr/>
        </p:nvSpPr>
        <p:spPr>
          <a:xfrm>
            <a:off x="2350008" y="8217790"/>
            <a:ext cx="6944782" cy="1211299"/>
          </a:xfrm>
          <a:prstGeom prst="rect">
            <a:avLst/>
          </a:prstGeom>
          <a:solidFill>
            <a:srgbClr val="F2F2F2"/>
          </a:solidFill>
          <a:ln>
            <a:noFill/>
          </a:ln>
        </p:spPr>
        <p:txBody>
          <a:bodyPr rtlCol="0" anchor="ctr"/>
          <a:lstStyle/>
          <a:p>
            <a:pPr algn="ctr"/>
          </a:p>
        </p:txBody>
      </p:sp>
      <p:sp>
        <p:nvSpPr>
          <p:cNvPr id="132" name="Rounded Rectangle 131"/>
          <p:cNvSpPr/>
          <p:nvPr/>
        </p:nvSpPr>
        <p:spPr>
          <a:xfrm>
            <a:off x="2592267" y="8411598"/>
            <a:ext cx="807532" cy="807532"/>
          </a:xfrm>
          <a:prstGeom prst="roundRect">
            <a:avLst>
              <a:gd name="adj" fmla="val 16000"/>
            </a:avLst>
          </a:prstGeom>
          <a:solidFill>
            <a:srgbClr val="1A1A1A"/>
          </a:solidFill>
          <a:ln>
            <a:noFill/>
          </a:ln>
        </p:spPr>
        <p:txBody>
          <a:bodyPr rtlCol="0" anchor="ctr"/>
          <a:lstStyle/>
          <a:p>
            <a:pPr algn="ctr"/>
          </a:p>
        </p:txBody>
      </p:sp>
      <p:pic>
        <p:nvPicPr>
          <p:cNvPr id="133" name="Picture 132" descr="image.png"/>
          <p:cNvPicPr>
            <a:picLocks noChangeAspect="1"/>
          </p:cNvPicPr>
          <p:nvPr/>
        </p:nvPicPr>
        <p:blipFill>
          <a:blip r:embed="rId5"/>
          <a:stretch>
            <a:fillRect/>
          </a:stretch>
        </p:blipFill>
        <p:spPr>
          <a:xfrm>
            <a:off x="2769925" y="8589255"/>
            <a:ext cx="452218" cy="452218"/>
          </a:xfrm>
          <a:prstGeom prst="rect">
            <a:avLst/>
          </a:prstGeom>
        </p:spPr>
      </p:pic>
      <p:sp>
        <p:nvSpPr>
          <p:cNvPr id="134" name="TextBox 133"/>
          <p:cNvSpPr txBox="1"/>
          <p:nvPr/>
        </p:nvSpPr>
        <p:spPr>
          <a:xfrm>
            <a:off x="3722813" y="8217790"/>
            <a:ext cx="5329716" cy="1211299"/>
          </a:xfrm>
          <a:prstGeom prst="rect">
            <a:avLst/>
          </a:prstGeom>
          <a:noFill/>
        </p:spPr>
        <p:txBody>
          <a:bodyPr wrap="square" lIns="0" rIns="0" tIns="0" bIns="0" anchor="ctr">
            <a:noAutofit/>
          </a:bodyPr>
          <a:lstStyle/>
          <a:p>
            <a:pPr algn="l"/>
            <a:r>
              <a:rPr sz="2400" b="0" i="0">
                <a:solidFill>
                  <a:srgbClr val="1A1A1A"/>
                </a:solidFill>
                <a:latin typeface="Gotham Medium"/>
              </a:rPr>
              <a:t>MES &amp; quality</a:t>
            </a:r>
          </a:p>
        </p:txBody>
      </p:sp>
      <p:sp>
        <p:nvSpPr>
          <p:cNvPr id="135" name="Rectangle 134"/>
          <p:cNvSpPr/>
          <p:nvPr/>
        </p:nvSpPr>
        <p:spPr>
          <a:xfrm>
            <a:off x="2350008" y="9752102"/>
            <a:ext cx="6944782" cy="1211299"/>
          </a:xfrm>
          <a:prstGeom prst="rect">
            <a:avLst/>
          </a:prstGeom>
          <a:solidFill>
            <a:srgbClr val="F2F2F2"/>
          </a:solidFill>
          <a:ln>
            <a:noFill/>
          </a:ln>
        </p:spPr>
        <p:txBody>
          <a:bodyPr rtlCol="0" anchor="ctr"/>
          <a:lstStyle/>
          <a:p>
            <a:pPr algn="ctr"/>
          </a:p>
        </p:txBody>
      </p:sp>
      <p:sp>
        <p:nvSpPr>
          <p:cNvPr id="136" name="Rounded Rectangle 135"/>
          <p:cNvSpPr/>
          <p:nvPr/>
        </p:nvSpPr>
        <p:spPr>
          <a:xfrm>
            <a:off x="2592267" y="9945910"/>
            <a:ext cx="807532" cy="807532"/>
          </a:xfrm>
          <a:prstGeom prst="roundRect">
            <a:avLst>
              <a:gd name="adj" fmla="val 16000"/>
            </a:avLst>
          </a:prstGeom>
          <a:solidFill>
            <a:srgbClr val="1A1A1A"/>
          </a:solidFill>
          <a:ln>
            <a:noFill/>
          </a:ln>
        </p:spPr>
        <p:txBody>
          <a:bodyPr rtlCol="0" anchor="ctr"/>
          <a:lstStyle/>
          <a:p>
            <a:pPr algn="ctr"/>
          </a:p>
        </p:txBody>
      </p:sp>
      <p:pic>
        <p:nvPicPr>
          <p:cNvPr id="137" name="Picture 136" descr="image.png"/>
          <p:cNvPicPr>
            <a:picLocks noChangeAspect="1"/>
          </p:cNvPicPr>
          <p:nvPr/>
        </p:nvPicPr>
        <p:blipFill>
          <a:blip r:embed="rId6"/>
          <a:stretch>
            <a:fillRect/>
          </a:stretch>
        </p:blipFill>
        <p:spPr>
          <a:xfrm>
            <a:off x="2769925" y="10123567"/>
            <a:ext cx="452218" cy="452218"/>
          </a:xfrm>
          <a:prstGeom prst="rect">
            <a:avLst/>
          </a:prstGeom>
        </p:spPr>
      </p:pic>
      <p:sp>
        <p:nvSpPr>
          <p:cNvPr id="138" name="TextBox 137"/>
          <p:cNvSpPr txBox="1"/>
          <p:nvPr/>
        </p:nvSpPr>
        <p:spPr>
          <a:xfrm>
            <a:off x="3722813" y="9752102"/>
            <a:ext cx="5329716" cy="1211299"/>
          </a:xfrm>
          <a:prstGeom prst="rect">
            <a:avLst/>
          </a:prstGeom>
          <a:noFill/>
        </p:spPr>
        <p:txBody>
          <a:bodyPr wrap="square" lIns="0" rIns="0" tIns="0" bIns="0" anchor="ctr">
            <a:noAutofit/>
          </a:bodyPr>
          <a:lstStyle/>
          <a:p>
            <a:pPr algn="l"/>
            <a:r>
              <a:rPr sz="2400" b="0" i="0">
                <a:solidFill>
                  <a:srgbClr val="1A1A1A"/>
                </a:solidFill>
                <a:latin typeface="Gotham Medium"/>
              </a:rPr>
              <a:t>News &amp; trade data</a:t>
            </a:r>
          </a:p>
        </p:txBody>
      </p:sp>
      <p:sp>
        <p:nvSpPr>
          <p:cNvPr id="139" name="Rounded Rectangle 138"/>
          <p:cNvSpPr/>
          <p:nvPr/>
        </p:nvSpPr>
        <p:spPr>
          <a:xfrm>
            <a:off x="9860063" y="6441218"/>
            <a:ext cx="1292052" cy="1292052"/>
          </a:xfrm>
          <a:prstGeom prst="roundRect">
            <a:avLst>
              <a:gd name="adj" fmla="val 10000"/>
            </a:avLst>
          </a:prstGeom>
          <a:solidFill>
            <a:srgbClr val="E97B05"/>
          </a:solidFill>
          <a:ln>
            <a:noFill/>
          </a:ln>
        </p:spPr>
        <p:txBody>
          <a:bodyPr rtlCol="0" anchor="ctr"/>
          <a:lstStyle/>
          <a:p>
            <a:pPr algn="ctr"/>
          </a:p>
        </p:txBody>
      </p:sp>
      <p:pic>
        <p:nvPicPr>
          <p:cNvPr id="140" name="Picture 139" descr="image.png"/>
          <p:cNvPicPr>
            <a:picLocks noChangeAspect="1"/>
          </p:cNvPicPr>
          <p:nvPr/>
        </p:nvPicPr>
        <p:blipFill>
          <a:blip r:embed="rId7"/>
          <a:stretch>
            <a:fillRect/>
          </a:stretch>
        </p:blipFill>
        <p:spPr>
          <a:xfrm>
            <a:off x="10144315" y="6725469"/>
            <a:ext cx="723549" cy="723549"/>
          </a:xfrm>
          <a:prstGeom prst="rect">
            <a:avLst/>
          </a:prstGeom>
        </p:spPr>
      </p:pic>
      <p:sp>
        <p:nvSpPr>
          <p:cNvPr id="141" name="TextBox 140"/>
          <p:cNvSpPr txBox="1"/>
          <p:nvPr/>
        </p:nvSpPr>
        <p:spPr>
          <a:xfrm>
            <a:off x="11959648" y="3614853"/>
            <a:ext cx="10013407" cy="646026"/>
          </a:xfrm>
          <a:prstGeom prst="rect">
            <a:avLst/>
          </a:prstGeom>
          <a:noFill/>
        </p:spPr>
        <p:txBody>
          <a:bodyPr wrap="square" lIns="0" rIns="0" tIns="0" bIns="0" anchor="t">
            <a:noAutofit/>
          </a:bodyPr>
          <a:lstStyle/>
          <a:p>
            <a:pPr algn="l"/>
            <a:r>
              <a:rPr sz="2550" b="0" i="0">
                <a:solidFill>
                  <a:srgbClr val="1A1A1A"/>
                </a:solidFill>
                <a:latin typeface="Gotham Medium"/>
              </a:rPr>
              <a:t>Different IDs for the same thing</a:t>
            </a:r>
          </a:p>
        </p:txBody>
      </p:sp>
      <p:sp>
        <p:nvSpPr>
          <p:cNvPr id="142" name="TextBox 141"/>
          <p:cNvSpPr txBox="1"/>
          <p:nvPr/>
        </p:nvSpPr>
        <p:spPr>
          <a:xfrm>
            <a:off x="11959648" y="4260879"/>
            <a:ext cx="10013407" cy="1001340"/>
          </a:xfrm>
          <a:prstGeom prst="rect">
            <a:avLst/>
          </a:prstGeom>
          <a:noFill/>
        </p:spPr>
        <p:txBody>
          <a:bodyPr wrap="square" lIns="0" rIns="0" tIns="0" bIns="0" anchor="t">
            <a:noAutofit/>
          </a:bodyPr>
          <a:lstStyle/>
          <a:p>
            <a:pPr algn="l"/>
            <a:r>
              <a:rPr sz="2100" b="0" i="0">
                <a:solidFill>
                  <a:srgbClr val="5E5E5E"/>
                </a:solidFill>
                <a:latin typeface="Gotham Book"/>
              </a:rPr>
              <a:t>Part numbers, supplier codes, and site names don't match across systems.</a:t>
            </a:r>
          </a:p>
        </p:txBody>
      </p:sp>
      <p:sp>
        <p:nvSpPr>
          <p:cNvPr id="143" name="TextBox 142"/>
          <p:cNvSpPr txBox="1"/>
          <p:nvPr/>
        </p:nvSpPr>
        <p:spPr>
          <a:xfrm>
            <a:off x="11959648" y="5520630"/>
            <a:ext cx="10013407" cy="646026"/>
          </a:xfrm>
          <a:prstGeom prst="rect">
            <a:avLst/>
          </a:prstGeom>
          <a:noFill/>
        </p:spPr>
        <p:txBody>
          <a:bodyPr wrap="square" lIns="0" rIns="0" tIns="0" bIns="0" anchor="t">
            <a:noAutofit/>
          </a:bodyPr>
          <a:lstStyle/>
          <a:p>
            <a:pPr algn="l"/>
            <a:r>
              <a:rPr sz="2550" b="0" i="0">
                <a:solidFill>
                  <a:srgbClr val="1A1A1A"/>
                </a:solidFill>
                <a:latin typeface="Gotham Medium"/>
              </a:rPr>
              <a:t>No lineage</a:t>
            </a:r>
          </a:p>
        </p:txBody>
      </p:sp>
      <p:sp>
        <p:nvSpPr>
          <p:cNvPr id="144" name="TextBox 143"/>
          <p:cNvSpPr txBox="1"/>
          <p:nvPr/>
        </p:nvSpPr>
        <p:spPr>
          <a:xfrm>
            <a:off x="11959648" y="6166656"/>
            <a:ext cx="10013407" cy="1001340"/>
          </a:xfrm>
          <a:prstGeom prst="rect">
            <a:avLst/>
          </a:prstGeom>
          <a:noFill/>
        </p:spPr>
        <p:txBody>
          <a:bodyPr wrap="square" lIns="0" rIns="0" tIns="0" bIns="0" anchor="t">
            <a:noAutofit/>
          </a:bodyPr>
          <a:lstStyle/>
          <a:p>
            <a:pPr algn="l"/>
            <a:r>
              <a:rPr sz="2100" b="0" i="0">
                <a:solidFill>
                  <a:srgbClr val="5E5E5E"/>
                </a:solidFill>
                <a:latin typeface="Gotham Book"/>
              </a:rPr>
              <a:t>Nobody can say where a lead time or risk score came from, or when it was last true.</a:t>
            </a:r>
          </a:p>
        </p:txBody>
      </p:sp>
      <p:sp>
        <p:nvSpPr>
          <p:cNvPr id="145" name="TextBox 144"/>
          <p:cNvSpPr txBox="1"/>
          <p:nvPr/>
        </p:nvSpPr>
        <p:spPr>
          <a:xfrm>
            <a:off x="11959648" y="7426408"/>
            <a:ext cx="10013407" cy="646026"/>
          </a:xfrm>
          <a:prstGeom prst="rect">
            <a:avLst/>
          </a:prstGeom>
          <a:noFill/>
        </p:spPr>
        <p:txBody>
          <a:bodyPr wrap="square" lIns="0" rIns="0" tIns="0" bIns="0" anchor="t">
            <a:noAutofit/>
          </a:bodyPr>
          <a:lstStyle/>
          <a:p>
            <a:pPr algn="l"/>
            <a:r>
              <a:rPr sz="2550" b="0" i="0">
                <a:solidFill>
                  <a:srgbClr val="1A1A1A"/>
                </a:solidFill>
                <a:latin typeface="Gotham Medium"/>
              </a:rPr>
              <a:t>Stale master data</a:t>
            </a:r>
          </a:p>
        </p:txBody>
      </p:sp>
      <p:sp>
        <p:nvSpPr>
          <p:cNvPr id="146" name="TextBox 145"/>
          <p:cNvSpPr txBox="1"/>
          <p:nvPr/>
        </p:nvSpPr>
        <p:spPr>
          <a:xfrm>
            <a:off x="11959648" y="8072434"/>
            <a:ext cx="10013407" cy="1001340"/>
          </a:xfrm>
          <a:prstGeom prst="rect">
            <a:avLst/>
          </a:prstGeom>
          <a:noFill/>
        </p:spPr>
        <p:txBody>
          <a:bodyPr wrap="square" lIns="0" rIns="0" tIns="0" bIns="0" anchor="t">
            <a:noAutofit/>
          </a:bodyPr>
          <a:lstStyle/>
          <a:p>
            <a:pPr algn="l"/>
            <a:r>
              <a:rPr sz="2100" b="0" i="0">
                <a:solidFill>
                  <a:srgbClr val="5E5E5E"/>
                </a:solidFill>
                <a:latin typeface="Gotham Book"/>
              </a:rPr>
              <a:t>Planned lead times and approved sources drift from reality between reviews.</a:t>
            </a:r>
          </a:p>
        </p:txBody>
      </p:sp>
      <p:sp>
        <p:nvSpPr>
          <p:cNvPr id="147" name="TextBox 146"/>
          <p:cNvSpPr txBox="1"/>
          <p:nvPr/>
        </p:nvSpPr>
        <p:spPr>
          <a:xfrm>
            <a:off x="11959648" y="9332185"/>
            <a:ext cx="10013407" cy="646026"/>
          </a:xfrm>
          <a:prstGeom prst="rect">
            <a:avLst/>
          </a:prstGeom>
          <a:noFill/>
        </p:spPr>
        <p:txBody>
          <a:bodyPr wrap="square" lIns="0" rIns="0" tIns="0" bIns="0" anchor="t">
            <a:noAutofit/>
          </a:bodyPr>
          <a:lstStyle/>
          <a:p>
            <a:pPr algn="l"/>
            <a:r>
              <a:rPr sz="2550" b="0" i="0">
                <a:solidFill>
                  <a:srgbClr val="1A1A1A"/>
                </a:solidFill>
                <a:latin typeface="Gotham Medium"/>
              </a:rPr>
              <a:t>No terms for sharing</a:t>
            </a:r>
          </a:p>
        </p:txBody>
      </p:sp>
      <p:sp>
        <p:nvSpPr>
          <p:cNvPr id="148" name="TextBox 147"/>
          <p:cNvSpPr txBox="1"/>
          <p:nvPr/>
        </p:nvSpPr>
        <p:spPr>
          <a:xfrm>
            <a:off x="11959648" y="9978211"/>
            <a:ext cx="10013407" cy="1001340"/>
          </a:xfrm>
          <a:prstGeom prst="rect">
            <a:avLst/>
          </a:prstGeom>
          <a:noFill/>
        </p:spPr>
        <p:txBody>
          <a:bodyPr wrap="square" lIns="0" rIns="0" tIns="0" bIns="0" anchor="t">
            <a:noAutofit/>
          </a:bodyPr>
          <a:lstStyle/>
          <a:p>
            <a:pPr algn="l"/>
            <a:r>
              <a:rPr sz="2100" b="0" i="0">
                <a:solidFill>
                  <a:srgbClr val="5E5E5E"/>
                </a:solidFill>
                <a:latin typeface="Gotham Book"/>
              </a:rPr>
              <a:t>Partners hold back data because use, access, and retention were never agreed.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AI adoption is running ahead of AI governance</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WHY DATA IS THE GAP</a:t>
            </a:r>
          </a:p>
        </p:txBody>
      </p:sp>
      <p:graphicFrame>
        <p:nvGraphicFramePr>
          <p:cNvPr id="119" name="Chart 118"/>
          <p:cNvGraphicFramePr>
            <a:graphicFrameLocks noGrp="1"/>
          </p:cNvGraphicFramePr>
          <p:nvPr/>
        </p:nvGraphicFramePr>
        <p:xfrm>
          <a:off x="2350008" y="3372593"/>
          <a:ext cx="10659433" cy="5975743"/>
        </p:xfrm>
        <a:graphic>
          <a:graphicData uri="http://schemas.openxmlformats.org/drawingml/2006/chart">
            <c:chart xmlns:c="http://schemas.openxmlformats.org/drawingml/2006/chart" r:id="rId2"/>
          </a:graphicData>
        </a:graphic>
      </p:graphicFrame>
      <p:sp>
        <p:nvSpPr>
          <p:cNvPr id="120" name="TextBox 119"/>
          <p:cNvSpPr txBox="1"/>
          <p:nvPr/>
        </p:nvSpPr>
        <p:spPr>
          <a:xfrm>
            <a:off x="2350008" y="9509842"/>
            <a:ext cx="10659433" cy="807532"/>
          </a:xfrm>
          <a:prstGeom prst="rect">
            <a:avLst/>
          </a:prstGeom>
          <a:noFill/>
        </p:spPr>
        <p:txBody>
          <a:bodyPr wrap="square" lIns="0" rIns="0" tIns="0" bIns="0" anchor="t">
            <a:noAutofit/>
          </a:bodyPr>
          <a:lstStyle/>
          <a:p>
            <a:pPr algn="l"/>
            <a:r>
              <a:rPr sz="1500" b="0" i="1">
                <a:solidFill>
                  <a:srgbClr val="8C8C8C"/>
                </a:solidFill>
                <a:latin typeface="Gotham Book"/>
              </a:rPr>
              <a:t>Sources: Gartner press releases, Feb 5, 2025 (GenAI deployment) and Jun 11, 2025 (AI strategy; 120 leaders surveyed). Separate surveys.</a:t>
            </a:r>
          </a:p>
        </p:txBody>
      </p:sp>
      <p:sp>
        <p:nvSpPr>
          <p:cNvPr id="121" name="Rectangle 120"/>
          <p:cNvSpPr/>
          <p:nvPr/>
        </p:nvSpPr>
        <p:spPr>
          <a:xfrm>
            <a:off x="13655467" y="3372593"/>
            <a:ext cx="8290132" cy="6944782"/>
          </a:xfrm>
          <a:prstGeom prst="rect">
            <a:avLst/>
          </a:prstGeom>
          <a:solidFill>
            <a:srgbClr val="1A1A1A"/>
          </a:solidFill>
          <a:ln>
            <a:noFill/>
          </a:ln>
        </p:spPr>
        <p:txBody>
          <a:bodyPr rtlCol="0" anchor="ctr"/>
          <a:lstStyle/>
          <a:p>
            <a:pPr algn="ctr"/>
          </a:p>
        </p:txBody>
      </p:sp>
      <p:sp>
        <p:nvSpPr>
          <p:cNvPr id="122" name="TextBox 121"/>
          <p:cNvSpPr txBox="1"/>
          <p:nvPr/>
        </p:nvSpPr>
        <p:spPr>
          <a:xfrm>
            <a:off x="14220740" y="3695606"/>
            <a:ext cx="7159586" cy="646026"/>
          </a:xfrm>
          <a:prstGeom prst="rect">
            <a:avLst/>
          </a:prstGeom>
          <a:noFill/>
        </p:spPr>
        <p:txBody>
          <a:bodyPr wrap="square" lIns="0" rIns="0" tIns="0" bIns="0" anchor="t">
            <a:noAutofit/>
          </a:bodyPr>
          <a:lstStyle/>
          <a:p>
            <a:pPr algn="l"/>
            <a:r>
              <a:rPr sz="2400" b="0" i="0">
                <a:solidFill>
                  <a:srgbClr val="F4AE00"/>
                </a:solidFill>
                <a:latin typeface="Gotham Medium"/>
              </a:rPr>
              <a:t>When it's done well</a:t>
            </a:r>
          </a:p>
        </p:txBody>
      </p:sp>
      <p:sp>
        <p:nvSpPr>
          <p:cNvPr id="123" name="TextBox 122"/>
          <p:cNvSpPr txBox="1"/>
          <p:nvPr/>
        </p:nvSpPr>
        <p:spPr>
          <a:xfrm>
            <a:off x="14220740" y="4583892"/>
            <a:ext cx="2584105" cy="1292052"/>
          </a:xfrm>
          <a:prstGeom prst="rect">
            <a:avLst/>
          </a:prstGeom>
          <a:noFill/>
        </p:spPr>
        <p:txBody>
          <a:bodyPr wrap="square" lIns="0" rIns="0" tIns="0" bIns="0" anchor="ctr">
            <a:noAutofit/>
          </a:bodyPr>
          <a:lstStyle/>
          <a:p>
            <a:pPr algn="l"/>
            <a:r>
              <a:rPr sz="5400" b="0" i="0">
                <a:solidFill>
                  <a:srgbClr val="E97B05"/>
                </a:solidFill>
                <a:latin typeface="Gotham Black"/>
              </a:rPr>
              <a:t>15%</a:t>
            </a:r>
          </a:p>
        </p:txBody>
      </p:sp>
      <p:sp>
        <p:nvSpPr>
          <p:cNvPr id="124" name="TextBox 123"/>
          <p:cNvSpPr txBox="1"/>
          <p:nvPr/>
        </p:nvSpPr>
        <p:spPr>
          <a:xfrm>
            <a:off x="16885599" y="4583892"/>
            <a:ext cx="4575481" cy="1292052"/>
          </a:xfrm>
          <a:prstGeom prst="rect">
            <a:avLst/>
          </a:prstGeom>
          <a:noFill/>
        </p:spPr>
        <p:txBody>
          <a:bodyPr wrap="square" lIns="0" rIns="0" tIns="0" bIns="0" anchor="ctr">
            <a:noAutofit/>
          </a:bodyPr>
          <a:lstStyle/>
          <a:p>
            <a:pPr algn="l"/>
            <a:r>
              <a:rPr sz="2250" b="0" i="0">
                <a:solidFill>
                  <a:srgbClr val="FFFFFF"/>
                </a:solidFill>
                <a:latin typeface="Gotham Book"/>
              </a:rPr>
              <a:t>better logistics costs</a:t>
            </a:r>
          </a:p>
        </p:txBody>
      </p:sp>
      <p:sp>
        <p:nvSpPr>
          <p:cNvPr id="125" name="TextBox 124"/>
          <p:cNvSpPr txBox="1"/>
          <p:nvPr/>
        </p:nvSpPr>
        <p:spPr>
          <a:xfrm>
            <a:off x="14220740" y="6118204"/>
            <a:ext cx="2584105" cy="1292052"/>
          </a:xfrm>
          <a:prstGeom prst="rect">
            <a:avLst/>
          </a:prstGeom>
          <a:noFill/>
        </p:spPr>
        <p:txBody>
          <a:bodyPr wrap="square" lIns="0" rIns="0" tIns="0" bIns="0" anchor="ctr">
            <a:noAutofit/>
          </a:bodyPr>
          <a:lstStyle/>
          <a:p>
            <a:pPr algn="l"/>
            <a:r>
              <a:rPr sz="5400" b="0" i="0">
                <a:solidFill>
                  <a:srgbClr val="E97B05"/>
                </a:solidFill>
                <a:latin typeface="Gotham Black"/>
              </a:rPr>
              <a:t>35%</a:t>
            </a:r>
          </a:p>
        </p:txBody>
      </p:sp>
      <p:sp>
        <p:nvSpPr>
          <p:cNvPr id="126" name="TextBox 125"/>
          <p:cNvSpPr txBox="1"/>
          <p:nvPr/>
        </p:nvSpPr>
        <p:spPr>
          <a:xfrm>
            <a:off x="16885599" y="6118204"/>
            <a:ext cx="4575481" cy="1292052"/>
          </a:xfrm>
          <a:prstGeom prst="rect">
            <a:avLst/>
          </a:prstGeom>
          <a:noFill/>
        </p:spPr>
        <p:txBody>
          <a:bodyPr wrap="square" lIns="0" rIns="0" tIns="0" bIns="0" anchor="ctr">
            <a:noAutofit/>
          </a:bodyPr>
          <a:lstStyle/>
          <a:p>
            <a:pPr algn="l"/>
            <a:r>
              <a:rPr sz="2250" b="0" i="0">
                <a:solidFill>
                  <a:srgbClr val="FFFFFF"/>
                </a:solidFill>
                <a:latin typeface="Gotham Book"/>
              </a:rPr>
              <a:t>better inventory levels</a:t>
            </a:r>
          </a:p>
        </p:txBody>
      </p:sp>
      <p:sp>
        <p:nvSpPr>
          <p:cNvPr id="127" name="TextBox 126"/>
          <p:cNvSpPr txBox="1"/>
          <p:nvPr/>
        </p:nvSpPr>
        <p:spPr>
          <a:xfrm>
            <a:off x="14220740" y="7652517"/>
            <a:ext cx="2584105" cy="1292052"/>
          </a:xfrm>
          <a:prstGeom prst="rect">
            <a:avLst/>
          </a:prstGeom>
          <a:noFill/>
        </p:spPr>
        <p:txBody>
          <a:bodyPr wrap="square" lIns="0" rIns="0" tIns="0" bIns="0" anchor="ctr">
            <a:noAutofit/>
          </a:bodyPr>
          <a:lstStyle/>
          <a:p>
            <a:pPr algn="l"/>
            <a:r>
              <a:rPr sz="5400" b="0" i="0">
                <a:solidFill>
                  <a:srgbClr val="E97B05"/>
                </a:solidFill>
                <a:latin typeface="Gotham Black"/>
              </a:rPr>
              <a:t>65%</a:t>
            </a:r>
          </a:p>
        </p:txBody>
      </p:sp>
      <p:sp>
        <p:nvSpPr>
          <p:cNvPr id="128" name="TextBox 127"/>
          <p:cNvSpPr txBox="1"/>
          <p:nvPr/>
        </p:nvSpPr>
        <p:spPr>
          <a:xfrm>
            <a:off x="16885599" y="7652517"/>
            <a:ext cx="4575481" cy="1292052"/>
          </a:xfrm>
          <a:prstGeom prst="rect">
            <a:avLst/>
          </a:prstGeom>
          <a:noFill/>
        </p:spPr>
        <p:txBody>
          <a:bodyPr wrap="square" lIns="0" rIns="0" tIns="0" bIns="0" anchor="ctr">
            <a:noAutofit/>
          </a:bodyPr>
          <a:lstStyle/>
          <a:p>
            <a:pPr algn="l"/>
            <a:r>
              <a:rPr sz="2250" b="0" i="0">
                <a:solidFill>
                  <a:srgbClr val="FFFFFF"/>
                </a:solidFill>
                <a:latin typeface="Gotham Book"/>
              </a:rPr>
              <a:t>better service levels</a:t>
            </a:r>
          </a:p>
        </p:txBody>
      </p:sp>
      <p:sp>
        <p:nvSpPr>
          <p:cNvPr id="129" name="TextBox 128"/>
          <p:cNvSpPr txBox="1"/>
          <p:nvPr/>
        </p:nvSpPr>
        <p:spPr>
          <a:xfrm>
            <a:off x="14220740" y="9186829"/>
            <a:ext cx="7159586" cy="969039"/>
          </a:xfrm>
          <a:prstGeom prst="rect">
            <a:avLst/>
          </a:prstGeom>
          <a:noFill/>
        </p:spPr>
        <p:txBody>
          <a:bodyPr wrap="square" lIns="0" rIns="0" tIns="0" bIns="0" anchor="t">
            <a:noAutofit/>
          </a:bodyPr>
          <a:lstStyle/>
          <a:p>
            <a:pPr algn="l"/>
            <a:r>
              <a:rPr sz="1500" b="0" i="1">
                <a:solidFill>
                  <a:srgbClr val="8C8C8C"/>
                </a:solidFill>
                <a:latin typeface="Gotham Book"/>
              </a:rPr>
              <a:t>Early adopters of AI-enabled supply chain management vs. slower competitors. Source: McKinsey, "Succeeding in the AI supply-chain revolution" (2021).</a:t>
            </a:r>
          </a:p>
        </p:txBody>
      </p:sp>
      <p:sp>
        <p:nvSpPr>
          <p:cNvPr id="130" name="TextBox 129"/>
          <p:cNvSpPr txBox="1"/>
          <p:nvPr/>
        </p:nvSpPr>
        <p:spPr>
          <a:xfrm>
            <a:off x="2350008" y="10882648"/>
            <a:ext cx="19595592" cy="726779"/>
          </a:xfrm>
          <a:prstGeom prst="rect">
            <a:avLst/>
          </a:prstGeom>
          <a:noFill/>
        </p:spPr>
        <p:txBody>
          <a:bodyPr wrap="square" lIns="0" rIns="0" tIns="0" bIns="0" anchor="t">
            <a:noAutofit/>
          </a:bodyPr>
          <a:lstStyle/>
          <a:p>
            <a:pPr algn="l"/>
            <a:r>
              <a:rPr sz="2400" b="0" i="1">
                <a:solidFill>
                  <a:srgbClr val="B35900"/>
                </a:solidFill>
                <a:latin typeface="Gotham Book"/>
              </a:rPr>
              <a:t>The gap between those two bars is where ungoverned AI risk lives.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as the lever</a:t>
            </a:r>
          </a:p>
        </p:txBody>
      </p:sp>
      <p:sp>
        <p:nvSpPr>
          <p:cNvPr id="3" name="TextBox 2"/>
          <p:cNvSpPr txBox="1"/>
          <p:nvPr/>
        </p:nvSpPr>
        <p:spPr>
          <a:xfrm>
            <a:off x="1078992" y="4526280"/>
            <a:ext cx="11155680" cy="2194560"/>
          </a:xfrm>
          <a:prstGeom prst="rect">
            <a:avLst/>
          </a:prstGeom>
          <a:noFill/>
        </p:spPr>
        <p:txBody>
          <a:bodyPr wrap="square" lIns="0" rIns="0" tIns="0" bIns="0" anchor="t">
            <a:noAutofit/>
          </a:bodyPr>
          <a:lstStyle/>
          <a:p>
            <a:pPr algn="l"/>
            <a:r>
              <a:rPr sz="2700" b="0" i="0">
                <a:solidFill>
                  <a:srgbClr val="5E5E5E"/>
                </a:solidFill>
                <a:latin typeface="Gotham Book"/>
              </a:rPr>
              <a:t>Controls that turn risk data into decisions you can defend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Each type of AI model needs its own governance control</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GOVERNANCE AS THE LEVER</a:t>
            </a:r>
          </a:p>
        </p:txBody>
      </p:sp>
      <p:sp>
        <p:nvSpPr>
          <p:cNvPr id="119" name="Rectangle 118"/>
          <p:cNvSpPr/>
          <p:nvPr/>
        </p:nvSpPr>
        <p:spPr>
          <a:xfrm>
            <a:off x="2350008" y="3291840"/>
            <a:ext cx="6218002" cy="3795404"/>
          </a:xfrm>
          <a:prstGeom prst="rect">
            <a:avLst/>
          </a:prstGeom>
          <a:solidFill>
            <a:srgbClr val="F2F2F2"/>
          </a:solidFill>
          <a:ln>
            <a:noFill/>
          </a:ln>
        </p:spPr>
        <p:txBody>
          <a:bodyPr rtlCol="0" anchor="ctr"/>
          <a:lstStyle/>
          <a:p>
            <a:pPr algn="ctr"/>
          </a:p>
        </p:txBody>
      </p:sp>
      <p:sp>
        <p:nvSpPr>
          <p:cNvPr id="120" name="Rounded Rectangle 119"/>
          <p:cNvSpPr/>
          <p:nvPr/>
        </p:nvSpPr>
        <p:spPr>
          <a:xfrm>
            <a:off x="2753774" y="3695606"/>
            <a:ext cx="888286" cy="888286"/>
          </a:xfrm>
          <a:prstGeom prst="roundRect">
            <a:avLst>
              <a:gd name="adj" fmla="val 14545"/>
            </a:avLst>
          </a:prstGeom>
          <a:solidFill>
            <a:srgbClr val="1A1A1A"/>
          </a:solidFill>
          <a:ln>
            <a:noFill/>
          </a:ln>
        </p:spPr>
        <p:txBody>
          <a:bodyPr rtlCol="0" anchor="ctr"/>
          <a:lstStyle/>
          <a:p>
            <a:pPr algn="ctr"/>
          </a:p>
        </p:txBody>
      </p:sp>
      <p:pic>
        <p:nvPicPr>
          <p:cNvPr id="121" name="Picture 120" descr="image.png"/>
          <p:cNvPicPr>
            <a:picLocks noChangeAspect="1"/>
          </p:cNvPicPr>
          <p:nvPr/>
        </p:nvPicPr>
        <p:blipFill>
          <a:blip r:embed="rId2"/>
          <a:stretch>
            <a:fillRect/>
          </a:stretch>
        </p:blipFill>
        <p:spPr>
          <a:xfrm>
            <a:off x="2949197" y="3891029"/>
            <a:ext cx="497440" cy="497440"/>
          </a:xfrm>
          <a:prstGeom prst="rect">
            <a:avLst/>
          </a:prstGeom>
        </p:spPr>
      </p:pic>
      <p:sp>
        <p:nvSpPr>
          <p:cNvPr id="122" name="TextBox 121"/>
          <p:cNvSpPr txBox="1"/>
          <p:nvPr/>
        </p:nvSpPr>
        <p:spPr>
          <a:xfrm>
            <a:off x="3884320" y="3614853"/>
            <a:ext cx="4360677" cy="646026"/>
          </a:xfrm>
          <a:prstGeom prst="rect">
            <a:avLst/>
          </a:prstGeom>
          <a:noFill/>
        </p:spPr>
        <p:txBody>
          <a:bodyPr wrap="square" lIns="0" rIns="0" tIns="0" bIns="0" anchor="t">
            <a:noAutofit/>
          </a:bodyPr>
          <a:lstStyle/>
          <a:p>
            <a:pPr algn="l"/>
            <a:r>
              <a:rPr sz="2400" b="0" i="0">
                <a:solidFill>
                  <a:srgbClr val="1A1A1A"/>
                </a:solidFill>
                <a:latin typeface="Gotham Medium"/>
              </a:rPr>
              <a:t>Time-series forecasting</a:t>
            </a:r>
          </a:p>
        </p:txBody>
      </p:sp>
      <p:sp>
        <p:nvSpPr>
          <p:cNvPr id="123" name="TextBox 122"/>
          <p:cNvSpPr txBox="1"/>
          <p:nvPr/>
        </p:nvSpPr>
        <p:spPr>
          <a:xfrm>
            <a:off x="3884320" y="4228578"/>
            <a:ext cx="4360677" cy="484519"/>
          </a:xfrm>
          <a:prstGeom prst="rect">
            <a:avLst/>
          </a:prstGeom>
          <a:noFill/>
        </p:spPr>
        <p:txBody>
          <a:bodyPr wrap="square" lIns="0" rIns="0" tIns="0" bIns="0" anchor="t">
            <a:noAutofit/>
          </a:bodyPr>
          <a:lstStyle/>
          <a:p>
            <a:pPr algn="l"/>
            <a:r>
              <a:rPr sz="1650" b="0" i="1">
                <a:solidFill>
                  <a:srgbClr val="8C8C8C"/>
                </a:solidFill>
                <a:latin typeface="Gotham Book"/>
              </a:rPr>
              <a:t>Gradient boosting, LSTM, transformers</a:t>
            </a:r>
          </a:p>
        </p:txBody>
      </p:sp>
      <p:sp>
        <p:nvSpPr>
          <p:cNvPr id="124" name="TextBox 123"/>
          <p:cNvSpPr txBox="1"/>
          <p:nvPr/>
        </p:nvSpPr>
        <p:spPr>
          <a:xfrm>
            <a:off x="2753774" y="4874604"/>
            <a:ext cx="5410470" cy="1001340"/>
          </a:xfrm>
          <a:prstGeom prst="rect">
            <a:avLst/>
          </a:prstGeom>
          <a:noFill/>
        </p:spPr>
        <p:txBody>
          <a:bodyPr wrap="square" lIns="0" rIns="0" tIns="0" bIns="0" anchor="t">
            <a:noAutofit/>
          </a:bodyPr>
          <a:lstStyle/>
          <a:p>
            <a:pPr algn="l"/>
            <a:r>
              <a:rPr sz="1950" b="0" i="0">
                <a:solidFill>
                  <a:srgbClr val="5E5E5E"/>
                </a:solidFill>
                <a:latin typeface="Gotham Book"/>
              </a:rPr>
              <a:t>Predicts demand, lead times, and allocation risk</a:t>
            </a:r>
          </a:p>
        </p:txBody>
      </p:sp>
      <p:sp>
        <p:nvSpPr>
          <p:cNvPr id="125" name="TextBox 124"/>
          <p:cNvSpPr txBox="1"/>
          <p:nvPr/>
        </p:nvSpPr>
        <p:spPr>
          <a:xfrm>
            <a:off x="2753774" y="5875945"/>
            <a:ext cx="5410470" cy="1001340"/>
          </a:xfrm>
          <a:prstGeom prst="rect">
            <a:avLst/>
          </a:prstGeom>
          <a:noFill/>
        </p:spPr>
        <p:txBody>
          <a:bodyPr wrap="square" lIns="0" rIns="0" tIns="0" bIns="0" anchor="t">
            <a:noAutofit/>
          </a:bodyPr>
          <a:lstStyle/>
          <a:p>
            <a:pPr algn="l"/>
            <a:r>
              <a:rPr sz="1950" b="0" i="0">
                <a:solidFill>
                  <a:srgbClr val="B35900"/>
                </a:solidFill>
                <a:latin typeface="Gotham Medium"/>
              </a:rPr>
              <a:t>Control: </a:t>
            </a:r>
            <a:r>
              <a:rPr sz="1950" b="0" i="0">
                <a:solidFill>
                  <a:srgbClr val="B35900"/>
                </a:solidFill>
                <a:latin typeface="Gotham Book"/>
              </a:rPr>
              <a:t>Backtest on past disruptions; monitor drift</a:t>
            </a:r>
          </a:p>
        </p:txBody>
      </p:sp>
      <p:sp>
        <p:nvSpPr>
          <p:cNvPr id="126" name="Rectangle 125"/>
          <p:cNvSpPr/>
          <p:nvPr/>
        </p:nvSpPr>
        <p:spPr>
          <a:xfrm>
            <a:off x="9052530" y="3291840"/>
            <a:ext cx="6218002" cy="3795404"/>
          </a:xfrm>
          <a:prstGeom prst="rect">
            <a:avLst/>
          </a:prstGeom>
          <a:solidFill>
            <a:srgbClr val="F2F2F2"/>
          </a:solidFill>
          <a:ln>
            <a:noFill/>
          </a:ln>
        </p:spPr>
        <p:txBody>
          <a:bodyPr rtlCol="0" anchor="ctr"/>
          <a:lstStyle/>
          <a:p>
            <a:pPr algn="ctr"/>
          </a:p>
        </p:txBody>
      </p:sp>
      <p:sp>
        <p:nvSpPr>
          <p:cNvPr id="127" name="Rounded Rectangle 126"/>
          <p:cNvSpPr/>
          <p:nvPr/>
        </p:nvSpPr>
        <p:spPr>
          <a:xfrm>
            <a:off x="9456297" y="3695606"/>
            <a:ext cx="888286" cy="888286"/>
          </a:xfrm>
          <a:prstGeom prst="roundRect">
            <a:avLst>
              <a:gd name="adj" fmla="val 14545"/>
            </a:avLst>
          </a:prstGeom>
          <a:solidFill>
            <a:srgbClr val="1A1A1A"/>
          </a:solidFill>
          <a:ln>
            <a:noFill/>
          </a:ln>
        </p:spPr>
        <p:txBody>
          <a:bodyPr rtlCol="0" anchor="ctr"/>
          <a:lstStyle/>
          <a:p>
            <a:pPr algn="ctr"/>
          </a:p>
        </p:txBody>
      </p:sp>
      <p:pic>
        <p:nvPicPr>
          <p:cNvPr id="128" name="Picture 127" descr="image.png"/>
          <p:cNvPicPr>
            <a:picLocks noChangeAspect="1"/>
          </p:cNvPicPr>
          <p:nvPr/>
        </p:nvPicPr>
        <p:blipFill>
          <a:blip r:embed="rId3"/>
          <a:stretch>
            <a:fillRect/>
          </a:stretch>
        </p:blipFill>
        <p:spPr>
          <a:xfrm>
            <a:off x="9651719" y="3891029"/>
            <a:ext cx="497440" cy="497440"/>
          </a:xfrm>
          <a:prstGeom prst="rect">
            <a:avLst/>
          </a:prstGeom>
        </p:spPr>
      </p:pic>
      <p:sp>
        <p:nvSpPr>
          <p:cNvPr id="129" name="TextBox 128"/>
          <p:cNvSpPr txBox="1"/>
          <p:nvPr/>
        </p:nvSpPr>
        <p:spPr>
          <a:xfrm>
            <a:off x="10586843" y="3614853"/>
            <a:ext cx="4360677" cy="646026"/>
          </a:xfrm>
          <a:prstGeom prst="rect">
            <a:avLst/>
          </a:prstGeom>
          <a:noFill/>
        </p:spPr>
        <p:txBody>
          <a:bodyPr wrap="square" lIns="0" rIns="0" tIns="0" bIns="0" anchor="t">
            <a:noAutofit/>
          </a:bodyPr>
          <a:lstStyle/>
          <a:p>
            <a:pPr algn="l"/>
            <a:r>
              <a:rPr sz="2400" b="0" i="0">
                <a:solidFill>
                  <a:srgbClr val="1A1A1A"/>
                </a:solidFill>
                <a:latin typeface="Gotham Medium"/>
              </a:rPr>
              <a:t>Graph models</a:t>
            </a:r>
          </a:p>
        </p:txBody>
      </p:sp>
      <p:sp>
        <p:nvSpPr>
          <p:cNvPr id="130" name="TextBox 129"/>
          <p:cNvSpPr txBox="1"/>
          <p:nvPr/>
        </p:nvSpPr>
        <p:spPr>
          <a:xfrm>
            <a:off x="10586843" y="4228578"/>
            <a:ext cx="4360677" cy="484519"/>
          </a:xfrm>
          <a:prstGeom prst="rect">
            <a:avLst/>
          </a:prstGeom>
          <a:noFill/>
        </p:spPr>
        <p:txBody>
          <a:bodyPr wrap="square" lIns="0" rIns="0" tIns="0" bIns="0" anchor="t">
            <a:noAutofit/>
          </a:bodyPr>
          <a:lstStyle/>
          <a:p>
            <a:pPr algn="l"/>
            <a:r>
              <a:rPr sz="1650" b="0" i="1">
                <a:solidFill>
                  <a:srgbClr val="8C8C8C"/>
                </a:solidFill>
                <a:latin typeface="Gotham Book"/>
              </a:rPr>
              <a:t>Knowledge graphs, GNNs</a:t>
            </a:r>
          </a:p>
        </p:txBody>
      </p:sp>
      <p:sp>
        <p:nvSpPr>
          <p:cNvPr id="131" name="TextBox 130"/>
          <p:cNvSpPr txBox="1"/>
          <p:nvPr/>
        </p:nvSpPr>
        <p:spPr>
          <a:xfrm>
            <a:off x="9456297" y="4874604"/>
            <a:ext cx="5410470" cy="1001340"/>
          </a:xfrm>
          <a:prstGeom prst="rect">
            <a:avLst/>
          </a:prstGeom>
          <a:noFill/>
        </p:spPr>
        <p:txBody>
          <a:bodyPr wrap="square" lIns="0" rIns="0" tIns="0" bIns="0" anchor="t">
            <a:noAutofit/>
          </a:bodyPr>
          <a:lstStyle/>
          <a:p>
            <a:pPr algn="l"/>
            <a:r>
              <a:rPr sz="1950" b="0" i="0">
                <a:solidFill>
                  <a:srgbClr val="5E5E5E"/>
                </a:solidFill>
                <a:latin typeface="Gotham Book"/>
              </a:rPr>
              <a:t>Maps multi-tier BOMs to find single points of failure</a:t>
            </a:r>
          </a:p>
        </p:txBody>
      </p:sp>
      <p:sp>
        <p:nvSpPr>
          <p:cNvPr id="132" name="TextBox 131"/>
          <p:cNvSpPr txBox="1"/>
          <p:nvPr/>
        </p:nvSpPr>
        <p:spPr>
          <a:xfrm>
            <a:off x="9456297" y="5875945"/>
            <a:ext cx="5410470" cy="1001340"/>
          </a:xfrm>
          <a:prstGeom prst="rect">
            <a:avLst/>
          </a:prstGeom>
          <a:noFill/>
        </p:spPr>
        <p:txBody>
          <a:bodyPr wrap="square" lIns="0" rIns="0" tIns="0" bIns="0" anchor="t">
            <a:noAutofit/>
          </a:bodyPr>
          <a:lstStyle/>
          <a:p>
            <a:pPr algn="l"/>
            <a:r>
              <a:rPr sz="1950" b="0" i="0">
                <a:solidFill>
                  <a:srgbClr val="B35900"/>
                </a:solidFill>
                <a:latin typeface="Gotham Medium"/>
              </a:rPr>
              <a:t>Control: </a:t>
            </a:r>
            <a:r>
              <a:rPr sz="1950" b="0" i="0">
                <a:solidFill>
                  <a:srgbClr val="B35900"/>
                </a:solidFill>
                <a:latin typeface="Gotham Book"/>
              </a:rPr>
              <a:t>Lineage and a confidence level on every link</a:t>
            </a:r>
          </a:p>
        </p:txBody>
      </p:sp>
      <p:sp>
        <p:nvSpPr>
          <p:cNvPr id="133" name="Rectangle 132"/>
          <p:cNvSpPr/>
          <p:nvPr/>
        </p:nvSpPr>
        <p:spPr>
          <a:xfrm>
            <a:off x="15755053" y="3291840"/>
            <a:ext cx="6218002" cy="3795404"/>
          </a:xfrm>
          <a:prstGeom prst="rect">
            <a:avLst/>
          </a:prstGeom>
          <a:solidFill>
            <a:srgbClr val="F2F2F2"/>
          </a:solidFill>
          <a:ln>
            <a:noFill/>
          </a:ln>
        </p:spPr>
        <p:txBody>
          <a:bodyPr rtlCol="0" anchor="ctr"/>
          <a:lstStyle/>
          <a:p>
            <a:pPr algn="ctr"/>
          </a:p>
        </p:txBody>
      </p:sp>
      <p:sp>
        <p:nvSpPr>
          <p:cNvPr id="134" name="Rounded Rectangle 133"/>
          <p:cNvSpPr/>
          <p:nvPr/>
        </p:nvSpPr>
        <p:spPr>
          <a:xfrm>
            <a:off x="16158819" y="3695606"/>
            <a:ext cx="888286" cy="888286"/>
          </a:xfrm>
          <a:prstGeom prst="roundRect">
            <a:avLst>
              <a:gd name="adj" fmla="val 14545"/>
            </a:avLst>
          </a:prstGeom>
          <a:solidFill>
            <a:srgbClr val="1A1A1A"/>
          </a:solidFill>
          <a:ln>
            <a:noFill/>
          </a:ln>
        </p:spPr>
        <p:txBody>
          <a:bodyPr rtlCol="0" anchor="ctr"/>
          <a:lstStyle/>
          <a:p>
            <a:pPr algn="ctr"/>
          </a:p>
        </p:txBody>
      </p:sp>
      <p:pic>
        <p:nvPicPr>
          <p:cNvPr id="135" name="Picture 134" descr="image.png"/>
          <p:cNvPicPr>
            <a:picLocks noChangeAspect="1"/>
          </p:cNvPicPr>
          <p:nvPr/>
        </p:nvPicPr>
        <p:blipFill>
          <a:blip r:embed="rId4"/>
          <a:stretch>
            <a:fillRect/>
          </a:stretch>
        </p:blipFill>
        <p:spPr>
          <a:xfrm>
            <a:off x="16354242" y="3891029"/>
            <a:ext cx="497440" cy="497440"/>
          </a:xfrm>
          <a:prstGeom prst="rect">
            <a:avLst/>
          </a:prstGeom>
        </p:spPr>
      </p:pic>
      <p:sp>
        <p:nvSpPr>
          <p:cNvPr id="136" name="TextBox 135"/>
          <p:cNvSpPr txBox="1"/>
          <p:nvPr/>
        </p:nvSpPr>
        <p:spPr>
          <a:xfrm>
            <a:off x="17289365" y="3614853"/>
            <a:ext cx="4360677" cy="646026"/>
          </a:xfrm>
          <a:prstGeom prst="rect">
            <a:avLst/>
          </a:prstGeom>
          <a:noFill/>
        </p:spPr>
        <p:txBody>
          <a:bodyPr wrap="square" lIns="0" rIns="0" tIns="0" bIns="0" anchor="t">
            <a:noAutofit/>
          </a:bodyPr>
          <a:lstStyle/>
          <a:p>
            <a:pPr algn="l"/>
            <a:r>
              <a:rPr sz="2400" b="0" i="0">
                <a:solidFill>
                  <a:srgbClr val="1A1A1A"/>
                </a:solidFill>
                <a:latin typeface="Gotham Medium"/>
              </a:rPr>
              <a:t>NLP &amp; LLMs</a:t>
            </a:r>
          </a:p>
        </p:txBody>
      </p:sp>
      <p:sp>
        <p:nvSpPr>
          <p:cNvPr id="137" name="TextBox 136"/>
          <p:cNvSpPr txBox="1"/>
          <p:nvPr/>
        </p:nvSpPr>
        <p:spPr>
          <a:xfrm>
            <a:off x="17289365" y="4228578"/>
            <a:ext cx="4360677" cy="484519"/>
          </a:xfrm>
          <a:prstGeom prst="rect">
            <a:avLst/>
          </a:prstGeom>
          <a:noFill/>
        </p:spPr>
        <p:txBody>
          <a:bodyPr wrap="square" lIns="0" rIns="0" tIns="0" bIns="0" anchor="t">
            <a:noAutofit/>
          </a:bodyPr>
          <a:lstStyle/>
          <a:p>
            <a:pPr algn="l"/>
            <a:r>
              <a:rPr sz="1650" b="0" i="1">
                <a:solidFill>
                  <a:srgbClr val="8C8C8C"/>
                </a:solidFill>
                <a:latin typeface="Gotham Book"/>
              </a:rPr>
              <a:t>Classifiers, language models, retrieval</a:t>
            </a:r>
          </a:p>
        </p:txBody>
      </p:sp>
      <p:sp>
        <p:nvSpPr>
          <p:cNvPr id="138" name="TextBox 137"/>
          <p:cNvSpPr txBox="1"/>
          <p:nvPr/>
        </p:nvSpPr>
        <p:spPr>
          <a:xfrm>
            <a:off x="16158819" y="4874604"/>
            <a:ext cx="5410470" cy="1001340"/>
          </a:xfrm>
          <a:prstGeom prst="rect">
            <a:avLst/>
          </a:prstGeom>
          <a:noFill/>
        </p:spPr>
        <p:txBody>
          <a:bodyPr wrap="square" lIns="0" rIns="0" tIns="0" bIns="0" anchor="t">
            <a:noAutofit/>
          </a:bodyPr>
          <a:lstStyle/>
          <a:p>
            <a:pPr algn="l"/>
            <a:r>
              <a:rPr sz="1950" b="0" i="0">
                <a:solidFill>
                  <a:srgbClr val="5E5E5E"/>
                </a:solidFill>
                <a:latin typeface="Gotham Book"/>
              </a:rPr>
              <a:t>Reads news, supplier notices, and regulations for early signals</a:t>
            </a:r>
          </a:p>
        </p:txBody>
      </p:sp>
      <p:sp>
        <p:nvSpPr>
          <p:cNvPr id="139" name="TextBox 138"/>
          <p:cNvSpPr txBox="1"/>
          <p:nvPr/>
        </p:nvSpPr>
        <p:spPr>
          <a:xfrm>
            <a:off x="16158819" y="5875945"/>
            <a:ext cx="5410470" cy="1001340"/>
          </a:xfrm>
          <a:prstGeom prst="rect">
            <a:avLst/>
          </a:prstGeom>
          <a:noFill/>
        </p:spPr>
        <p:txBody>
          <a:bodyPr wrap="square" lIns="0" rIns="0" tIns="0" bIns="0" anchor="t">
            <a:noAutofit/>
          </a:bodyPr>
          <a:lstStyle/>
          <a:p>
            <a:pPr algn="l"/>
            <a:r>
              <a:rPr sz="1950" b="0" i="0">
                <a:solidFill>
                  <a:srgbClr val="B35900"/>
                </a:solidFill>
                <a:latin typeface="Gotham Medium"/>
              </a:rPr>
              <a:t>Control: </a:t>
            </a:r>
            <a:r>
              <a:rPr sz="1950" b="0" i="0">
                <a:solidFill>
                  <a:srgbClr val="B35900"/>
                </a:solidFill>
                <a:latin typeface="Gotham Book"/>
              </a:rPr>
              <a:t>Ground in approved sources; log prompts and outputs</a:t>
            </a:r>
          </a:p>
        </p:txBody>
      </p:sp>
      <p:sp>
        <p:nvSpPr>
          <p:cNvPr id="140" name="Rectangle 139"/>
          <p:cNvSpPr/>
          <p:nvPr/>
        </p:nvSpPr>
        <p:spPr>
          <a:xfrm>
            <a:off x="2350008" y="7491010"/>
            <a:ext cx="6218002" cy="3795404"/>
          </a:xfrm>
          <a:prstGeom prst="rect">
            <a:avLst/>
          </a:prstGeom>
          <a:solidFill>
            <a:srgbClr val="F2F2F2"/>
          </a:solidFill>
          <a:ln>
            <a:noFill/>
          </a:ln>
        </p:spPr>
        <p:txBody>
          <a:bodyPr rtlCol="0" anchor="ctr"/>
          <a:lstStyle/>
          <a:p>
            <a:pPr algn="ctr"/>
          </a:p>
        </p:txBody>
      </p:sp>
      <p:sp>
        <p:nvSpPr>
          <p:cNvPr id="141" name="Rounded Rectangle 140"/>
          <p:cNvSpPr/>
          <p:nvPr/>
        </p:nvSpPr>
        <p:spPr>
          <a:xfrm>
            <a:off x="2753774" y="7894777"/>
            <a:ext cx="888286" cy="888286"/>
          </a:xfrm>
          <a:prstGeom prst="roundRect">
            <a:avLst>
              <a:gd name="adj" fmla="val 14545"/>
            </a:avLst>
          </a:prstGeom>
          <a:solidFill>
            <a:srgbClr val="1A1A1A"/>
          </a:solidFill>
          <a:ln>
            <a:noFill/>
          </a:ln>
        </p:spPr>
        <p:txBody>
          <a:bodyPr rtlCol="0" anchor="ctr"/>
          <a:lstStyle/>
          <a:p>
            <a:pPr algn="ctr"/>
          </a:p>
        </p:txBody>
      </p:sp>
      <p:pic>
        <p:nvPicPr>
          <p:cNvPr id="142" name="Picture 141" descr="image.png"/>
          <p:cNvPicPr>
            <a:picLocks noChangeAspect="1"/>
          </p:cNvPicPr>
          <p:nvPr/>
        </p:nvPicPr>
        <p:blipFill>
          <a:blip r:embed="rId5"/>
          <a:stretch>
            <a:fillRect/>
          </a:stretch>
        </p:blipFill>
        <p:spPr>
          <a:xfrm>
            <a:off x="2949197" y="8090200"/>
            <a:ext cx="497440" cy="497440"/>
          </a:xfrm>
          <a:prstGeom prst="rect">
            <a:avLst/>
          </a:prstGeom>
        </p:spPr>
      </p:pic>
      <p:sp>
        <p:nvSpPr>
          <p:cNvPr id="143" name="TextBox 142"/>
          <p:cNvSpPr txBox="1"/>
          <p:nvPr/>
        </p:nvSpPr>
        <p:spPr>
          <a:xfrm>
            <a:off x="3884320" y="7814023"/>
            <a:ext cx="4360677" cy="646026"/>
          </a:xfrm>
          <a:prstGeom prst="rect">
            <a:avLst/>
          </a:prstGeom>
          <a:noFill/>
        </p:spPr>
        <p:txBody>
          <a:bodyPr wrap="square" lIns="0" rIns="0" tIns="0" bIns="0" anchor="t">
            <a:noAutofit/>
          </a:bodyPr>
          <a:lstStyle/>
          <a:p>
            <a:pPr algn="l"/>
            <a:r>
              <a:rPr sz="2400" b="0" i="0">
                <a:solidFill>
                  <a:srgbClr val="1A1A1A"/>
                </a:solidFill>
                <a:latin typeface="Gotham Medium"/>
              </a:rPr>
              <a:t>Anomaly detection</a:t>
            </a:r>
          </a:p>
        </p:txBody>
      </p:sp>
      <p:sp>
        <p:nvSpPr>
          <p:cNvPr id="144" name="TextBox 143"/>
          <p:cNvSpPr txBox="1"/>
          <p:nvPr/>
        </p:nvSpPr>
        <p:spPr>
          <a:xfrm>
            <a:off x="3884320" y="8427748"/>
            <a:ext cx="4360677" cy="484519"/>
          </a:xfrm>
          <a:prstGeom prst="rect">
            <a:avLst/>
          </a:prstGeom>
          <a:noFill/>
        </p:spPr>
        <p:txBody>
          <a:bodyPr wrap="square" lIns="0" rIns="0" tIns="0" bIns="0" anchor="t">
            <a:noAutofit/>
          </a:bodyPr>
          <a:lstStyle/>
          <a:p>
            <a:pPr algn="l"/>
            <a:r>
              <a:rPr sz="1650" b="0" i="1">
                <a:solidFill>
                  <a:srgbClr val="8C8C8C"/>
                </a:solidFill>
                <a:latin typeface="Gotham Book"/>
              </a:rPr>
              <a:t>Isolation forest, autoencoders</a:t>
            </a:r>
          </a:p>
        </p:txBody>
      </p:sp>
      <p:sp>
        <p:nvSpPr>
          <p:cNvPr id="145" name="TextBox 144"/>
          <p:cNvSpPr txBox="1"/>
          <p:nvPr/>
        </p:nvSpPr>
        <p:spPr>
          <a:xfrm>
            <a:off x="2753774" y="9073775"/>
            <a:ext cx="5410470" cy="1001340"/>
          </a:xfrm>
          <a:prstGeom prst="rect">
            <a:avLst/>
          </a:prstGeom>
          <a:noFill/>
        </p:spPr>
        <p:txBody>
          <a:bodyPr wrap="square" lIns="0" rIns="0" tIns="0" bIns="0" anchor="t">
            <a:noAutofit/>
          </a:bodyPr>
          <a:lstStyle/>
          <a:p>
            <a:pPr algn="l"/>
            <a:r>
              <a:rPr sz="1950" b="0" i="0">
                <a:solidFill>
                  <a:srgbClr val="5E5E5E"/>
                </a:solidFill>
                <a:latin typeface="Gotham Book"/>
              </a:rPr>
              <a:t>Flags unusual shipments, quality drift, or supplier behavior</a:t>
            </a:r>
          </a:p>
        </p:txBody>
      </p:sp>
      <p:sp>
        <p:nvSpPr>
          <p:cNvPr id="146" name="TextBox 145"/>
          <p:cNvSpPr txBox="1"/>
          <p:nvPr/>
        </p:nvSpPr>
        <p:spPr>
          <a:xfrm>
            <a:off x="2753774" y="10075115"/>
            <a:ext cx="5410470" cy="1001340"/>
          </a:xfrm>
          <a:prstGeom prst="rect">
            <a:avLst/>
          </a:prstGeom>
          <a:noFill/>
        </p:spPr>
        <p:txBody>
          <a:bodyPr wrap="square" lIns="0" rIns="0" tIns="0" bIns="0" anchor="t">
            <a:noAutofit/>
          </a:bodyPr>
          <a:lstStyle/>
          <a:p>
            <a:pPr algn="l"/>
            <a:r>
              <a:rPr sz="1950" b="0" i="0">
                <a:solidFill>
                  <a:srgbClr val="B35900"/>
                </a:solidFill>
                <a:latin typeface="Gotham Medium"/>
              </a:rPr>
              <a:t>Control: </a:t>
            </a:r>
            <a:r>
              <a:rPr sz="1950" b="0" i="0">
                <a:solidFill>
                  <a:srgbClr val="B35900"/>
                </a:solidFill>
                <a:latin typeface="Gotham Book"/>
              </a:rPr>
              <a:t>Owners tune thresholds; review false alarms</a:t>
            </a:r>
          </a:p>
        </p:txBody>
      </p:sp>
      <p:sp>
        <p:nvSpPr>
          <p:cNvPr id="147" name="Rectangle 146"/>
          <p:cNvSpPr/>
          <p:nvPr/>
        </p:nvSpPr>
        <p:spPr>
          <a:xfrm>
            <a:off x="9052530" y="7491010"/>
            <a:ext cx="6218002" cy="3795404"/>
          </a:xfrm>
          <a:prstGeom prst="rect">
            <a:avLst/>
          </a:prstGeom>
          <a:solidFill>
            <a:srgbClr val="F2F2F2"/>
          </a:solidFill>
          <a:ln>
            <a:noFill/>
          </a:ln>
        </p:spPr>
        <p:txBody>
          <a:bodyPr rtlCol="0" anchor="ctr"/>
          <a:lstStyle/>
          <a:p>
            <a:pPr algn="ctr"/>
          </a:p>
        </p:txBody>
      </p:sp>
      <p:sp>
        <p:nvSpPr>
          <p:cNvPr id="148" name="Rounded Rectangle 147"/>
          <p:cNvSpPr/>
          <p:nvPr/>
        </p:nvSpPr>
        <p:spPr>
          <a:xfrm>
            <a:off x="9456297" y="7894777"/>
            <a:ext cx="888286" cy="888286"/>
          </a:xfrm>
          <a:prstGeom prst="roundRect">
            <a:avLst>
              <a:gd name="adj" fmla="val 14545"/>
            </a:avLst>
          </a:prstGeom>
          <a:solidFill>
            <a:srgbClr val="1A1A1A"/>
          </a:solidFill>
          <a:ln>
            <a:noFill/>
          </a:ln>
        </p:spPr>
        <p:txBody>
          <a:bodyPr rtlCol="0" anchor="ctr"/>
          <a:lstStyle/>
          <a:p>
            <a:pPr algn="ctr"/>
          </a:p>
        </p:txBody>
      </p:sp>
      <p:pic>
        <p:nvPicPr>
          <p:cNvPr id="149" name="Picture 148" descr="image.png"/>
          <p:cNvPicPr>
            <a:picLocks noChangeAspect="1"/>
          </p:cNvPicPr>
          <p:nvPr/>
        </p:nvPicPr>
        <p:blipFill>
          <a:blip r:embed="rId6"/>
          <a:stretch>
            <a:fillRect/>
          </a:stretch>
        </p:blipFill>
        <p:spPr>
          <a:xfrm>
            <a:off x="9651719" y="8090200"/>
            <a:ext cx="497440" cy="497440"/>
          </a:xfrm>
          <a:prstGeom prst="rect">
            <a:avLst/>
          </a:prstGeom>
        </p:spPr>
      </p:pic>
      <p:sp>
        <p:nvSpPr>
          <p:cNvPr id="150" name="TextBox 149"/>
          <p:cNvSpPr txBox="1"/>
          <p:nvPr/>
        </p:nvSpPr>
        <p:spPr>
          <a:xfrm>
            <a:off x="10586843" y="7814023"/>
            <a:ext cx="4360677" cy="646026"/>
          </a:xfrm>
          <a:prstGeom prst="rect">
            <a:avLst/>
          </a:prstGeom>
          <a:noFill/>
        </p:spPr>
        <p:txBody>
          <a:bodyPr wrap="square" lIns="0" rIns="0" tIns="0" bIns="0" anchor="t">
            <a:noAutofit/>
          </a:bodyPr>
          <a:lstStyle/>
          <a:p>
            <a:pPr algn="l"/>
            <a:r>
              <a:rPr sz="2400" b="0" i="0">
                <a:solidFill>
                  <a:srgbClr val="1A1A1A"/>
                </a:solidFill>
                <a:latin typeface="Gotham Medium"/>
              </a:rPr>
              <a:t>Optimization &amp; digital twins</a:t>
            </a:r>
          </a:p>
        </p:txBody>
      </p:sp>
      <p:sp>
        <p:nvSpPr>
          <p:cNvPr id="151" name="TextBox 150"/>
          <p:cNvSpPr txBox="1"/>
          <p:nvPr/>
        </p:nvSpPr>
        <p:spPr>
          <a:xfrm>
            <a:off x="10586843" y="8427748"/>
            <a:ext cx="4360677" cy="484519"/>
          </a:xfrm>
          <a:prstGeom prst="rect">
            <a:avLst/>
          </a:prstGeom>
          <a:noFill/>
        </p:spPr>
        <p:txBody>
          <a:bodyPr wrap="square" lIns="0" rIns="0" tIns="0" bIns="0" anchor="t">
            <a:noAutofit/>
          </a:bodyPr>
          <a:lstStyle/>
          <a:p>
            <a:pPr algn="l"/>
            <a:r>
              <a:rPr sz="1650" b="0" i="1">
                <a:solidFill>
                  <a:srgbClr val="8C8C8C"/>
                </a:solidFill>
                <a:latin typeface="Gotham Book"/>
              </a:rPr>
              <a:t>Solvers, simulation</a:t>
            </a:r>
          </a:p>
        </p:txBody>
      </p:sp>
      <p:sp>
        <p:nvSpPr>
          <p:cNvPr id="152" name="TextBox 151"/>
          <p:cNvSpPr txBox="1"/>
          <p:nvPr/>
        </p:nvSpPr>
        <p:spPr>
          <a:xfrm>
            <a:off x="9456297" y="9073775"/>
            <a:ext cx="5410470" cy="1001340"/>
          </a:xfrm>
          <a:prstGeom prst="rect">
            <a:avLst/>
          </a:prstGeom>
          <a:noFill/>
        </p:spPr>
        <p:txBody>
          <a:bodyPr wrap="square" lIns="0" rIns="0" tIns="0" bIns="0" anchor="t">
            <a:noAutofit/>
          </a:bodyPr>
          <a:lstStyle/>
          <a:p>
            <a:pPr algn="l"/>
            <a:r>
              <a:rPr sz="1950" b="0" i="0">
                <a:solidFill>
                  <a:srgbClr val="5E5E5E"/>
                </a:solidFill>
                <a:latin typeface="Gotham Book"/>
              </a:rPr>
              <a:t>Tests allocation and alternate-source scenarios</a:t>
            </a:r>
          </a:p>
        </p:txBody>
      </p:sp>
      <p:sp>
        <p:nvSpPr>
          <p:cNvPr id="153" name="TextBox 152"/>
          <p:cNvSpPr txBox="1"/>
          <p:nvPr/>
        </p:nvSpPr>
        <p:spPr>
          <a:xfrm>
            <a:off x="9456297" y="10075115"/>
            <a:ext cx="5410470" cy="1001340"/>
          </a:xfrm>
          <a:prstGeom prst="rect">
            <a:avLst/>
          </a:prstGeom>
          <a:noFill/>
        </p:spPr>
        <p:txBody>
          <a:bodyPr wrap="square" lIns="0" rIns="0" tIns="0" bIns="0" anchor="t">
            <a:noAutofit/>
          </a:bodyPr>
          <a:lstStyle/>
          <a:p>
            <a:pPr algn="l"/>
            <a:r>
              <a:rPr sz="1950" b="0" i="0">
                <a:solidFill>
                  <a:srgbClr val="B35900"/>
                </a:solidFill>
                <a:latin typeface="Gotham Medium"/>
              </a:rPr>
              <a:t>Control: </a:t>
            </a:r>
            <a:r>
              <a:rPr sz="1950" b="0" i="0">
                <a:solidFill>
                  <a:srgbClr val="B35900"/>
                </a:solidFill>
                <a:latin typeface="Gotham Book"/>
              </a:rPr>
              <a:t>Validate assumptions; a person approves the plan</a:t>
            </a:r>
          </a:p>
        </p:txBody>
      </p:sp>
      <p:sp>
        <p:nvSpPr>
          <p:cNvPr id="154" name="Rectangle 153"/>
          <p:cNvSpPr/>
          <p:nvPr/>
        </p:nvSpPr>
        <p:spPr>
          <a:xfrm>
            <a:off x="15755053" y="7491010"/>
            <a:ext cx="6218002" cy="3795404"/>
          </a:xfrm>
          <a:prstGeom prst="rect">
            <a:avLst/>
          </a:prstGeom>
          <a:solidFill>
            <a:srgbClr val="F2F2F2"/>
          </a:solidFill>
          <a:ln>
            <a:noFill/>
          </a:ln>
        </p:spPr>
        <p:txBody>
          <a:bodyPr rtlCol="0" anchor="ctr"/>
          <a:lstStyle/>
          <a:p>
            <a:pPr algn="ctr"/>
          </a:p>
        </p:txBody>
      </p:sp>
      <p:sp>
        <p:nvSpPr>
          <p:cNvPr id="155" name="Rounded Rectangle 154"/>
          <p:cNvSpPr/>
          <p:nvPr/>
        </p:nvSpPr>
        <p:spPr>
          <a:xfrm>
            <a:off x="16158819" y="7894777"/>
            <a:ext cx="888286" cy="888286"/>
          </a:xfrm>
          <a:prstGeom prst="roundRect">
            <a:avLst>
              <a:gd name="adj" fmla="val 14545"/>
            </a:avLst>
          </a:prstGeom>
          <a:solidFill>
            <a:srgbClr val="1A1A1A"/>
          </a:solidFill>
          <a:ln>
            <a:noFill/>
          </a:ln>
        </p:spPr>
        <p:txBody>
          <a:bodyPr rtlCol="0" anchor="ctr"/>
          <a:lstStyle/>
          <a:p>
            <a:pPr algn="ctr"/>
          </a:p>
        </p:txBody>
      </p:sp>
      <p:pic>
        <p:nvPicPr>
          <p:cNvPr id="156" name="Picture 155" descr="image.png"/>
          <p:cNvPicPr>
            <a:picLocks noChangeAspect="1"/>
          </p:cNvPicPr>
          <p:nvPr/>
        </p:nvPicPr>
        <p:blipFill>
          <a:blip r:embed="rId7"/>
          <a:stretch>
            <a:fillRect/>
          </a:stretch>
        </p:blipFill>
        <p:spPr>
          <a:xfrm>
            <a:off x="16354242" y="8090200"/>
            <a:ext cx="497440" cy="497440"/>
          </a:xfrm>
          <a:prstGeom prst="rect">
            <a:avLst/>
          </a:prstGeom>
        </p:spPr>
      </p:pic>
      <p:sp>
        <p:nvSpPr>
          <p:cNvPr id="157" name="TextBox 156"/>
          <p:cNvSpPr txBox="1"/>
          <p:nvPr/>
        </p:nvSpPr>
        <p:spPr>
          <a:xfrm>
            <a:off x="17289365" y="7814023"/>
            <a:ext cx="4360677" cy="646026"/>
          </a:xfrm>
          <a:prstGeom prst="rect">
            <a:avLst/>
          </a:prstGeom>
          <a:noFill/>
        </p:spPr>
        <p:txBody>
          <a:bodyPr wrap="square" lIns="0" rIns="0" tIns="0" bIns="0" anchor="t">
            <a:noAutofit/>
          </a:bodyPr>
          <a:lstStyle/>
          <a:p>
            <a:pPr algn="l"/>
            <a:r>
              <a:rPr sz="2400" b="0" i="0">
                <a:solidFill>
                  <a:srgbClr val="1A1A1A"/>
                </a:solidFill>
                <a:latin typeface="Gotham Medium"/>
              </a:rPr>
              <a:t>Agentic AI</a:t>
            </a:r>
          </a:p>
        </p:txBody>
      </p:sp>
      <p:sp>
        <p:nvSpPr>
          <p:cNvPr id="158" name="TextBox 157"/>
          <p:cNvSpPr txBox="1"/>
          <p:nvPr/>
        </p:nvSpPr>
        <p:spPr>
          <a:xfrm>
            <a:off x="17289365" y="8427748"/>
            <a:ext cx="4360677" cy="484519"/>
          </a:xfrm>
          <a:prstGeom prst="rect">
            <a:avLst/>
          </a:prstGeom>
          <a:noFill/>
        </p:spPr>
        <p:txBody>
          <a:bodyPr wrap="square" lIns="0" rIns="0" tIns="0" bIns="0" anchor="t">
            <a:noAutofit/>
          </a:bodyPr>
          <a:lstStyle/>
          <a:p>
            <a:pPr algn="l"/>
            <a:r>
              <a:rPr sz="1650" b="0" i="1">
                <a:solidFill>
                  <a:srgbClr val="8C8C8C"/>
                </a:solidFill>
                <a:latin typeface="Gotham Book"/>
              </a:rPr>
              <a:t>LLM agents with tools</a:t>
            </a:r>
          </a:p>
        </p:txBody>
      </p:sp>
      <p:sp>
        <p:nvSpPr>
          <p:cNvPr id="159" name="TextBox 158"/>
          <p:cNvSpPr txBox="1"/>
          <p:nvPr/>
        </p:nvSpPr>
        <p:spPr>
          <a:xfrm>
            <a:off x="16158819" y="9073775"/>
            <a:ext cx="5410470" cy="1001340"/>
          </a:xfrm>
          <a:prstGeom prst="rect">
            <a:avLst/>
          </a:prstGeom>
          <a:noFill/>
        </p:spPr>
        <p:txBody>
          <a:bodyPr wrap="square" lIns="0" rIns="0" tIns="0" bIns="0" anchor="t">
            <a:noAutofit/>
          </a:bodyPr>
          <a:lstStyle/>
          <a:p>
            <a:pPr algn="l"/>
            <a:r>
              <a:rPr sz="1950" b="0" i="0">
                <a:solidFill>
                  <a:srgbClr val="5E5E5E"/>
                </a:solidFill>
                <a:latin typeface="Gotham Book"/>
              </a:rPr>
              <a:t>Chains steps, such as drafting supplier queries or POs</a:t>
            </a:r>
          </a:p>
        </p:txBody>
      </p:sp>
      <p:sp>
        <p:nvSpPr>
          <p:cNvPr id="160" name="TextBox 159"/>
          <p:cNvSpPr txBox="1"/>
          <p:nvPr/>
        </p:nvSpPr>
        <p:spPr>
          <a:xfrm>
            <a:off x="16158819" y="10075115"/>
            <a:ext cx="5410470" cy="1001340"/>
          </a:xfrm>
          <a:prstGeom prst="rect">
            <a:avLst/>
          </a:prstGeom>
          <a:noFill/>
        </p:spPr>
        <p:txBody>
          <a:bodyPr wrap="square" lIns="0" rIns="0" tIns="0" bIns="0" anchor="t">
            <a:noAutofit/>
          </a:bodyPr>
          <a:lstStyle/>
          <a:p>
            <a:pPr algn="l"/>
            <a:r>
              <a:rPr sz="1950" b="0" i="0">
                <a:solidFill>
                  <a:srgbClr val="B35900"/>
                </a:solidFill>
                <a:latin typeface="Gotham Medium"/>
              </a:rPr>
              <a:t>Control: </a:t>
            </a:r>
            <a:r>
              <a:rPr sz="1950" b="0" i="0">
                <a:solidFill>
                  <a:srgbClr val="B35900"/>
                </a:solidFill>
                <a:latin typeface="Gotham Book"/>
              </a:rPr>
              <a:t>Least-privilege tools; sign-off before external actions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Four layers turn risk data into decisions you can defend</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GOVERNANCE AS THE LEVER</a:t>
            </a:r>
          </a:p>
        </p:txBody>
      </p:sp>
      <p:sp>
        <p:nvSpPr>
          <p:cNvPr id="119" name="Rectangle 118"/>
          <p:cNvSpPr/>
          <p:nvPr/>
        </p:nvSpPr>
        <p:spPr>
          <a:xfrm>
            <a:off x="2350008" y="3534099"/>
            <a:ext cx="19542294" cy="1647367"/>
          </a:xfrm>
          <a:prstGeom prst="rect">
            <a:avLst/>
          </a:prstGeom>
          <a:solidFill>
            <a:srgbClr val="F2F2F2"/>
          </a:solidFill>
          <a:ln>
            <a:noFill/>
          </a:ln>
        </p:spPr>
        <p:txBody>
          <a:bodyPr rtlCol="0" anchor="ctr"/>
          <a:lstStyle/>
          <a:p>
            <a:pPr algn="ctr"/>
          </a:p>
        </p:txBody>
      </p:sp>
      <p:sp>
        <p:nvSpPr>
          <p:cNvPr id="120" name="Rounded Rectangle 119"/>
          <p:cNvSpPr/>
          <p:nvPr/>
        </p:nvSpPr>
        <p:spPr>
          <a:xfrm>
            <a:off x="2753774" y="3857112"/>
            <a:ext cx="1001340" cy="1001340"/>
          </a:xfrm>
          <a:prstGeom prst="roundRect">
            <a:avLst>
              <a:gd name="adj" fmla="val 12903"/>
            </a:avLst>
          </a:prstGeom>
          <a:solidFill>
            <a:srgbClr val="1A1A1A"/>
          </a:solidFill>
          <a:ln>
            <a:noFill/>
          </a:ln>
        </p:spPr>
        <p:txBody>
          <a:bodyPr rtlCol="0" anchor="ctr"/>
          <a:lstStyle/>
          <a:p>
            <a:pPr algn="ctr"/>
          </a:p>
        </p:txBody>
      </p:sp>
      <p:pic>
        <p:nvPicPr>
          <p:cNvPr id="121" name="Picture 120" descr="image.png"/>
          <p:cNvPicPr>
            <a:picLocks noChangeAspect="1"/>
          </p:cNvPicPr>
          <p:nvPr/>
        </p:nvPicPr>
        <p:blipFill>
          <a:blip r:embed="rId2"/>
          <a:stretch>
            <a:fillRect/>
          </a:stretch>
        </p:blipFill>
        <p:spPr>
          <a:xfrm>
            <a:off x="2974069" y="4077407"/>
            <a:ext cx="560750" cy="560750"/>
          </a:xfrm>
          <a:prstGeom prst="rect">
            <a:avLst/>
          </a:prstGeom>
        </p:spPr>
      </p:pic>
      <p:sp>
        <p:nvSpPr>
          <p:cNvPr id="122" name="TextBox 121"/>
          <p:cNvSpPr txBox="1"/>
          <p:nvPr/>
        </p:nvSpPr>
        <p:spPr>
          <a:xfrm>
            <a:off x="4126580" y="3534099"/>
            <a:ext cx="5006703" cy="1647367"/>
          </a:xfrm>
          <a:prstGeom prst="rect">
            <a:avLst/>
          </a:prstGeom>
          <a:noFill/>
        </p:spPr>
        <p:txBody>
          <a:bodyPr wrap="square" lIns="0" rIns="0" tIns="0" bIns="0" anchor="ctr">
            <a:noAutofit/>
          </a:bodyPr>
          <a:lstStyle/>
          <a:p>
            <a:pPr algn="l"/>
            <a:r>
              <a:rPr sz="2850" b="0" i="0">
                <a:solidFill>
                  <a:srgbClr val="1A1A1A"/>
                </a:solidFill>
                <a:latin typeface="Gotham Medium"/>
              </a:rPr>
              <a:t>Human oversight</a:t>
            </a:r>
          </a:p>
        </p:txBody>
      </p:sp>
      <p:sp>
        <p:nvSpPr>
          <p:cNvPr id="123" name="TextBox 122"/>
          <p:cNvSpPr txBox="1"/>
          <p:nvPr/>
        </p:nvSpPr>
        <p:spPr>
          <a:xfrm>
            <a:off x="9294790" y="3534099"/>
            <a:ext cx="12274499" cy="1647367"/>
          </a:xfrm>
          <a:prstGeom prst="rect">
            <a:avLst/>
          </a:prstGeom>
          <a:noFill/>
        </p:spPr>
        <p:txBody>
          <a:bodyPr wrap="square" lIns="0" rIns="0" tIns="0" bIns="0" anchor="ctr">
            <a:noAutofit/>
          </a:bodyPr>
          <a:lstStyle/>
          <a:p>
            <a:pPr algn="l"/>
            <a:r>
              <a:rPr sz="2250" b="0" i="0">
                <a:solidFill>
                  <a:srgbClr val="5E5E5E"/>
                </a:solidFill>
                <a:latin typeface="Gotham Book"/>
              </a:rPr>
              <a:t>Decision rights, escalation paths, and a named owner for every action the data or model informs</a:t>
            </a:r>
          </a:p>
        </p:txBody>
      </p:sp>
      <p:sp>
        <p:nvSpPr>
          <p:cNvPr id="124" name="Rectangle 123"/>
          <p:cNvSpPr/>
          <p:nvPr/>
        </p:nvSpPr>
        <p:spPr>
          <a:xfrm>
            <a:off x="2350008" y="5439877"/>
            <a:ext cx="19542294" cy="1647367"/>
          </a:xfrm>
          <a:prstGeom prst="rect">
            <a:avLst/>
          </a:prstGeom>
          <a:solidFill>
            <a:srgbClr val="F2F2F2"/>
          </a:solidFill>
          <a:ln>
            <a:noFill/>
          </a:ln>
        </p:spPr>
        <p:txBody>
          <a:bodyPr rtlCol="0" anchor="ctr"/>
          <a:lstStyle/>
          <a:p>
            <a:pPr algn="ctr"/>
          </a:p>
        </p:txBody>
      </p:sp>
      <p:sp>
        <p:nvSpPr>
          <p:cNvPr id="125" name="Rounded Rectangle 124"/>
          <p:cNvSpPr/>
          <p:nvPr/>
        </p:nvSpPr>
        <p:spPr>
          <a:xfrm>
            <a:off x="2753774" y="5762890"/>
            <a:ext cx="1001340" cy="1001340"/>
          </a:xfrm>
          <a:prstGeom prst="roundRect">
            <a:avLst>
              <a:gd name="adj" fmla="val 12903"/>
            </a:avLst>
          </a:prstGeom>
          <a:solidFill>
            <a:srgbClr val="1A1A1A"/>
          </a:solidFill>
          <a:ln>
            <a:noFill/>
          </a:ln>
        </p:spPr>
        <p:txBody>
          <a:bodyPr rtlCol="0" anchor="ctr"/>
          <a:lstStyle/>
          <a:p>
            <a:pPr algn="ctr"/>
          </a:p>
        </p:txBody>
      </p:sp>
      <p:pic>
        <p:nvPicPr>
          <p:cNvPr id="126" name="Picture 125" descr="image.png"/>
          <p:cNvPicPr>
            <a:picLocks noChangeAspect="1"/>
          </p:cNvPicPr>
          <p:nvPr/>
        </p:nvPicPr>
        <p:blipFill>
          <a:blip r:embed="rId3"/>
          <a:stretch>
            <a:fillRect/>
          </a:stretch>
        </p:blipFill>
        <p:spPr>
          <a:xfrm>
            <a:off x="2974069" y="5983185"/>
            <a:ext cx="560750" cy="560750"/>
          </a:xfrm>
          <a:prstGeom prst="rect">
            <a:avLst/>
          </a:prstGeom>
        </p:spPr>
      </p:pic>
      <p:sp>
        <p:nvSpPr>
          <p:cNvPr id="127" name="TextBox 126"/>
          <p:cNvSpPr txBox="1"/>
          <p:nvPr/>
        </p:nvSpPr>
        <p:spPr>
          <a:xfrm>
            <a:off x="4126580" y="5439877"/>
            <a:ext cx="5006703" cy="1647367"/>
          </a:xfrm>
          <a:prstGeom prst="rect">
            <a:avLst/>
          </a:prstGeom>
          <a:noFill/>
        </p:spPr>
        <p:txBody>
          <a:bodyPr wrap="square" lIns="0" rIns="0" tIns="0" bIns="0" anchor="ctr">
            <a:noAutofit/>
          </a:bodyPr>
          <a:lstStyle/>
          <a:p>
            <a:pPr algn="l"/>
            <a:r>
              <a:rPr sz="2850" b="0" i="0">
                <a:solidFill>
                  <a:srgbClr val="1A1A1A"/>
                </a:solidFill>
                <a:latin typeface="Gotham Medium"/>
              </a:rPr>
              <a:t>AI model risk</a:t>
            </a:r>
          </a:p>
        </p:txBody>
      </p:sp>
      <p:sp>
        <p:nvSpPr>
          <p:cNvPr id="128" name="TextBox 127"/>
          <p:cNvSpPr txBox="1"/>
          <p:nvPr/>
        </p:nvSpPr>
        <p:spPr>
          <a:xfrm>
            <a:off x="9294790" y="5439877"/>
            <a:ext cx="12274499" cy="1647367"/>
          </a:xfrm>
          <a:prstGeom prst="rect">
            <a:avLst/>
          </a:prstGeom>
          <a:noFill/>
        </p:spPr>
        <p:txBody>
          <a:bodyPr wrap="square" lIns="0" rIns="0" tIns="0" bIns="0" anchor="ctr">
            <a:noAutofit/>
          </a:bodyPr>
          <a:lstStyle/>
          <a:p>
            <a:pPr algn="l"/>
            <a:r>
              <a:rPr sz="2250" b="0" i="0">
                <a:solidFill>
                  <a:srgbClr val="5E5E5E"/>
                </a:solidFill>
                <a:latin typeface="Gotham Book"/>
              </a:rPr>
              <a:t>Validation against known events, drift monitoring, explainable outputs, and logged prompts for generative tools</a:t>
            </a:r>
          </a:p>
        </p:txBody>
      </p:sp>
      <p:sp>
        <p:nvSpPr>
          <p:cNvPr id="129" name="Rectangle 128"/>
          <p:cNvSpPr/>
          <p:nvPr/>
        </p:nvSpPr>
        <p:spPr>
          <a:xfrm>
            <a:off x="2350008" y="7345654"/>
            <a:ext cx="19542294" cy="1647367"/>
          </a:xfrm>
          <a:prstGeom prst="rect">
            <a:avLst/>
          </a:prstGeom>
          <a:solidFill>
            <a:srgbClr val="F2F2F2"/>
          </a:solidFill>
          <a:ln>
            <a:noFill/>
          </a:ln>
        </p:spPr>
        <p:txBody>
          <a:bodyPr rtlCol="0" anchor="ctr"/>
          <a:lstStyle/>
          <a:p>
            <a:pPr algn="ctr"/>
          </a:p>
        </p:txBody>
      </p:sp>
      <p:sp>
        <p:nvSpPr>
          <p:cNvPr id="130" name="Rounded Rectangle 129"/>
          <p:cNvSpPr/>
          <p:nvPr/>
        </p:nvSpPr>
        <p:spPr>
          <a:xfrm>
            <a:off x="2753774" y="7668668"/>
            <a:ext cx="1001340" cy="1001340"/>
          </a:xfrm>
          <a:prstGeom prst="roundRect">
            <a:avLst>
              <a:gd name="adj" fmla="val 12903"/>
            </a:avLst>
          </a:prstGeom>
          <a:solidFill>
            <a:srgbClr val="1A1A1A"/>
          </a:solidFill>
          <a:ln>
            <a:noFill/>
          </a:ln>
        </p:spPr>
        <p:txBody>
          <a:bodyPr rtlCol="0" anchor="ctr"/>
          <a:lstStyle/>
          <a:p>
            <a:pPr algn="ctr"/>
          </a:p>
        </p:txBody>
      </p:sp>
      <p:pic>
        <p:nvPicPr>
          <p:cNvPr id="131" name="Picture 130" descr="image.png"/>
          <p:cNvPicPr>
            <a:picLocks noChangeAspect="1"/>
          </p:cNvPicPr>
          <p:nvPr/>
        </p:nvPicPr>
        <p:blipFill>
          <a:blip r:embed="rId4"/>
          <a:stretch>
            <a:fillRect/>
          </a:stretch>
        </p:blipFill>
        <p:spPr>
          <a:xfrm>
            <a:off x="2974069" y="7888962"/>
            <a:ext cx="560750" cy="560750"/>
          </a:xfrm>
          <a:prstGeom prst="rect">
            <a:avLst/>
          </a:prstGeom>
        </p:spPr>
      </p:pic>
      <p:sp>
        <p:nvSpPr>
          <p:cNvPr id="132" name="TextBox 131"/>
          <p:cNvSpPr txBox="1"/>
          <p:nvPr/>
        </p:nvSpPr>
        <p:spPr>
          <a:xfrm>
            <a:off x="4126580" y="7345654"/>
            <a:ext cx="5006703" cy="1647367"/>
          </a:xfrm>
          <a:prstGeom prst="rect">
            <a:avLst/>
          </a:prstGeom>
          <a:noFill/>
        </p:spPr>
        <p:txBody>
          <a:bodyPr wrap="square" lIns="0" rIns="0" tIns="0" bIns="0" anchor="ctr">
            <a:noAutofit/>
          </a:bodyPr>
          <a:lstStyle/>
          <a:p>
            <a:pPr algn="l"/>
            <a:r>
              <a:rPr sz="2850" b="0" i="0">
                <a:solidFill>
                  <a:srgbClr val="1A1A1A"/>
                </a:solidFill>
                <a:latin typeface="Gotham Medium"/>
              </a:rPr>
              <a:t>Access &amp; sharing</a:t>
            </a:r>
          </a:p>
        </p:txBody>
      </p:sp>
      <p:sp>
        <p:nvSpPr>
          <p:cNvPr id="133" name="TextBox 132"/>
          <p:cNvSpPr txBox="1"/>
          <p:nvPr/>
        </p:nvSpPr>
        <p:spPr>
          <a:xfrm>
            <a:off x="9294790" y="7345654"/>
            <a:ext cx="12274499" cy="1647367"/>
          </a:xfrm>
          <a:prstGeom prst="rect">
            <a:avLst/>
          </a:prstGeom>
          <a:noFill/>
        </p:spPr>
        <p:txBody>
          <a:bodyPr wrap="square" lIns="0" rIns="0" tIns="0" bIns="0" anchor="ctr">
            <a:noAutofit/>
          </a:bodyPr>
          <a:lstStyle/>
          <a:p>
            <a:pPr algn="l"/>
            <a:r>
              <a:rPr sz="2250" b="0" i="0">
                <a:solidFill>
                  <a:srgbClr val="5E5E5E"/>
                </a:solidFill>
                <a:latin typeface="Gotham Book"/>
              </a:rPr>
              <a:t>Least-privilege access, data-use agreements with suppliers, and audit trails on sensitive maps</a:t>
            </a:r>
          </a:p>
        </p:txBody>
      </p:sp>
      <p:sp>
        <p:nvSpPr>
          <p:cNvPr id="134" name="Rectangle 133"/>
          <p:cNvSpPr/>
          <p:nvPr/>
        </p:nvSpPr>
        <p:spPr>
          <a:xfrm>
            <a:off x="2350008" y="9251432"/>
            <a:ext cx="19542294" cy="1647367"/>
          </a:xfrm>
          <a:prstGeom prst="rect">
            <a:avLst/>
          </a:prstGeom>
          <a:solidFill>
            <a:srgbClr val="FDEBD3"/>
          </a:solidFill>
          <a:ln>
            <a:noFill/>
          </a:ln>
        </p:spPr>
        <p:txBody>
          <a:bodyPr rtlCol="0" anchor="ctr"/>
          <a:lstStyle/>
          <a:p>
            <a:pPr algn="ctr"/>
          </a:p>
        </p:txBody>
      </p:sp>
      <p:sp>
        <p:nvSpPr>
          <p:cNvPr id="135" name="Rounded Rectangle 134"/>
          <p:cNvSpPr/>
          <p:nvPr/>
        </p:nvSpPr>
        <p:spPr>
          <a:xfrm>
            <a:off x="2753774" y="9574445"/>
            <a:ext cx="1001340" cy="1001340"/>
          </a:xfrm>
          <a:prstGeom prst="roundRect">
            <a:avLst>
              <a:gd name="adj" fmla="val 12903"/>
            </a:avLst>
          </a:prstGeom>
          <a:solidFill>
            <a:srgbClr val="E97B05"/>
          </a:solidFill>
          <a:ln>
            <a:noFill/>
          </a:ln>
        </p:spPr>
        <p:txBody>
          <a:bodyPr rtlCol="0" anchor="ctr"/>
          <a:lstStyle/>
          <a:p>
            <a:pPr algn="ctr"/>
          </a:p>
        </p:txBody>
      </p:sp>
      <p:pic>
        <p:nvPicPr>
          <p:cNvPr id="136" name="Picture 135" descr="image.png"/>
          <p:cNvPicPr>
            <a:picLocks noChangeAspect="1"/>
          </p:cNvPicPr>
          <p:nvPr/>
        </p:nvPicPr>
        <p:blipFill>
          <a:blip r:embed="rId5"/>
          <a:stretch>
            <a:fillRect/>
          </a:stretch>
        </p:blipFill>
        <p:spPr>
          <a:xfrm>
            <a:off x="2974069" y="9794740"/>
            <a:ext cx="560750" cy="560750"/>
          </a:xfrm>
          <a:prstGeom prst="rect">
            <a:avLst/>
          </a:prstGeom>
        </p:spPr>
      </p:pic>
      <p:sp>
        <p:nvSpPr>
          <p:cNvPr id="137" name="TextBox 136"/>
          <p:cNvSpPr txBox="1"/>
          <p:nvPr/>
        </p:nvSpPr>
        <p:spPr>
          <a:xfrm>
            <a:off x="4126580" y="9251432"/>
            <a:ext cx="5006703" cy="1647367"/>
          </a:xfrm>
          <a:prstGeom prst="rect">
            <a:avLst/>
          </a:prstGeom>
          <a:noFill/>
        </p:spPr>
        <p:txBody>
          <a:bodyPr wrap="square" lIns="0" rIns="0" tIns="0" bIns="0" anchor="ctr">
            <a:noAutofit/>
          </a:bodyPr>
          <a:lstStyle/>
          <a:p>
            <a:pPr algn="l"/>
            <a:r>
              <a:rPr sz="2850" b="0" i="0">
                <a:solidFill>
                  <a:srgbClr val="1A1A1A"/>
                </a:solidFill>
                <a:latin typeface="Gotham Medium"/>
              </a:rPr>
              <a:t>Data foundation</a:t>
            </a:r>
          </a:p>
        </p:txBody>
      </p:sp>
      <p:sp>
        <p:nvSpPr>
          <p:cNvPr id="138" name="TextBox 137"/>
          <p:cNvSpPr txBox="1"/>
          <p:nvPr/>
        </p:nvSpPr>
        <p:spPr>
          <a:xfrm>
            <a:off x="9294790" y="9251432"/>
            <a:ext cx="12274499" cy="1647367"/>
          </a:xfrm>
          <a:prstGeom prst="rect">
            <a:avLst/>
          </a:prstGeom>
          <a:noFill/>
        </p:spPr>
        <p:txBody>
          <a:bodyPr wrap="square" lIns="0" rIns="0" tIns="0" bIns="0" anchor="ctr">
            <a:noAutofit/>
          </a:bodyPr>
          <a:lstStyle/>
          <a:p>
            <a:pPr algn="l"/>
            <a:r>
              <a:rPr sz="2250" b="0" i="0">
                <a:solidFill>
                  <a:srgbClr val="5E5E5E"/>
                </a:solidFill>
                <a:latin typeface="Gotham Book"/>
              </a:rPr>
              <a:t>Common part and supplier IDs, lineage, quality checks, and an owner for each critical record</a:t>
            </a:r>
          </a:p>
        </p:txBody>
      </p:sp>
      <p:sp>
        <p:nvSpPr>
          <p:cNvPr id="139" name="TextBox 138"/>
          <p:cNvSpPr txBox="1"/>
          <p:nvPr/>
        </p:nvSpPr>
        <p:spPr>
          <a:xfrm>
            <a:off x="2350008" y="11286415"/>
            <a:ext cx="19595592" cy="646026"/>
          </a:xfrm>
          <a:prstGeom prst="rect">
            <a:avLst/>
          </a:prstGeom>
          <a:noFill/>
        </p:spPr>
        <p:txBody>
          <a:bodyPr wrap="square" lIns="0" rIns="0" tIns="0" bIns="0" anchor="t">
            <a:noAutofit/>
          </a:bodyPr>
          <a:lstStyle/>
          <a:p>
            <a:pPr algn="l"/>
            <a:r>
              <a:rPr sz="2400" b="0" i="1">
                <a:solidFill>
                  <a:srgbClr val="B35900"/>
                </a:solidFill>
                <a:latin typeface="Gotham Book"/>
              </a:rPr>
              <a:t>Build from the bottom up. Each layer depends on the one below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Map each control to the risk it reduces, and measure it</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GOVERNANCE AS THE LEVER</a:t>
            </a:r>
          </a:p>
        </p:txBody>
      </p:sp>
      <p:graphicFrame>
        <p:nvGraphicFramePr>
          <p:cNvPr id="119" name="Table 118"/>
          <p:cNvGraphicFramePr>
            <a:graphicFrameLocks noGrp="1"/>
          </p:cNvGraphicFramePr>
          <p:nvPr/>
        </p:nvGraphicFramePr>
        <p:xfrm>
          <a:off x="2350008" y="3453346"/>
          <a:ext cx="19542293" cy="7752311"/>
        </p:xfrm>
        <a:graphic>
          <a:graphicData uri="http://schemas.openxmlformats.org/drawingml/2006/table">
            <a:tbl>
              <a:tblPr>
                <a:tableStyleId>{5C22544A-7EE6-4342-B048-85BDC9FD1C3A}</a:tableStyleId>
              </a:tblPr>
              <a:tblGrid>
                <a:gridCol w="5329716"/>
                <a:gridCol w="8075328"/>
                <a:gridCol w="6137249"/>
              </a:tblGrid>
              <a:tr h="888286">
                <a:tc>
                  <a:txBody>
                    <a:bodyPr wrap="square"/>
                    <a:lstStyle/>
                    <a:p>
                      <a:r>
                        <a:rPr sz="2250" b="0" i="0">
                          <a:solidFill>
                            <a:srgbClr val="FFFFFF"/>
                          </a:solidFill>
                          <a:latin typeface="Gotham Medium"/>
                        </a:rPr>
                        <a:t>Risk</a:t>
                      </a:r>
                    </a:p>
                  </a:txBody>
                  <a:tcPr marL="242259" marR="242259" marT="96903" marB="96903" anchor="ctr">
                    <a:solidFill>
                      <a:srgbClr val="1A1A1A"/>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250" b="0" i="0">
                          <a:solidFill>
                            <a:srgbClr val="FFFFFF"/>
                          </a:solidFill>
                          <a:latin typeface="Gotham Medium"/>
                        </a:rPr>
                        <a:t>Governance control</a:t>
                      </a:r>
                    </a:p>
                  </a:txBody>
                  <a:tcPr marL="242259" marR="242259" marT="96903" marB="96903" anchor="ctr">
                    <a:solidFill>
                      <a:srgbClr val="1A1A1A"/>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250" b="0" i="0">
                          <a:solidFill>
                            <a:srgbClr val="FFFFFF"/>
                          </a:solidFill>
                          <a:latin typeface="Gotham Medium"/>
                        </a:rPr>
                        <a:t>Evidence it works</a:t>
                      </a:r>
                    </a:p>
                  </a:txBody>
                  <a:tcPr marL="242259" marR="242259" marT="96903" marB="96903" anchor="ctr">
                    <a:solidFill>
                      <a:srgbClr val="1A1A1A"/>
                    </a:solidFill>
                    <a:lnL w="9525">
                      <a:solidFill>
                        <a:srgbClr val="D5D5D5"/>
                      </a:solidFill>
                    </a:lnL>
                    <a:lnR w="9525">
                      <a:solidFill>
                        <a:srgbClr val="D5D5D5"/>
                      </a:solidFill>
                    </a:lnR>
                    <a:lnT w="9525">
                      <a:solidFill>
                        <a:srgbClr val="D5D5D5"/>
                      </a:solidFill>
                    </a:lnT>
                    <a:lnB w="9525">
                      <a:solidFill>
                        <a:srgbClr val="D5D5D5"/>
                      </a:solidFill>
                    </a:lnB>
                  </a:tcPr>
                </a:tc>
              </a:tr>
              <a:tr h="1372805">
                <a:tc>
                  <a:txBody>
                    <a:bodyPr wrap="square"/>
                    <a:lstStyle/>
                    <a:p>
                      <a:r>
                        <a:rPr sz="2025" b="0" i="0">
                          <a:solidFill>
                            <a:srgbClr val="1A1A1A"/>
                          </a:solidFill>
                          <a:latin typeface="Gotham Medium"/>
                        </a:rPr>
                        <a:t>Single points of failure</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1A1A1A"/>
                          </a:solidFill>
                          <a:latin typeface="Gotham Book"/>
                        </a:rPr>
                        <a:t>AI-assisted multi-tier BOM mapping down to raw materials, with an owner per critical part</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B35900"/>
                          </a:solidFill>
                          <a:latin typeface="Gotham Medium"/>
                        </a:rPr>
                        <a:t>Share of critical parts traced to raw material</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r>
              <a:tr h="1372805">
                <a:tc>
                  <a:txBody>
                    <a:bodyPr wrap="square"/>
                    <a:lstStyle/>
                    <a:p>
                      <a:r>
                        <a:rPr sz="2025" b="0" i="0">
                          <a:solidFill>
                            <a:srgbClr val="1A1A1A"/>
                          </a:solidFill>
                          <a:latin typeface="Gotham Medium"/>
                        </a:rPr>
                        <a:t>Export controls and sanctions</a:t>
                      </a:r>
                    </a:p>
                  </a:txBody>
                  <a:tcPr marL="242259" marR="242259" marT="96903" marB="96903" anchor="ctr">
                    <a:solidFill>
                      <a:srgbClr val="F2F2F2"/>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1A1A1A"/>
                          </a:solidFill>
                          <a:latin typeface="Gotham Book"/>
                        </a:rPr>
                        <a:t>Automated screening of items, parties, and end uses against current control lists</a:t>
                      </a:r>
                    </a:p>
                  </a:txBody>
                  <a:tcPr marL="242259" marR="242259" marT="96903" marB="96903" anchor="ctr">
                    <a:solidFill>
                      <a:srgbClr val="F2F2F2"/>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B35900"/>
                          </a:solidFill>
                          <a:latin typeface="Gotham Medium"/>
                        </a:rPr>
                        <a:t>Hours from rule change to exposure report</a:t>
                      </a:r>
                    </a:p>
                  </a:txBody>
                  <a:tcPr marL="242259" marR="242259" marT="96903" marB="96903" anchor="ctr">
                    <a:solidFill>
                      <a:srgbClr val="F2F2F2"/>
                    </a:solidFill>
                    <a:lnL w="9525">
                      <a:solidFill>
                        <a:srgbClr val="D5D5D5"/>
                      </a:solidFill>
                    </a:lnL>
                    <a:lnR w="9525">
                      <a:solidFill>
                        <a:srgbClr val="D5D5D5"/>
                      </a:solidFill>
                    </a:lnR>
                    <a:lnT w="9525">
                      <a:solidFill>
                        <a:srgbClr val="D5D5D5"/>
                      </a:solidFill>
                    </a:lnT>
                    <a:lnB w="9525">
                      <a:solidFill>
                        <a:srgbClr val="D5D5D5"/>
                      </a:solidFill>
                    </a:lnB>
                  </a:tcPr>
                </a:tc>
              </a:tr>
              <a:tr h="1372805">
                <a:tc>
                  <a:txBody>
                    <a:bodyPr wrap="square"/>
                    <a:lstStyle/>
                    <a:p>
                      <a:r>
                        <a:rPr sz="2025" b="0" i="0">
                          <a:solidFill>
                            <a:srgbClr val="1A1A1A"/>
                          </a:solidFill>
                          <a:latin typeface="Gotham Medium"/>
                        </a:rPr>
                        <a:t>Allocation crunch (HBM, advanced nodes)</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1A1A1A"/>
                          </a:solidFill>
                          <a:latin typeface="Gotham Book"/>
                        </a:rPr>
                        <a:t>ML monitoring of lead-time and capacity signals at known choke points</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B35900"/>
                          </a:solidFill>
                          <a:latin typeface="Gotham Medium"/>
                        </a:rPr>
                        <a:t>Weeks of warning before allocation hits</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r>
              <a:tr h="1372805">
                <a:tc>
                  <a:txBody>
                    <a:bodyPr wrap="square"/>
                    <a:lstStyle/>
                    <a:p>
                      <a:r>
                        <a:rPr sz="2025" b="0" i="0">
                          <a:solidFill>
                            <a:srgbClr val="1A1A1A"/>
                          </a:solidFill>
                          <a:latin typeface="Gotham Medium"/>
                        </a:rPr>
                        <a:t>AI misranks a risk</a:t>
                      </a:r>
                    </a:p>
                  </a:txBody>
                  <a:tcPr marL="242259" marR="242259" marT="96903" marB="96903" anchor="ctr">
                    <a:solidFill>
                      <a:srgbClr val="F2F2F2"/>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1A1A1A"/>
                          </a:solidFill>
                          <a:latin typeface="Gotham Book"/>
                        </a:rPr>
                        <a:t>Validation on past disruptions, drift monitoring</a:t>
                      </a:r>
                    </a:p>
                  </a:txBody>
                  <a:tcPr marL="242259" marR="242259" marT="96903" marB="96903" anchor="ctr">
                    <a:solidFill>
                      <a:srgbClr val="F2F2F2"/>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B35900"/>
                          </a:solidFill>
                          <a:latin typeface="Gotham Medium"/>
                        </a:rPr>
                        <a:t>Planner override rate, and why</a:t>
                      </a:r>
                    </a:p>
                  </a:txBody>
                  <a:tcPr marL="242259" marR="242259" marT="96903" marB="96903" anchor="ctr">
                    <a:solidFill>
                      <a:srgbClr val="F2F2F2"/>
                    </a:solidFill>
                    <a:lnL w="9525">
                      <a:solidFill>
                        <a:srgbClr val="D5D5D5"/>
                      </a:solidFill>
                    </a:lnL>
                    <a:lnR w="9525">
                      <a:solidFill>
                        <a:srgbClr val="D5D5D5"/>
                      </a:solidFill>
                    </a:lnR>
                    <a:lnT w="9525">
                      <a:solidFill>
                        <a:srgbClr val="D5D5D5"/>
                      </a:solidFill>
                    </a:lnT>
                    <a:lnB w="9525">
                      <a:solidFill>
                        <a:srgbClr val="D5D5D5"/>
                      </a:solidFill>
                    </a:lnB>
                  </a:tcPr>
                </a:tc>
              </a:tr>
              <a:tr h="1372805">
                <a:tc>
                  <a:txBody>
                    <a:bodyPr wrap="square"/>
                    <a:lstStyle/>
                    <a:p>
                      <a:r>
                        <a:rPr sz="2025" b="0" i="0">
                          <a:solidFill>
                            <a:srgbClr val="1A1A1A"/>
                          </a:solidFill>
                          <a:latin typeface="Gotham Medium"/>
                        </a:rPr>
                        <a:t>Suppliers won't share</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1A1A1A"/>
                          </a:solidFill>
                          <a:latin typeface="Gotham Book"/>
                        </a:rPr>
                        <a:t>Data-use agreements, least-privilege access, audit logs</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c>
                  <a:txBody>
                    <a:bodyPr wrap="square"/>
                    <a:lstStyle/>
                    <a:p>
                      <a:r>
                        <a:rPr sz="2025" b="0" i="0">
                          <a:solidFill>
                            <a:srgbClr val="B35900"/>
                          </a:solidFill>
                          <a:latin typeface="Gotham Medium"/>
                        </a:rPr>
                        <a:t>Critical suppliers sharing sub-tier data</a:t>
                      </a:r>
                    </a:p>
                  </a:txBody>
                  <a:tcPr marL="242259" marR="242259" marT="96903" marB="96903" anchor="ctr">
                    <a:solidFill>
                      <a:srgbClr val="FFFFFF"/>
                    </a:solidFill>
                    <a:lnL w="9525">
                      <a:solidFill>
                        <a:srgbClr val="D5D5D5"/>
                      </a:solidFill>
                    </a:lnL>
                    <a:lnR w="9525">
                      <a:solidFill>
                        <a:srgbClr val="D5D5D5"/>
                      </a:solidFill>
                    </a:lnR>
                    <a:lnT w="9525">
                      <a:solidFill>
                        <a:srgbClr val="D5D5D5"/>
                      </a:solidFill>
                    </a:lnT>
                    <a:lnB w="9525">
                      <a:solidFill>
                        <a:srgbClr val="D5D5D5"/>
                      </a:solidFill>
                    </a:lnB>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Use an established framework rather than inventing one</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GOVERNANCE AS THE LEVER</a:t>
            </a:r>
          </a:p>
        </p:txBody>
      </p:sp>
      <p:sp>
        <p:nvSpPr>
          <p:cNvPr id="119" name="TextBox 118"/>
          <p:cNvSpPr txBox="1"/>
          <p:nvPr/>
        </p:nvSpPr>
        <p:spPr>
          <a:xfrm>
            <a:off x="2350008" y="3372593"/>
            <a:ext cx="12920525" cy="726779"/>
          </a:xfrm>
          <a:prstGeom prst="rect">
            <a:avLst/>
          </a:prstGeom>
          <a:noFill/>
        </p:spPr>
        <p:txBody>
          <a:bodyPr wrap="square" lIns="0" rIns="0" tIns="0" bIns="0" anchor="t">
            <a:noAutofit/>
          </a:bodyPr>
          <a:lstStyle/>
          <a:p>
            <a:pPr algn="l"/>
            <a:r>
              <a:rPr sz="2700" b="0" i="0">
                <a:solidFill>
                  <a:srgbClr val="1A1A1A"/>
                </a:solidFill>
                <a:latin typeface="Gotham Medium"/>
              </a:rPr>
              <a:t>NIST AI Risk Management Framework: four functions</a:t>
            </a:r>
          </a:p>
        </p:txBody>
      </p:sp>
      <p:sp>
        <p:nvSpPr>
          <p:cNvPr id="120" name="Rectangle 119"/>
          <p:cNvSpPr/>
          <p:nvPr/>
        </p:nvSpPr>
        <p:spPr>
          <a:xfrm>
            <a:off x="2350008" y="4422385"/>
            <a:ext cx="2987871" cy="5168210"/>
          </a:xfrm>
          <a:prstGeom prst="rect">
            <a:avLst/>
          </a:prstGeom>
          <a:solidFill>
            <a:srgbClr val="FDEBD3"/>
          </a:solidFill>
          <a:ln>
            <a:noFill/>
          </a:ln>
        </p:spPr>
        <p:txBody>
          <a:bodyPr rtlCol="0" anchor="ctr"/>
          <a:lstStyle/>
          <a:p>
            <a:pPr algn="ctr"/>
          </a:p>
        </p:txBody>
      </p:sp>
      <p:sp>
        <p:nvSpPr>
          <p:cNvPr id="121" name="Rounded Rectangle 120"/>
          <p:cNvSpPr/>
          <p:nvPr/>
        </p:nvSpPr>
        <p:spPr>
          <a:xfrm>
            <a:off x="2673021" y="4826152"/>
            <a:ext cx="1001340" cy="1001340"/>
          </a:xfrm>
          <a:prstGeom prst="roundRect">
            <a:avLst>
              <a:gd name="adj" fmla="val 12903"/>
            </a:avLst>
          </a:prstGeom>
          <a:solidFill>
            <a:srgbClr val="E97B05"/>
          </a:solidFill>
          <a:ln>
            <a:noFill/>
          </a:ln>
        </p:spPr>
        <p:txBody>
          <a:bodyPr rtlCol="0" anchor="ctr"/>
          <a:lstStyle/>
          <a:p>
            <a:pPr algn="ctr"/>
          </a:p>
        </p:txBody>
      </p:sp>
      <p:pic>
        <p:nvPicPr>
          <p:cNvPr id="122" name="Picture 121" descr="image.png"/>
          <p:cNvPicPr>
            <a:picLocks noChangeAspect="1"/>
          </p:cNvPicPr>
          <p:nvPr/>
        </p:nvPicPr>
        <p:blipFill>
          <a:blip r:embed="rId2"/>
          <a:stretch>
            <a:fillRect/>
          </a:stretch>
        </p:blipFill>
        <p:spPr>
          <a:xfrm>
            <a:off x="2893316" y="5046447"/>
            <a:ext cx="560750" cy="560750"/>
          </a:xfrm>
          <a:prstGeom prst="rect">
            <a:avLst/>
          </a:prstGeom>
        </p:spPr>
      </p:pic>
      <p:sp>
        <p:nvSpPr>
          <p:cNvPr id="123" name="TextBox 122"/>
          <p:cNvSpPr txBox="1"/>
          <p:nvPr/>
        </p:nvSpPr>
        <p:spPr>
          <a:xfrm>
            <a:off x="2673021" y="6037451"/>
            <a:ext cx="2422598" cy="726779"/>
          </a:xfrm>
          <a:prstGeom prst="rect">
            <a:avLst/>
          </a:prstGeom>
          <a:noFill/>
        </p:spPr>
        <p:txBody>
          <a:bodyPr wrap="square" lIns="0" rIns="0" tIns="0" bIns="0" anchor="t">
            <a:noAutofit/>
          </a:bodyPr>
          <a:lstStyle/>
          <a:p>
            <a:pPr algn="l"/>
            <a:r>
              <a:rPr sz="2700" b="0" i="0">
                <a:solidFill>
                  <a:srgbClr val="1A1A1A"/>
                </a:solidFill>
                <a:latin typeface="Gotham Medium"/>
              </a:rPr>
              <a:t>Govern</a:t>
            </a:r>
          </a:p>
        </p:txBody>
      </p:sp>
      <p:sp>
        <p:nvSpPr>
          <p:cNvPr id="124" name="TextBox 123"/>
          <p:cNvSpPr txBox="1"/>
          <p:nvPr/>
        </p:nvSpPr>
        <p:spPr>
          <a:xfrm>
            <a:off x="2673021" y="6844984"/>
            <a:ext cx="2422598" cy="2584105"/>
          </a:xfrm>
          <a:prstGeom prst="rect">
            <a:avLst/>
          </a:prstGeom>
          <a:noFill/>
        </p:spPr>
        <p:txBody>
          <a:bodyPr wrap="square" lIns="0" rIns="0" tIns="0" bIns="0" anchor="t">
            <a:noAutofit/>
          </a:bodyPr>
          <a:lstStyle/>
          <a:p>
            <a:pPr algn="l"/>
            <a:r>
              <a:rPr sz="1950" b="0" i="0">
                <a:solidFill>
                  <a:srgbClr val="5E5E5E"/>
                </a:solidFill>
                <a:latin typeface="Gotham Book"/>
              </a:rPr>
              <a:t>Policies, roles, and accountability across the AI lifecycle</a:t>
            </a:r>
          </a:p>
        </p:txBody>
      </p:sp>
      <p:sp>
        <p:nvSpPr>
          <p:cNvPr id="125" name="Rectangle 124"/>
          <p:cNvSpPr/>
          <p:nvPr/>
        </p:nvSpPr>
        <p:spPr>
          <a:xfrm>
            <a:off x="5660892" y="4422385"/>
            <a:ext cx="2987871" cy="5168210"/>
          </a:xfrm>
          <a:prstGeom prst="rect">
            <a:avLst/>
          </a:prstGeom>
          <a:solidFill>
            <a:srgbClr val="F2F2F2"/>
          </a:solidFill>
          <a:ln>
            <a:noFill/>
          </a:ln>
        </p:spPr>
        <p:txBody>
          <a:bodyPr rtlCol="0" anchor="ctr"/>
          <a:lstStyle/>
          <a:p>
            <a:pPr algn="ctr"/>
          </a:p>
        </p:txBody>
      </p:sp>
      <p:sp>
        <p:nvSpPr>
          <p:cNvPr id="126" name="Rounded Rectangle 125"/>
          <p:cNvSpPr/>
          <p:nvPr/>
        </p:nvSpPr>
        <p:spPr>
          <a:xfrm>
            <a:off x="5983905" y="4826152"/>
            <a:ext cx="1001340" cy="1001340"/>
          </a:xfrm>
          <a:prstGeom prst="roundRect">
            <a:avLst>
              <a:gd name="adj" fmla="val 12903"/>
            </a:avLst>
          </a:prstGeom>
          <a:solidFill>
            <a:srgbClr val="1A1A1A"/>
          </a:solidFill>
          <a:ln>
            <a:noFill/>
          </a:ln>
        </p:spPr>
        <p:txBody>
          <a:bodyPr rtlCol="0" anchor="ctr"/>
          <a:lstStyle/>
          <a:p>
            <a:pPr algn="ctr"/>
          </a:p>
        </p:txBody>
      </p:sp>
      <p:pic>
        <p:nvPicPr>
          <p:cNvPr id="127" name="Picture 126" descr="image.png"/>
          <p:cNvPicPr>
            <a:picLocks noChangeAspect="1"/>
          </p:cNvPicPr>
          <p:nvPr/>
        </p:nvPicPr>
        <p:blipFill>
          <a:blip r:embed="rId3"/>
          <a:stretch>
            <a:fillRect/>
          </a:stretch>
        </p:blipFill>
        <p:spPr>
          <a:xfrm>
            <a:off x="6204200" y="5046447"/>
            <a:ext cx="560750" cy="560750"/>
          </a:xfrm>
          <a:prstGeom prst="rect">
            <a:avLst/>
          </a:prstGeom>
        </p:spPr>
      </p:pic>
      <p:sp>
        <p:nvSpPr>
          <p:cNvPr id="128" name="TextBox 127"/>
          <p:cNvSpPr txBox="1"/>
          <p:nvPr/>
        </p:nvSpPr>
        <p:spPr>
          <a:xfrm>
            <a:off x="5983905" y="6037451"/>
            <a:ext cx="2422598" cy="726779"/>
          </a:xfrm>
          <a:prstGeom prst="rect">
            <a:avLst/>
          </a:prstGeom>
          <a:noFill/>
        </p:spPr>
        <p:txBody>
          <a:bodyPr wrap="square" lIns="0" rIns="0" tIns="0" bIns="0" anchor="t">
            <a:noAutofit/>
          </a:bodyPr>
          <a:lstStyle/>
          <a:p>
            <a:pPr algn="l"/>
            <a:r>
              <a:rPr sz="2700" b="0" i="0">
                <a:solidFill>
                  <a:srgbClr val="1A1A1A"/>
                </a:solidFill>
                <a:latin typeface="Gotham Medium"/>
              </a:rPr>
              <a:t>Map</a:t>
            </a:r>
          </a:p>
        </p:txBody>
      </p:sp>
      <p:sp>
        <p:nvSpPr>
          <p:cNvPr id="129" name="TextBox 128"/>
          <p:cNvSpPr txBox="1"/>
          <p:nvPr/>
        </p:nvSpPr>
        <p:spPr>
          <a:xfrm>
            <a:off x="5983905" y="6844984"/>
            <a:ext cx="2422598" cy="2584105"/>
          </a:xfrm>
          <a:prstGeom prst="rect">
            <a:avLst/>
          </a:prstGeom>
          <a:noFill/>
        </p:spPr>
        <p:txBody>
          <a:bodyPr wrap="square" lIns="0" rIns="0" tIns="0" bIns="0" anchor="t">
            <a:noAutofit/>
          </a:bodyPr>
          <a:lstStyle/>
          <a:p>
            <a:pPr algn="l"/>
            <a:r>
              <a:rPr sz="1950" b="0" i="0">
                <a:solidFill>
                  <a:srgbClr val="5E5E5E"/>
                </a:solidFill>
                <a:latin typeface="Gotham Book"/>
              </a:rPr>
              <a:t>Context: where the model is used and what it could affect</a:t>
            </a:r>
          </a:p>
        </p:txBody>
      </p:sp>
      <p:sp>
        <p:nvSpPr>
          <p:cNvPr id="130" name="Rectangle 129"/>
          <p:cNvSpPr/>
          <p:nvPr/>
        </p:nvSpPr>
        <p:spPr>
          <a:xfrm>
            <a:off x="8971777" y="4422385"/>
            <a:ext cx="2987871" cy="5168210"/>
          </a:xfrm>
          <a:prstGeom prst="rect">
            <a:avLst/>
          </a:prstGeom>
          <a:solidFill>
            <a:srgbClr val="F2F2F2"/>
          </a:solidFill>
          <a:ln>
            <a:noFill/>
          </a:ln>
        </p:spPr>
        <p:txBody>
          <a:bodyPr rtlCol="0" anchor="ctr"/>
          <a:lstStyle/>
          <a:p>
            <a:pPr algn="ctr"/>
          </a:p>
        </p:txBody>
      </p:sp>
      <p:sp>
        <p:nvSpPr>
          <p:cNvPr id="131" name="Rounded Rectangle 130"/>
          <p:cNvSpPr/>
          <p:nvPr/>
        </p:nvSpPr>
        <p:spPr>
          <a:xfrm>
            <a:off x="9294790" y="4826152"/>
            <a:ext cx="1001340" cy="1001340"/>
          </a:xfrm>
          <a:prstGeom prst="roundRect">
            <a:avLst>
              <a:gd name="adj" fmla="val 12903"/>
            </a:avLst>
          </a:prstGeom>
          <a:solidFill>
            <a:srgbClr val="1A1A1A"/>
          </a:solidFill>
          <a:ln>
            <a:noFill/>
          </a:ln>
        </p:spPr>
        <p:txBody>
          <a:bodyPr rtlCol="0" anchor="ctr"/>
          <a:lstStyle/>
          <a:p>
            <a:pPr algn="ctr"/>
          </a:p>
        </p:txBody>
      </p:sp>
      <p:pic>
        <p:nvPicPr>
          <p:cNvPr id="132" name="Picture 131" descr="image.png"/>
          <p:cNvPicPr>
            <a:picLocks noChangeAspect="1"/>
          </p:cNvPicPr>
          <p:nvPr/>
        </p:nvPicPr>
        <p:blipFill>
          <a:blip r:embed="rId4"/>
          <a:stretch>
            <a:fillRect/>
          </a:stretch>
        </p:blipFill>
        <p:spPr>
          <a:xfrm>
            <a:off x="9515085" y="5046447"/>
            <a:ext cx="560750" cy="560750"/>
          </a:xfrm>
          <a:prstGeom prst="rect">
            <a:avLst/>
          </a:prstGeom>
        </p:spPr>
      </p:pic>
      <p:sp>
        <p:nvSpPr>
          <p:cNvPr id="133" name="TextBox 132"/>
          <p:cNvSpPr txBox="1"/>
          <p:nvPr/>
        </p:nvSpPr>
        <p:spPr>
          <a:xfrm>
            <a:off x="9294790" y="6037451"/>
            <a:ext cx="2422598" cy="726779"/>
          </a:xfrm>
          <a:prstGeom prst="rect">
            <a:avLst/>
          </a:prstGeom>
          <a:noFill/>
        </p:spPr>
        <p:txBody>
          <a:bodyPr wrap="square" lIns="0" rIns="0" tIns="0" bIns="0" anchor="t">
            <a:noAutofit/>
          </a:bodyPr>
          <a:lstStyle/>
          <a:p>
            <a:pPr algn="l"/>
            <a:r>
              <a:rPr sz="2700" b="0" i="0">
                <a:solidFill>
                  <a:srgbClr val="1A1A1A"/>
                </a:solidFill>
                <a:latin typeface="Gotham Medium"/>
              </a:rPr>
              <a:t>Measure</a:t>
            </a:r>
          </a:p>
        </p:txBody>
      </p:sp>
      <p:sp>
        <p:nvSpPr>
          <p:cNvPr id="134" name="TextBox 133"/>
          <p:cNvSpPr txBox="1"/>
          <p:nvPr/>
        </p:nvSpPr>
        <p:spPr>
          <a:xfrm>
            <a:off x="9294790" y="6844984"/>
            <a:ext cx="2422598" cy="2584105"/>
          </a:xfrm>
          <a:prstGeom prst="rect">
            <a:avLst/>
          </a:prstGeom>
          <a:noFill/>
        </p:spPr>
        <p:txBody>
          <a:bodyPr wrap="square" lIns="0" rIns="0" tIns="0" bIns="0" anchor="t">
            <a:noAutofit/>
          </a:bodyPr>
          <a:lstStyle/>
          <a:p>
            <a:pPr algn="l"/>
            <a:r>
              <a:rPr sz="1950" b="0" i="0">
                <a:solidFill>
                  <a:srgbClr val="5E5E5E"/>
                </a:solidFill>
                <a:latin typeface="Gotham Book"/>
              </a:rPr>
              <a:t>Test, evaluate, and track the risks you mapped</a:t>
            </a:r>
          </a:p>
        </p:txBody>
      </p:sp>
      <p:sp>
        <p:nvSpPr>
          <p:cNvPr id="135" name="Rectangle 134"/>
          <p:cNvSpPr/>
          <p:nvPr/>
        </p:nvSpPr>
        <p:spPr>
          <a:xfrm>
            <a:off x="12282661" y="4422385"/>
            <a:ext cx="2987871" cy="5168210"/>
          </a:xfrm>
          <a:prstGeom prst="rect">
            <a:avLst/>
          </a:prstGeom>
          <a:solidFill>
            <a:srgbClr val="F2F2F2"/>
          </a:solidFill>
          <a:ln>
            <a:noFill/>
          </a:ln>
        </p:spPr>
        <p:txBody>
          <a:bodyPr rtlCol="0" anchor="ctr"/>
          <a:lstStyle/>
          <a:p>
            <a:pPr algn="ctr"/>
          </a:p>
        </p:txBody>
      </p:sp>
      <p:sp>
        <p:nvSpPr>
          <p:cNvPr id="136" name="Rounded Rectangle 135"/>
          <p:cNvSpPr/>
          <p:nvPr/>
        </p:nvSpPr>
        <p:spPr>
          <a:xfrm>
            <a:off x="12605675" y="4826152"/>
            <a:ext cx="1001340" cy="1001340"/>
          </a:xfrm>
          <a:prstGeom prst="roundRect">
            <a:avLst>
              <a:gd name="adj" fmla="val 12903"/>
            </a:avLst>
          </a:prstGeom>
          <a:solidFill>
            <a:srgbClr val="1A1A1A"/>
          </a:solidFill>
          <a:ln>
            <a:noFill/>
          </a:ln>
        </p:spPr>
        <p:txBody>
          <a:bodyPr rtlCol="0" anchor="ctr"/>
          <a:lstStyle/>
          <a:p>
            <a:pPr algn="ctr"/>
          </a:p>
        </p:txBody>
      </p:sp>
      <p:pic>
        <p:nvPicPr>
          <p:cNvPr id="137" name="Picture 136" descr="image.png"/>
          <p:cNvPicPr>
            <a:picLocks noChangeAspect="1"/>
          </p:cNvPicPr>
          <p:nvPr/>
        </p:nvPicPr>
        <p:blipFill>
          <a:blip r:embed="rId5"/>
          <a:stretch>
            <a:fillRect/>
          </a:stretch>
        </p:blipFill>
        <p:spPr>
          <a:xfrm>
            <a:off x="12825970" y="5046447"/>
            <a:ext cx="560750" cy="560750"/>
          </a:xfrm>
          <a:prstGeom prst="rect">
            <a:avLst/>
          </a:prstGeom>
        </p:spPr>
      </p:pic>
      <p:sp>
        <p:nvSpPr>
          <p:cNvPr id="138" name="TextBox 137"/>
          <p:cNvSpPr txBox="1"/>
          <p:nvPr/>
        </p:nvSpPr>
        <p:spPr>
          <a:xfrm>
            <a:off x="12605675" y="6037451"/>
            <a:ext cx="2422598" cy="726779"/>
          </a:xfrm>
          <a:prstGeom prst="rect">
            <a:avLst/>
          </a:prstGeom>
          <a:noFill/>
        </p:spPr>
        <p:txBody>
          <a:bodyPr wrap="square" lIns="0" rIns="0" tIns="0" bIns="0" anchor="t">
            <a:noAutofit/>
          </a:bodyPr>
          <a:lstStyle/>
          <a:p>
            <a:pPr algn="l"/>
            <a:r>
              <a:rPr sz="2700" b="0" i="0">
                <a:solidFill>
                  <a:srgbClr val="1A1A1A"/>
                </a:solidFill>
                <a:latin typeface="Gotham Medium"/>
              </a:rPr>
              <a:t>Manage</a:t>
            </a:r>
          </a:p>
        </p:txBody>
      </p:sp>
      <p:sp>
        <p:nvSpPr>
          <p:cNvPr id="139" name="TextBox 138"/>
          <p:cNvSpPr txBox="1"/>
          <p:nvPr/>
        </p:nvSpPr>
        <p:spPr>
          <a:xfrm>
            <a:off x="12605675" y="6844984"/>
            <a:ext cx="2422598" cy="2584105"/>
          </a:xfrm>
          <a:prstGeom prst="rect">
            <a:avLst/>
          </a:prstGeom>
          <a:noFill/>
        </p:spPr>
        <p:txBody>
          <a:bodyPr wrap="square" lIns="0" rIns="0" tIns="0" bIns="0" anchor="t">
            <a:noAutofit/>
          </a:bodyPr>
          <a:lstStyle/>
          <a:p>
            <a:pPr algn="l"/>
            <a:r>
              <a:rPr sz="1950" b="0" i="0">
                <a:solidFill>
                  <a:srgbClr val="5E5E5E"/>
                </a:solidFill>
                <a:latin typeface="Gotham Book"/>
              </a:rPr>
              <a:t>Prioritize and act on those risks, and keep monitoring</a:t>
            </a:r>
          </a:p>
        </p:txBody>
      </p:sp>
      <p:sp>
        <p:nvSpPr>
          <p:cNvPr id="140" name="Rectangle 139"/>
          <p:cNvSpPr/>
          <p:nvPr/>
        </p:nvSpPr>
        <p:spPr>
          <a:xfrm>
            <a:off x="15916559" y="3372593"/>
            <a:ext cx="6029040" cy="6218002"/>
          </a:xfrm>
          <a:prstGeom prst="rect">
            <a:avLst/>
          </a:prstGeom>
          <a:solidFill>
            <a:srgbClr val="1A1A1A"/>
          </a:solidFill>
          <a:ln>
            <a:noFill/>
          </a:ln>
        </p:spPr>
        <p:txBody>
          <a:bodyPr rtlCol="0" anchor="ctr"/>
          <a:lstStyle/>
          <a:p>
            <a:pPr algn="ctr"/>
          </a:p>
        </p:txBody>
      </p:sp>
      <p:sp>
        <p:nvSpPr>
          <p:cNvPr id="141" name="Rounded Rectangle 140"/>
          <p:cNvSpPr/>
          <p:nvPr/>
        </p:nvSpPr>
        <p:spPr>
          <a:xfrm>
            <a:off x="16401079" y="3776359"/>
            <a:ext cx="1001340" cy="1001340"/>
          </a:xfrm>
          <a:prstGeom prst="roundRect">
            <a:avLst>
              <a:gd name="adj" fmla="val 12903"/>
            </a:avLst>
          </a:prstGeom>
          <a:solidFill>
            <a:srgbClr val="E97B05"/>
          </a:solidFill>
          <a:ln>
            <a:noFill/>
          </a:ln>
        </p:spPr>
        <p:txBody>
          <a:bodyPr rtlCol="0" anchor="ctr"/>
          <a:lstStyle/>
          <a:p>
            <a:pPr algn="ctr"/>
          </a:p>
        </p:txBody>
      </p:sp>
      <p:pic>
        <p:nvPicPr>
          <p:cNvPr id="142" name="Picture 141" descr="image.png"/>
          <p:cNvPicPr>
            <a:picLocks noChangeAspect="1"/>
          </p:cNvPicPr>
          <p:nvPr/>
        </p:nvPicPr>
        <p:blipFill>
          <a:blip r:embed="rId6"/>
          <a:stretch>
            <a:fillRect/>
          </a:stretch>
        </p:blipFill>
        <p:spPr>
          <a:xfrm>
            <a:off x="16621374" y="3996654"/>
            <a:ext cx="560750" cy="560750"/>
          </a:xfrm>
          <a:prstGeom prst="rect">
            <a:avLst/>
          </a:prstGeom>
        </p:spPr>
      </p:pic>
      <p:sp>
        <p:nvSpPr>
          <p:cNvPr id="143" name="TextBox 142"/>
          <p:cNvSpPr txBox="1"/>
          <p:nvPr/>
        </p:nvSpPr>
        <p:spPr>
          <a:xfrm>
            <a:off x="16401079" y="5068412"/>
            <a:ext cx="5060000" cy="726779"/>
          </a:xfrm>
          <a:prstGeom prst="rect">
            <a:avLst/>
          </a:prstGeom>
          <a:noFill/>
        </p:spPr>
        <p:txBody>
          <a:bodyPr wrap="square" lIns="0" rIns="0" tIns="0" bIns="0" anchor="t">
            <a:noAutofit/>
          </a:bodyPr>
          <a:lstStyle/>
          <a:p>
            <a:pPr algn="l"/>
            <a:r>
              <a:rPr sz="3000" b="0" i="0">
                <a:solidFill>
                  <a:srgbClr val="FFFFFF"/>
                </a:solidFill>
                <a:latin typeface="Gotham Medium"/>
              </a:rPr>
              <a:t>ISO/IEC 42001</a:t>
            </a:r>
          </a:p>
        </p:txBody>
      </p:sp>
      <p:sp>
        <p:nvSpPr>
          <p:cNvPr id="144" name="TextBox 143"/>
          <p:cNvSpPr txBox="1"/>
          <p:nvPr/>
        </p:nvSpPr>
        <p:spPr>
          <a:xfrm>
            <a:off x="16401079" y="5875945"/>
            <a:ext cx="5060000" cy="3391637"/>
          </a:xfrm>
          <a:prstGeom prst="rect">
            <a:avLst/>
          </a:prstGeom>
          <a:noFill/>
        </p:spPr>
        <p:txBody>
          <a:bodyPr wrap="square" lIns="0" rIns="0" tIns="0" bIns="0" anchor="t">
            <a:noAutofit/>
          </a:bodyPr>
          <a:lstStyle/>
          <a:p>
            <a:pPr algn="l"/>
            <a:r>
              <a:rPr sz="2100" b="0" i="0">
                <a:solidFill>
                  <a:srgbClr val="D5D5D5"/>
                </a:solidFill>
                <a:latin typeface="Gotham Book"/>
              </a:rPr>
              <a:t>A certifiable AI management system standard. Useful when customers or regulators ask for proof, not just a policy.</a:t>
            </a:r>
          </a:p>
        </p:txBody>
      </p:sp>
      <p:sp>
        <p:nvSpPr>
          <p:cNvPr id="145" name="TextBox 144"/>
          <p:cNvSpPr txBox="1"/>
          <p:nvPr/>
        </p:nvSpPr>
        <p:spPr>
          <a:xfrm>
            <a:off x="2350008" y="10075115"/>
            <a:ext cx="19595592" cy="1130545"/>
          </a:xfrm>
          <a:prstGeom prst="rect">
            <a:avLst/>
          </a:prstGeom>
          <a:noFill/>
        </p:spPr>
        <p:txBody>
          <a:bodyPr wrap="square" lIns="0" rIns="0" tIns="0" bIns="0" anchor="t">
            <a:noAutofit/>
          </a:bodyPr>
          <a:lstStyle/>
          <a:p>
            <a:pPr algn="l"/>
            <a:r>
              <a:rPr sz="2400" b="0" i="1">
                <a:solidFill>
                  <a:srgbClr val="B35900"/>
                </a:solidFill>
                <a:latin typeface="Gotham Book"/>
              </a:rPr>
              <a:t>Common pattern: design the practice with NIST, certify it with ISO. Pick one and apply it to a real use case first.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Governed data turns a scramble into a same-day decision</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EXAMPLE  |  ILLUSTRATIVE, REPLACE WITH YOUR CASE</a:t>
            </a:r>
          </a:p>
        </p:txBody>
      </p:sp>
      <p:sp>
        <p:nvSpPr>
          <p:cNvPr id="119" name="Rectangle 118"/>
          <p:cNvSpPr/>
          <p:nvPr/>
        </p:nvSpPr>
        <p:spPr>
          <a:xfrm>
            <a:off x="2350008" y="3776359"/>
            <a:ext cx="4602937" cy="5329716"/>
          </a:xfrm>
          <a:prstGeom prst="rect">
            <a:avLst/>
          </a:prstGeom>
          <a:solidFill>
            <a:srgbClr val="F2F2F2"/>
          </a:solidFill>
          <a:ln>
            <a:noFill/>
          </a:ln>
        </p:spPr>
        <p:txBody>
          <a:bodyPr rtlCol="0" anchor="ctr"/>
          <a:lstStyle/>
          <a:p>
            <a:pPr algn="ctr"/>
          </a:p>
        </p:txBody>
      </p:sp>
      <p:sp>
        <p:nvSpPr>
          <p:cNvPr id="120" name="Rounded Rectangle 119"/>
          <p:cNvSpPr/>
          <p:nvPr/>
        </p:nvSpPr>
        <p:spPr>
          <a:xfrm>
            <a:off x="2834527" y="4260879"/>
            <a:ext cx="1130545" cy="1130545"/>
          </a:xfrm>
          <a:prstGeom prst="roundRect">
            <a:avLst>
              <a:gd name="adj" fmla="val 11428"/>
            </a:avLst>
          </a:prstGeom>
          <a:solidFill>
            <a:srgbClr val="1A1A1A"/>
          </a:solidFill>
          <a:ln>
            <a:noFill/>
          </a:ln>
        </p:spPr>
        <p:txBody>
          <a:bodyPr rtlCol="0" anchor="ctr"/>
          <a:lstStyle/>
          <a:p>
            <a:pPr algn="ctr"/>
          </a:p>
        </p:txBody>
      </p:sp>
      <p:pic>
        <p:nvPicPr>
          <p:cNvPr id="121" name="Picture 120" descr="image.png"/>
          <p:cNvPicPr>
            <a:picLocks noChangeAspect="1"/>
          </p:cNvPicPr>
          <p:nvPr/>
        </p:nvPicPr>
        <p:blipFill>
          <a:blip r:embed="rId2"/>
          <a:stretch>
            <a:fillRect/>
          </a:stretch>
        </p:blipFill>
        <p:spPr>
          <a:xfrm>
            <a:off x="3083247" y="4509599"/>
            <a:ext cx="633105" cy="633105"/>
          </a:xfrm>
          <a:prstGeom prst="rect">
            <a:avLst/>
          </a:prstGeom>
        </p:spPr>
      </p:pic>
      <p:sp>
        <p:nvSpPr>
          <p:cNvPr id="122" name="TextBox 121"/>
          <p:cNvSpPr txBox="1"/>
          <p:nvPr/>
        </p:nvSpPr>
        <p:spPr>
          <a:xfrm>
            <a:off x="4207333" y="4260879"/>
            <a:ext cx="2422598" cy="484519"/>
          </a:xfrm>
          <a:prstGeom prst="rect">
            <a:avLst/>
          </a:prstGeom>
          <a:noFill/>
        </p:spPr>
        <p:txBody>
          <a:bodyPr wrap="square" lIns="0" rIns="0" tIns="0" bIns="0" anchor="t">
            <a:noAutofit/>
          </a:bodyPr>
          <a:lstStyle/>
          <a:p>
            <a:pPr algn="l"/>
            <a:r>
              <a:rPr sz="1800" b="0" i="0">
                <a:solidFill>
                  <a:srgbClr val="8C8C8C"/>
                </a:solidFill>
                <a:latin typeface="Gotham Medium"/>
              </a:rPr>
              <a:t>Step 1</a:t>
            </a:r>
          </a:p>
        </p:txBody>
      </p:sp>
      <p:sp>
        <p:nvSpPr>
          <p:cNvPr id="123" name="TextBox 122"/>
          <p:cNvSpPr txBox="1"/>
          <p:nvPr/>
        </p:nvSpPr>
        <p:spPr>
          <a:xfrm>
            <a:off x="4207333" y="4713097"/>
            <a:ext cx="2584105" cy="726779"/>
          </a:xfrm>
          <a:prstGeom prst="rect">
            <a:avLst/>
          </a:prstGeom>
          <a:noFill/>
        </p:spPr>
        <p:txBody>
          <a:bodyPr wrap="square" lIns="0" rIns="0" tIns="0" bIns="0" anchor="t">
            <a:noAutofit/>
          </a:bodyPr>
          <a:lstStyle/>
          <a:p>
            <a:pPr algn="l"/>
            <a:r>
              <a:rPr sz="3000" b="0" i="0">
                <a:solidFill>
                  <a:srgbClr val="1A1A1A"/>
                </a:solidFill>
                <a:latin typeface="Gotham Medium"/>
              </a:rPr>
              <a:t>Detect</a:t>
            </a:r>
          </a:p>
        </p:txBody>
      </p:sp>
      <p:sp>
        <p:nvSpPr>
          <p:cNvPr id="124" name="TextBox 123"/>
          <p:cNvSpPr txBox="1"/>
          <p:nvPr/>
        </p:nvSpPr>
        <p:spPr>
          <a:xfrm>
            <a:off x="2834527" y="5875945"/>
            <a:ext cx="3633897" cy="3956910"/>
          </a:xfrm>
          <a:prstGeom prst="rect">
            <a:avLst/>
          </a:prstGeom>
          <a:noFill/>
        </p:spPr>
        <p:txBody>
          <a:bodyPr wrap="square" lIns="0" rIns="0" tIns="0" bIns="0" anchor="t">
            <a:noAutofit/>
          </a:bodyPr>
          <a:lstStyle/>
          <a:p>
            <a:pPr algn="l"/>
            <a:r>
              <a:rPr sz="2100" b="0" i="0">
                <a:solidFill>
                  <a:srgbClr val="5E5E5E"/>
                </a:solidFill>
                <a:latin typeface="Gotham Book"/>
              </a:rPr>
              <a:t>An external signal flags an outage at a specialty gas supplier. The model scores it high because the site is a sole source.</a:t>
            </a:r>
          </a:p>
        </p:txBody>
      </p:sp>
      <p:sp>
        <p:nvSpPr>
          <p:cNvPr id="125" name="Rectangle 124"/>
          <p:cNvSpPr/>
          <p:nvPr/>
        </p:nvSpPr>
        <p:spPr>
          <a:xfrm>
            <a:off x="7275958" y="3776359"/>
            <a:ext cx="4602937" cy="5329716"/>
          </a:xfrm>
          <a:prstGeom prst="rect">
            <a:avLst/>
          </a:prstGeom>
          <a:solidFill>
            <a:srgbClr val="F2F2F2"/>
          </a:solidFill>
          <a:ln>
            <a:noFill/>
          </a:ln>
        </p:spPr>
        <p:txBody>
          <a:bodyPr rtlCol="0" anchor="ctr"/>
          <a:lstStyle/>
          <a:p>
            <a:pPr algn="ctr"/>
          </a:p>
        </p:txBody>
      </p:sp>
      <p:sp>
        <p:nvSpPr>
          <p:cNvPr id="126" name="Rounded Rectangle 125"/>
          <p:cNvSpPr/>
          <p:nvPr/>
        </p:nvSpPr>
        <p:spPr>
          <a:xfrm>
            <a:off x="7760478" y="4260879"/>
            <a:ext cx="1130545" cy="1130545"/>
          </a:xfrm>
          <a:prstGeom prst="roundRect">
            <a:avLst>
              <a:gd name="adj" fmla="val 11428"/>
            </a:avLst>
          </a:prstGeom>
          <a:solidFill>
            <a:srgbClr val="1A1A1A"/>
          </a:solidFill>
          <a:ln>
            <a:noFill/>
          </a:ln>
        </p:spPr>
        <p:txBody>
          <a:bodyPr rtlCol="0" anchor="ctr"/>
          <a:lstStyle/>
          <a:p>
            <a:pPr algn="ctr"/>
          </a:p>
        </p:txBody>
      </p:sp>
      <p:pic>
        <p:nvPicPr>
          <p:cNvPr id="127" name="Picture 126" descr="image.png"/>
          <p:cNvPicPr>
            <a:picLocks noChangeAspect="1"/>
          </p:cNvPicPr>
          <p:nvPr/>
        </p:nvPicPr>
        <p:blipFill>
          <a:blip r:embed="rId3"/>
          <a:stretch>
            <a:fillRect/>
          </a:stretch>
        </p:blipFill>
        <p:spPr>
          <a:xfrm>
            <a:off x="8009198" y="4509599"/>
            <a:ext cx="633105" cy="633105"/>
          </a:xfrm>
          <a:prstGeom prst="rect">
            <a:avLst/>
          </a:prstGeom>
        </p:spPr>
      </p:pic>
      <p:sp>
        <p:nvSpPr>
          <p:cNvPr id="128" name="TextBox 127"/>
          <p:cNvSpPr txBox="1"/>
          <p:nvPr/>
        </p:nvSpPr>
        <p:spPr>
          <a:xfrm>
            <a:off x="9133283" y="4260879"/>
            <a:ext cx="2422598" cy="484519"/>
          </a:xfrm>
          <a:prstGeom prst="rect">
            <a:avLst/>
          </a:prstGeom>
          <a:noFill/>
        </p:spPr>
        <p:txBody>
          <a:bodyPr wrap="square" lIns="0" rIns="0" tIns="0" bIns="0" anchor="t">
            <a:noAutofit/>
          </a:bodyPr>
          <a:lstStyle/>
          <a:p>
            <a:pPr algn="l"/>
            <a:r>
              <a:rPr sz="1800" b="0" i="0">
                <a:solidFill>
                  <a:srgbClr val="8C8C8C"/>
                </a:solidFill>
                <a:latin typeface="Gotham Medium"/>
              </a:rPr>
              <a:t>Step 2</a:t>
            </a:r>
          </a:p>
        </p:txBody>
      </p:sp>
      <p:sp>
        <p:nvSpPr>
          <p:cNvPr id="129" name="TextBox 128"/>
          <p:cNvSpPr txBox="1"/>
          <p:nvPr/>
        </p:nvSpPr>
        <p:spPr>
          <a:xfrm>
            <a:off x="9133283" y="4713097"/>
            <a:ext cx="2584105" cy="726779"/>
          </a:xfrm>
          <a:prstGeom prst="rect">
            <a:avLst/>
          </a:prstGeom>
          <a:noFill/>
        </p:spPr>
        <p:txBody>
          <a:bodyPr wrap="square" lIns="0" rIns="0" tIns="0" bIns="0" anchor="t">
            <a:noAutofit/>
          </a:bodyPr>
          <a:lstStyle/>
          <a:p>
            <a:pPr algn="l"/>
            <a:r>
              <a:rPr sz="3000" b="0" i="0">
                <a:solidFill>
                  <a:srgbClr val="1A1A1A"/>
                </a:solidFill>
                <a:latin typeface="Gotham Medium"/>
              </a:rPr>
              <a:t>Assess</a:t>
            </a:r>
          </a:p>
        </p:txBody>
      </p:sp>
      <p:sp>
        <p:nvSpPr>
          <p:cNvPr id="130" name="TextBox 129"/>
          <p:cNvSpPr txBox="1"/>
          <p:nvPr/>
        </p:nvSpPr>
        <p:spPr>
          <a:xfrm>
            <a:off x="7760478" y="5875945"/>
            <a:ext cx="3633897" cy="3956910"/>
          </a:xfrm>
          <a:prstGeom prst="rect">
            <a:avLst/>
          </a:prstGeom>
          <a:noFill/>
        </p:spPr>
        <p:txBody>
          <a:bodyPr wrap="square" lIns="0" rIns="0" tIns="0" bIns="0" anchor="t">
            <a:noAutofit/>
          </a:bodyPr>
          <a:lstStyle/>
          <a:p>
            <a:pPr algn="l"/>
            <a:r>
              <a:rPr sz="2100" b="0" i="0">
                <a:solidFill>
                  <a:srgbClr val="5E5E5E"/>
                </a:solidFill>
                <a:latin typeface="Gotham Book"/>
              </a:rPr>
              <a:t>The governed sub-tier map shows which parts, products, and customers depend on that site, with confidence on each link.</a:t>
            </a:r>
          </a:p>
        </p:txBody>
      </p:sp>
      <p:sp>
        <p:nvSpPr>
          <p:cNvPr id="131" name="Rectangle 130"/>
          <p:cNvSpPr/>
          <p:nvPr/>
        </p:nvSpPr>
        <p:spPr>
          <a:xfrm>
            <a:off x="12201908" y="3776359"/>
            <a:ext cx="4602937" cy="5329716"/>
          </a:xfrm>
          <a:prstGeom prst="rect">
            <a:avLst/>
          </a:prstGeom>
          <a:solidFill>
            <a:srgbClr val="F2F2F2"/>
          </a:solidFill>
          <a:ln>
            <a:noFill/>
          </a:ln>
        </p:spPr>
        <p:txBody>
          <a:bodyPr rtlCol="0" anchor="ctr"/>
          <a:lstStyle/>
          <a:p>
            <a:pPr algn="ctr"/>
          </a:p>
        </p:txBody>
      </p:sp>
      <p:sp>
        <p:nvSpPr>
          <p:cNvPr id="132" name="Rounded Rectangle 131"/>
          <p:cNvSpPr/>
          <p:nvPr/>
        </p:nvSpPr>
        <p:spPr>
          <a:xfrm>
            <a:off x="12686428" y="4260879"/>
            <a:ext cx="1130545" cy="1130545"/>
          </a:xfrm>
          <a:prstGeom prst="roundRect">
            <a:avLst>
              <a:gd name="adj" fmla="val 11428"/>
            </a:avLst>
          </a:prstGeom>
          <a:solidFill>
            <a:srgbClr val="E97B05"/>
          </a:solidFill>
          <a:ln>
            <a:noFill/>
          </a:ln>
        </p:spPr>
        <p:txBody>
          <a:bodyPr rtlCol="0" anchor="ctr"/>
          <a:lstStyle/>
          <a:p>
            <a:pPr algn="ctr"/>
          </a:p>
        </p:txBody>
      </p:sp>
      <p:pic>
        <p:nvPicPr>
          <p:cNvPr id="133" name="Picture 132" descr="image.png"/>
          <p:cNvPicPr>
            <a:picLocks noChangeAspect="1"/>
          </p:cNvPicPr>
          <p:nvPr/>
        </p:nvPicPr>
        <p:blipFill>
          <a:blip r:embed="rId4"/>
          <a:stretch>
            <a:fillRect/>
          </a:stretch>
        </p:blipFill>
        <p:spPr>
          <a:xfrm>
            <a:off x="12935148" y="4509599"/>
            <a:ext cx="633105" cy="633105"/>
          </a:xfrm>
          <a:prstGeom prst="rect">
            <a:avLst/>
          </a:prstGeom>
        </p:spPr>
      </p:pic>
      <p:sp>
        <p:nvSpPr>
          <p:cNvPr id="134" name="TextBox 133"/>
          <p:cNvSpPr txBox="1"/>
          <p:nvPr/>
        </p:nvSpPr>
        <p:spPr>
          <a:xfrm>
            <a:off x="14059234" y="4260879"/>
            <a:ext cx="2422598" cy="484519"/>
          </a:xfrm>
          <a:prstGeom prst="rect">
            <a:avLst/>
          </a:prstGeom>
          <a:noFill/>
        </p:spPr>
        <p:txBody>
          <a:bodyPr wrap="square" lIns="0" rIns="0" tIns="0" bIns="0" anchor="t">
            <a:noAutofit/>
          </a:bodyPr>
          <a:lstStyle/>
          <a:p>
            <a:pPr algn="l"/>
            <a:r>
              <a:rPr sz="1800" b="0" i="0">
                <a:solidFill>
                  <a:srgbClr val="8C8C8C"/>
                </a:solidFill>
                <a:latin typeface="Gotham Medium"/>
              </a:rPr>
              <a:t>Step 3</a:t>
            </a:r>
          </a:p>
        </p:txBody>
      </p:sp>
      <p:sp>
        <p:nvSpPr>
          <p:cNvPr id="135" name="TextBox 134"/>
          <p:cNvSpPr txBox="1"/>
          <p:nvPr/>
        </p:nvSpPr>
        <p:spPr>
          <a:xfrm>
            <a:off x="14059234" y="4713097"/>
            <a:ext cx="2584105" cy="726779"/>
          </a:xfrm>
          <a:prstGeom prst="rect">
            <a:avLst/>
          </a:prstGeom>
          <a:noFill/>
        </p:spPr>
        <p:txBody>
          <a:bodyPr wrap="square" lIns="0" rIns="0" tIns="0" bIns="0" anchor="t">
            <a:noAutofit/>
          </a:bodyPr>
          <a:lstStyle/>
          <a:p>
            <a:pPr algn="l"/>
            <a:r>
              <a:rPr sz="3000" b="0" i="0">
                <a:solidFill>
                  <a:srgbClr val="1A1A1A"/>
                </a:solidFill>
                <a:latin typeface="Gotham Medium"/>
              </a:rPr>
              <a:t>Decide</a:t>
            </a:r>
          </a:p>
        </p:txBody>
      </p:sp>
      <p:sp>
        <p:nvSpPr>
          <p:cNvPr id="136" name="TextBox 135"/>
          <p:cNvSpPr txBox="1"/>
          <p:nvPr/>
        </p:nvSpPr>
        <p:spPr>
          <a:xfrm>
            <a:off x="12686428" y="5875945"/>
            <a:ext cx="3633897" cy="3956910"/>
          </a:xfrm>
          <a:prstGeom prst="rect">
            <a:avLst/>
          </a:prstGeom>
          <a:noFill/>
        </p:spPr>
        <p:txBody>
          <a:bodyPr wrap="square" lIns="0" rIns="0" tIns="0" bIns="0" anchor="t">
            <a:noAutofit/>
          </a:bodyPr>
          <a:lstStyle/>
          <a:p>
            <a:pPr algn="l"/>
            <a:r>
              <a:rPr sz="2100" b="0" i="0">
                <a:solidFill>
                  <a:srgbClr val="5E5E5E"/>
                </a:solidFill>
                <a:latin typeface="Gotham Book"/>
              </a:rPr>
              <a:t>The part owner reviews the evidence, confirms exposure with tier 1, and approves an allocation plan.</a:t>
            </a:r>
          </a:p>
        </p:txBody>
      </p:sp>
      <p:sp>
        <p:nvSpPr>
          <p:cNvPr id="137" name="Rectangle 136"/>
          <p:cNvSpPr/>
          <p:nvPr/>
        </p:nvSpPr>
        <p:spPr>
          <a:xfrm>
            <a:off x="17127859" y="3776359"/>
            <a:ext cx="4602937" cy="5329716"/>
          </a:xfrm>
          <a:prstGeom prst="rect">
            <a:avLst/>
          </a:prstGeom>
          <a:solidFill>
            <a:srgbClr val="F2F2F2"/>
          </a:solidFill>
          <a:ln>
            <a:noFill/>
          </a:ln>
        </p:spPr>
        <p:txBody>
          <a:bodyPr rtlCol="0" anchor="ctr"/>
          <a:lstStyle/>
          <a:p>
            <a:pPr algn="ctr"/>
          </a:p>
        </p:txBody>
      </p:sp>
      <p:sp>
        <p:nvSpPr>
          <p:cNvPr id="138" name="Rounded Rectangle 137"/>
          <p:cNvSpPr/>
          <p:nvPr/>
        </p:nvSpPr>
        <p:spPr>
          <a:xfrm>
            <a:off x="17612378" y="4260879"/>
            <a:ext cx="1130545" cy="1130545"/>
          </a:xfrm>
          <a:prstGeom prst="roundRect">
            <a:avLst>
              <a:gd name="adj" fmla="val 11428"/>
            </a:avLst>
          </a:prstGeom>
          <a:solidFill>
            <a:srgbClr val="1A1A1A"/>
          </a:solidFill>
          <a:ln>
            <a:noFill/>
          </a:ln>
        </p:spPr>
        <p:txBody>
          <a:bodyPr rtlCol="0" anchor="ctr"/>
          <a:lstStyle/>
          <a:p>
            <a:pPr algn="ctr"/>
          </a:p>
        </p:txBody>
      </p:sp>
      <p:pic>
        <p:nvPicPr>
          <p:cNvPr id="139" name="Picture 138" descr="image.png"/>
          <p:cNvPicPr>
            <a:picLocks noChangeAspect="1"/>
          </p:cNvPicPr>
          <p:nvPr/>
        </p:nvPicPr>
        <p:blipFill>
          <a:blip r:embed="rId5"/>
          <a:stretch>
            <a:fillRect/>
          </a:stretch>
        </p:blipFill>
        <p:spPr>
          <a:xfrm>
            <a:off x="17861098" y="4509599"/>
            <a:ext cx="633105" cy="633105"/>
          </a:xfrm>
          <a:prstGeom prst="rect">
            <a:avLst/>
          </a:prstGeom>
        </p:spPr>
      </p:pic>
      <p:sp>
        <p:nvSpPr>
          <p:cNvPr id="140" name="TextBox 139"/>
          <p:cNvSpPr txBox="1"/>
          <p:nvPr/>
        </p:nvSpPr>
        <p:spPr>
          <a:xfrm>
            <a:off x="18985184" y="4260879"/>
            <a:ext cx="2422598" cy="484519"/>
          </a:xfrm>
          <a:prstGeom prst="rect">
            <a:avLst/>
          </a:prstGeom>
          <a:noFill/>
        </p:spPr>
        <p:txBody>
          <a:bodyPr wrap="square" lIns="0" rIns="0" tIns="0" bIns="0" anchor="t">
            <a:noAutofit/>
          </a:bodyPr>
          <a:lstStyle/>
          <a:p>
            <a:pPr algn="l"/>
            <a:r>
              <a:rPr sz="1800" b="0" i="0">
                <a:solidFill>
                  <a:srgbClr val="8C8C8C"/>
                </a:solidFill>
                <a:latin typeface="Gotham Medium"/>
              </a:rPr>
              <a:t>Step 4</a:t>
            </a:r>
          </a:p>
        </p:txBody>
      </p:sp>
      <p:sp>
        <p:nvSpPr>
          <p:cNvPr id="141" name="TextBox 140"/>
          <p:cNvSpPr txBox="1"/>
          <p:nvPr/>
        </p:nvSpPr>
        <p:spPr>
          <a:xfrm>
            <a:off x="18985184" y="4713097"/>
            <a:ext cx="2584105" cy="726779"/>
          </a:xfrm>
          <a:prstGeom prst="rect">
            <a:avLst/>
          </a:prstGeom>
          <a:noFill/>
        </p:spPr>
        <p:txBody>
          <a:bodyPr wrap="square" lIns="0" rIns="0" tIns="0" bIns="0" anchor="t">
            <a:noAutofit/>
          </a:bodyPr>
          <a:lstStyle/>
          <a:p>
            <a:pPr algn="l"/>
            <a:r>
              <a:rPr sz="3000" b="0" i="0">
                <a:solidFill>
                  <a:srgbClr val="1A1A1A"/>
                </a:solidFill>
                <a:latin typeface="Gotham Medium"/>
              </a:rPr>
              <a:t>Act</a:t>
            </a:r>
          </a:p>
        </p:txBody>
      </p:sp>
      <p:sp>
        <p:nvSpPr>
          <p:cNvPr id="142" name="TextBox 141"/>
          <p:cNvSpPr txBox="1"/>
          <p:nvPr/>
        </p:nvSpPr>
        <p:spPr>
          <a:xfrm>
            <a:off x="17612378" y="5875945"/>
            <a:ext cx="3633897" cy="3956910"/>
          </a:xfrm>
          <a:prstGeom prst="rect">
            <a:avLst/>
          </a:prstGeom>
          <a:noFill/>
        </p:spPr>
        <p:txBody>
          <a:bodyPr wrap="square" lIns="0" rIns="0" tIns="0" bIns="0" anchor="t">
            <a:noAutofit/>
          </a:bodyPr>
          <a:lstStyle/>
          <a:p>
            <a:pPr algn="l"/>
            <a:r>
              <a:rPr sz="2100" b="0" i="0">
                <a:solidFill>
                  <a:srgbClr val="5E5E5E"/>
                </a:solidFill>
                <a:latin typeface="Gotham Book"/>
              </a:rPr>
              <a:t>Buyers start alternate-source qualification and account teams warn affected customers early.</a:t>
            </a:r>
          </a:p>
        </p:txBody>
      </p:sp>
      <p:sp>
        <p:nvSpPr>
          <p:cNvPr id="143" name="TextBox 142"/>
          <p:cNvSpPr txBox="1"/>
          <p:nvPr/>
        </p:nvSpPr>
        <p:spPr>
          <a:xfrm>
            <a:off x="2350008" y="9671349"/>
            <a:ext cx="19595592" cy="726779"/>
          </a:xfrm>
          <a:prstGeom prst="rect">
            <a:avLst/>
          </a:prstGeom>
          <a:noFill/>
        </p:spPr>
        <p:txBody>
          <a:bodyPr wrap="square" lIns="0" rIns="0" tIns="0" bIns="0" anchor="t">
            <a:noAutofit/>
          </a:bodyPr>
          <a:lstStyle/>
          <a:p>
            <a:pPr algn="l"/>
            <a:r>
              <a:rPr sz="2400" b="0" i="1">
                <a:solidFill>
                  <a:srgbClr val="B35900"/>
                </a:solidFill>
                <a:latin typeface="Gotham Book"/>
              </a:rPr>
              <a:t>The human decision stays in the loop. Governance makes it faster, not optional.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Three things you can start next quarter</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TAKEAWAYS</a:t>
            </a:r>
          </a:p>
        </p:txBody>
      </p:sp>
      <p:sp>
        <p:nvSpPr>
          <p:cNvPr id="119" name="TextBox 118"/>
          <p:cNvSpPr txBox="1"/>
          <p:nvPr/>
        </p:nvSpPr>
        <p:spPr>
          <a:xfrm>
            <a:off x="2350008" y="3614853"/>
            <a:ext cx="1292052" cy="2099585"/>
          </a:xfrm>
          <a:prstGeom prst="rect">
            <a:avLst/>
          </a:prstGeom>
          <a:noFill/>
        </p:spPr>
        <p:txBody>
          <a:bodyPr wrap="square" lIns="0" rIns="0" tIns="0" bIns="0" anchor="ctr">
            <a:noAutofit/>
          </a:bodyPr>
          <a:lstStyle/>
          <a:p>
            <a:pPr algn="l"/>
            <a:r>
              <a:rPr sz="8100" b="0" i="0">
                <a:solidFill>
                  <a:srgbClr val="E97B05"/>
                </a:solidFill>
                <a:latin typeface="Gotham Black"/>
              </a:rPr>
              <a:t>1</a:t>
            </a:r>
          </a:p>
        </p:txBody>
      </p:sp>
      <p:sp>
        <p:nvSpPr>
          <p:cNvPr id="120" name="Rectangle 119"/>
          <p:cNvSpPr/>
          <p:nvPr/>
        </p:nvSpPr>
        <p:spPr>
          <a:xfrm>
            <a:off x="3884320" y="3614853"/>
            <a:ext cx="18007982" cy="2099585"/>
          </a:xfrm>
          <a:prstGeom prst="rect">
            <a:avLst/>
          </a:prstGeom>
          <a:solidFill>
            <a:srgbClr val="F2F2F2"/>
          </a:solidFill>
          <a:ln>
            <a:noFill/>
          </a:ln>
        </p:spPr>
        <p:txBody>
          <a:bodyPr rtlCol="0" anchor="ctr"/>
          <a:lstStyle/>
          <a:p>
            <a:pPr algn="ctr"/>
          </a:p>
        </p:txBody>
      </p:sp>
      <p:sp>
        <p:nvSpPr>
          <p:cNvPr id="121" name="Rounded Rectangle 120"/>
          <p:cNvSpPr/>
          <p:nvPr/>
        </p:nvSpPr>
        <p:spPr>
          <a:xfrm>
            <a:off x="4288086" y="4147824"/>
            <a:ext cx="1033642" cy="1033642"/>
          </a:xfrm>
          <a:prstGeom prst="roundRect">
            <a:avLst>
              <a:gd name="adj" fmla="val 12500"/>
            </a:avLst>
          </a:prstGeom>
          <a:solidFill>
            <a:srgbClr val="1A1A1A"/>
          </a:solidFill>
          <a:ln>
            <a:noFill/>
          </a:ln>
        </p:spPr>
        <p:txBody>
          <a:bodyPr rtlCol="0" anchor="ctr"/>
          <a:lstStyle/>
          <a:p>
            <a:pPr algn="ctr"/>
          </a:p>
        </p:txBody>
      </p:sp>
      <p:pic>
        <p:nvPicPr>
          <p:cNvPr id="122" name="Picture 121" descr="image.png"/>
          <p:cNvPicPr>
            <a:picLocks noChangeAspect="1"/>
          </p:cNvPicPr>
          <p:nvPr/>
        </p:nvPicPr>
        <p:blipFill>
          <a:blip r:embed="rId2"/>
          <a:stretch>
            <a:fillRect/>
          </a:stretch>
        </p:blipFill>
        <p:spPr>
          <a:xfrm>
            <a:off x="4515488" y="4375226"/>
            <a:ext cx="578839" cy="578839"/>
          </a:xfrm>
          <a:prstGeom prst="rect">
            <a:avLst/>
          </a:prstGeom>
        </p:spPr>
      </p:pic>
      <p:sp>
        <p:nvSpPr>
          <p:cNvPr id="123" name="TextBox 122"/>
          <p:cNvSpPr txBox="1"/>
          <p:nvPr/>
        </p:nvSpPr>
        <p:spPr>
          <a:xfrm>
            <a:off x="5741645" y="3857112"/>
            <a:ext cx="15666137" cy="726779"/>
          </a:xfrm>
          <a:prstGeom prst="rect">
            <a:avLst/>
          </a:prstGeom>
          <a:noFill/>
        </p:spPr>
        <p:txBody>
          <a:bodyPr wrap="square" lIns="0" rIns="0" tIns="0" bIns="0" anchor="t">
            <a:noAutofit/>
          </a:bodyPr>
          <a:lstStyle/>
          <a:p>
            <a:pPr algn="l"/>
            <a:r>
              <a:rPr sz="2850" b="0" i="0">
                <a:solidFill>
                  <a:srgbClr val="1A1A1A"/>
                </a:solidFill>
                <a:latin typeface="Gotham Medium"/>
              </a:rPr>
              <a:t>Map your riskiest input</a:t>
            </a:r>
          </a:p>
        </p:txBody>
      </p:sp>
      <p:sp>
        <p:nvSpPr>
          <p:cNvPr id="124" name="TextBox 123"/>
          <p:cNvSpPr txBox="1"/>
          <p:nvPr/>
        </p:nvSpPr>
        <p:spPr>
          <a:xfrm>
            <a:off x="5741645" y="4583892"/>
            <a:ext cx="15666137" cy="969039"/>
          </a:xfrm>
          <a:prstGeom prst="rect">
            <a:avLst/>
          </a:prstGeom>
          <a:noFill/>
        </p:spPr>
        <p:txBody>
          <a:bodyPr wrap="square" lIns="0" rIns="0" tIns="0" bIns="0" anchor="t">
            <a:noAutofit/>
          </a:bodyPr>
          <a:lstStyle/>
          <a:p>
            <a:pPr algn="l"/>
            <a:r>
              <a:rPr sz="2250" b="0" i="0">
                <a:solidFill>
                  <a:srgbClr val="5E5E5E"/>
                </a:solidFill>
                <a:latin typeface="Gotham Book"/>
              </a:rPr>
              <a:t>Pick one sole- or single-source material and trace it as far down the tiers as you can.</a:t>
            </a:r>
          </a:p>
        </p:txBody>
      </p:sp>
      <p:sp>
        <p:nvSpPr>
          <p:cNvPr id="125" name="TextBox 124"/>
          <p:cNvSpPr txBox="1"/>
          <p:nvPr/>
        </p:nvSpPr>
        <p:spPr>
          <a:xfrm>
            <a:off x="2350008" y="6198958"/>
            <a:ext cx="1292052" cy="2099585"/>
          </a:xfrm>
          <a:prstGeom prst="rect">
            <a:avLst/>
          </a:prstGeom>
          <a:noFill/>
        </p:spPr>
        <p:txBody>
          <a:bodyPr wrap="square" lIns="0" rIns="0" tIns="0" bIns="0" anchor="ctr">
            <a:noAutofit/>
          </a:bodyPr>
          <a:lstStyle/>
          <a:p>
            <a:pPr algn="l"/>
            <a:r>
              <a:rPr sz="8100" b="0" i="0">
                <a:solidFill>
                  <a:srgbClr val="E97B05"/>
                </a:solidFill>
                <a:latin typeface="Gotham Black"/>
              </a:rPr>
              <a:t>2</a:t>
            </a:r>
          </a:p>
        </p:txBody>
      </p:sp>
      <p:sp>
        <p:nvSpPr>
          <p:cNvPr id="126" name="Rectangle 125"/>
          <p:cNvSpPr/>
          <p:nvPr/>
        </p:nvSpPr>
        <p:spPr>
          <a:xfrm>
            <a:off x="3884320" y="6198958"/>
            <a:ext cx="18007982" cy="2099585"/>
          </a:xfrm>
          <a:prstGeom prst="rect">
            <a:avLst/>
          </a:prstGeom>
          <a:solidFill>
            <a:srgbClr val="F2F2F2"/>
          </a:solidFill>
          <a:ln>
            <a:noFill/>
          </a:ln>
        </p:spPr>
        <p:txBody>
          <a:bodyPr rtlCol="0" anchor="ctr"/>
          <a:lstStyle/>
          <a:p>
            <a:pPr algn="ctr"/>
          </a:p>
        </p:txBody>
      </p:sp>
      <p:sp>
        <p:nvSpPr>
          <p:cNvPr id="127" name="Rounded Rectangle 126"/>
          <p:cNvSpPr/>
          <p:nvPr/>
        </p:nvSpPr>
        <p:spPr>
          <a:xfrm>
            <a:off x="4288086" y="6731929"/>
            <a:ext cx="1033642" cy="1033642"/>
          </a:xfrm>
          <a:prstGeom prst="roundRect">
            <a:avLst>
              <a:gd name="adj" fmla="val 12500"/>
            </a:avLst>
          </a:prstGeom>
          <a:solidFill>
            <a:srgbClr val="1A1A1A"/>
          </a:solidFill>
          <a:ln>
            <a:noFill/>
          </a:ln>
        </p:spPr>
        <p:txBody>
          <a:bodyPr rtlCol="0" anchor="ctr"/>
          <a:lstStyle/>
          <a:p>
            <a:pPr algn="ctr"/>
          </a:p>
        </p:txBody>
      </p:sp>
      <p:pic>
        <p:nvPicPr>
          <p:cNvPr id="128" name="Picture 127" descr="image.png"/>
          <p:cNvPicPr>
            <a:picLocks noChangeAspect="1"/>
          </p:cNvPicPr>
          <p:nvPr/>
        </p:nvPicPr>
        <p:blipFill>
          <a:blip r:embed="rId3"/>
          <a:stretch>
            <a:fillRect/>
          </a:stretch>
        </p:blipFill>
        <p:spPr>
          <a:xfrm>
            <a:off x="4515488" y="6959331"/>
            <a:ext cx="578839" cy="578839"/>
          </a:xfrm>
          <a:prstGeom prst="rect">
            <a:avLst/>
          </a:prstGeom>
        </p:spPr>
      </p:pic>
      <p:sp>
        <p:nvSpPr>
          <p:cNvPr id="129" name="TextBox 128"/>
          <p:cNvSpPr txBox="1"/>
          <p:nvPr/>
        </p:nvSpPr>
        <p:spPr>
          <a:xfrm>
            <a:off x="5741645" y="6441218"/>
            <a:ext cx="15666137" cy="726779"/>
          </a:xfrm>
          <a:prstGeom prst="rect">
            <a:avLst/>
          </a:prstGeom>
          <a:noFill/>
        </p:spPr>
        <p:txBody>
          <a:bodyPr wrap="square" lIns="0" rIns="0" tIns="0" bIns="0" anchor="t">
            <a:noAutofit/>
          </a:bodyPr>
          <a:lstStyle/>
          <a:p>
            <a:pPr algn="l"/>
            <a:r>
              <a:rPr sz="2850" b="0" i="0">
                <a:solidFill>
                  <a:srgbClr val="1A1A1A"/>
                </a:solidFill>
                <a:latin typeface="Gotham Medium"/>
              </a:rPr>
              <a:t>Give every critical record an owner</a:t>
            </a:r>
          </a:p>
        </p:txBody>
      </p:sp>
      <p:sp>
        <p:nvSpPr>
          <p:cNvPr id="130" name="TextBox 129"/>
          <p:cNvSpPr txBox="1"/>
          <p:nvPr/>
        </p:nvSpPr>
        <p:spPr>
          <a:xfrm>
            <a:off x="5741645" y="7167997"/>
            <a:ext cx="15666137" cy="969039"/>
          </a:xfrm>
          <a:prstGeom prst="rect">
            <a:avLst/>
          </a:prstGeom>
          <a:noFill/>
        </p:spPr>
        <p:txBody>
          <a:bodyPr wrap="square" lIns="0" rIns="0" tIns="0" bIns="0" anchor="t">
            <a:noAutofit/>
          </a:bodyPr>
          <a:lstStyle/>
          <a:p>
            <a:pPr algn="l"/>
            <a:r>
              <a:rPr sz="2250" b="0" i="0">
                <a:solidFill>
                  <a:srgbClr val="5E5E5E"/>
                </a:solidFill>
                <a:latin typeface="Gotham Book"/>
              </a:rPr>
              <a:t>Name who keeps each critical part and supplier record accurate, and agree data-use terms with your key suppliers.</a:t>
            </a:r>
          </a:p>
        </p:txBody>
      </p:sp>
      <p:sp>
        <p:nvSpPr>
          <p:cNvPr id="131" name="TextBox 130"/>
          <p:cNvSpPr txBox="1"/>
          <p:nvPr/>
        </p:nvSpPr>
        <p:spPr>
          <a:xfrm>
            <a:off x="2350008" y="8783063"/>
            <a:ext cx="1292052" cy="2099585"/>
          </a:xfrm>
          <a:prstGeom prst="rect">
            <a:avLst/>
          </a:prstGeom>
          <a:noFill/>
        </p:spPr>
        <p:txBody>
          <a:bodyPr wrap="square" lIns="0" rIns="0" tIns="0" bIns="0" anchor="ctr">
            <a:noAutofit/>
          </a:bodyPr>
          <a:lstStyle/>
          <a:p>
            <a:pPr algn="l"/>
            <a:r>
              <a:rPr sz="8100" b="0" i="0">
                <a:solidFill>
                  <a:srgbClr val="E97B05"/>
                </a:solidFill>
                <a:latin typeface="Gotham Black"/>
              </a:rPr>
              <a:t>3</a:t>
            </a:r>
          </a:p>
        </p:txBody>
      </p:sp>
      <p:sp>
        <p:nvSpPr>
          <p:cNvPr id="132" name="Rectangle 131"/>
          <p:cNvSpPr/>
          <p:nvPr/>
        </p:nvSpPr>
        <p:spPr>
          <a:xfrm>
            <a:off x="3884320" y="8783063"/>
            <a:ext cx="18007982" cy="2099585"/>
          </a:xfrm>
          <a:prstGeom prst="rect">
            <a:avLst/>
          </a:prstGeom>
          <a:solidFill>
            <a:srgbClr val="F2F2F2"/>
          </a:solidFill>
          <a:ln>
            <a:noFill/>
          </a:ln>
        </p:spPr>
        <p:txBody>
          <a:bodyPr rtlCol="0" anchor="ctr"/>
          <a:lstStyle/>
          <a:p>
            <a:pPr algn="ctr"/>
          </a:p>
        </p:txBody>
      </p:sp>
      <p:sp>
        <p:nvSpPr>
          <p:cNvPr id="133" name="Rounded Rectangle 132"/>
          <p:cNvSpPr/>
          <p:nvPr/>
        </p:nvSpPr>
        <p:spPr>
          <a:xfrm>
            <a:off x="4288086" y="9316035"/>
            <a:ext cx="1033642" cy="1033642"/>
          </a:xfrm>
          <a:prstGeom prst="roundRect">
            <a:avLst>
              <a:gd name="adj" fmla="val 12500"/>
            </a:avLst>
          </a:prstGeom>
          <a:solidFill>
            <a:srgbClr val="1A1A1A"/>
          </a:solidFill>
          <a:ln>
            <a:noFill/>
          </a:ln>
        </p:spPr>
        <p:txBody>
          <a:bodyPr rtlCol="0" anchor="ctr"/>
          <a:lstStyle/>
          <a:p>
            <a:pPr algn="ctr"/>
          </a:p>
        </p:txBody>
      </p:sp>
      <p:pic>
        <p:nvPicPr>
          <p:cNvPr id="134" name="Picture 133" descr="image.png"/>
          <p:cNvPicPr>
            <a:picLocks noChangeAspect="1"/>
          </p:cNvPicPr>
          <p:nvPr/>
        </p:nvPicPr>
        <p:blipFill>
          <a:blip r:embed="rId4"/>
          <a:stretch>
            <a:fillRect/>
          </a:stretch>
        </p:blipFill>
        <p:spPr>
          <a:xfrm>
            <a:off x="4515488" y="9543436"/>
            <a:ext cx="578839" cy="578839"/>
          </a:xfrm>
          <a:prstGeom prst="rect">
            <a:avLst/>
          </a:prstGeom>
        </p:spPr>
      </p:pic>
      <p:sp>
        <p:nvSpPr>
          <p:cNvPr id="135" name="TextBox 134"/>
          <p:cNvSpPr txBox="1"/>
          <p:nvPr/>
        </p:nvSpPr>
        <p:spPr>
          <a:xfrm>
            <a:off x="5741645" y="9025323"/>
            <a:ext cx="15666137" cy="726779"/>
          </a:xfrm>
          <a:prstGeom prst="rect">
            <a:avLst/>
          </a:prstGeom>
          <a:noFill/>
        </p:spPr>
        <p:txBody>
          <a:bodyPr wrap="square" lIns="0" rIns="0" tIns="0" bIns="0" anchor="t">
            <a:noAutofit/>
          </a:bodyPr>
          <a:lstStyle/>
          <a:p>
            <a:pPr algn="l"/>
            <a:r>
              <a:rPr sz="2850" b="0" i="0">
                <a:solidFill>
                  <a:srgbClr val="1A1A1A"/>
                </a:solidFill>
                <a:latin typeface="Gotham Medium"/>
              </a:rPr>
              <a:t>Put AI behind validation and a person</a:t>
            </a:r>
          </a:p>
        </p:txBody>
      </p:sp>
      <p:sp>
        <p:nvSpPr>
          <p:cNvPr id="136" name="TextBox 135"/>
          <p:cNvSpPr txBox="1"/>
          <p:nvPr/>
        </p:nvSpPr>
        <p:spPr>
          <a:xfrm>
            <a:off x="5741645" y="9752102"/>
            <a:ext cx="15666137" cy="969039"/>
          </a:xfrm>
          <a:prstGeom prst="rect">
            <a:avLst/>
          </a:prstGeom>
          <a:noFill/>
        </p:spPr>
        <p:txBody>
          <a:bodyPr wrap="square" lIns="0" rIns="0" tIns="0" bIns="0" anchor="t">
            <a:noAutofit/>
          </a:bodyPr>
          <a:lstStyle/>
          <a:p>
            <a:pPr algn="l"/>
            <a:r>
              <a:rPr sz="2250" b="0" i="0">
                <a:solidFill>
                  <a:srgbClr val="5E5E5E"/>
                </a:solidFill>
                <a:latin typeface="Gotham Book"/>
              </a:rPr>
              <a:t>Test any risk model against past disruptions, and keep a named human decision point for actions it informs.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D3E50-A189-6E41-AC80-23FC9AD55197}"/>
              </a:ext>
            </a:extLst>
          </p:cNvPr>
          <p:cNvSpPr>
            <a:spLocks noGrp="1"/>
          </p:cNvSpPr>
          <p:nvPr>
            <p:ph type="title"/>
          </p:nvPr>
        </p:nvSpPr>
        <p:spPr>
          <a:xfrm>
            <a:off x="585216" y="4242816"/>
            <a:ext cx="13501111" cy="3857626"/>
          </a:xfrm>
        </p:spPr>
        <p:txBody>
          <a:bodyPr/>
          <a:lstStyle/>
          <a:p>
            <a:r>
              <a:rPr lang="en-US" sz="8800" dirty="0"/>
              <a:t>Thank you</a:t>
            </a:r>
          </a:p>
        </p:txBody>
      </p:sp>
      <p:sp>
        <p:nvSpPr>
          <p:cNvPr id="3" name="TextBox 2"/>
          <p:cNvSpPr txBox="1"/>
          <p:nvPr/>
        </p:nvSpPr>
        <p:spPr>
          <a:xfrm>
            <a:off x="585216" y="7726679"/>
            <a:ext cx="12618720" cy="1097280"/>
          </a:xfrm>
          <a:prstGeom prst="rect">
            <a:avLst/>
          </a:prstGeom>
          <a:noFill/>
        </p:spPr>
        <p:txBody>
          <a:bodyPr wrap="square" lIns="0" rIns="0" tIns="0" bIns="0">
            <a:spAutoFit/>
          </a:bodyPr>
          <a:lstStyle/>
          <a:p>
            <a:pPr algn="l"/>
            <a:r>
              <a:rPr sz="3400">
                <a:solidFill>
                  <a:srgbClr val="FFFFFF"/>
                </a:solidFill>
                <a:latin typeface="Gotham Medium"/>
              </a:rPr>
              <a:t>See your risk sooner. Act on it with data you can defend.</a:t>
            </a:r>
          </a:p>
        </p:txBody>
      </p:sp>
      <p:sp>
        <p:nvSpPr>
          <p:cNvPr id="4" name="TextBox 3"/>
          <p:cNvSpPr txBox="1"/>
          <p:nvPr/>
        </p:nvSpPr>
        <p:spPr>
          <a:xfrm>
            <a:off x="585216" y="8915400"/>
            <a:ext cx="12618720" cy="914400"/>
          </a:xfrm>
          <a:prstGeom prst="rect">
            <a:avLst/>
          </a:prstGeom>
          <a:noFill/>
        </p:spPr>
        <p:txBody>
          <a:bodyPr wrap="square" lIns="0" rIns="0" tIns="0" bIns="0">
            <a:spAutoFit/>
          </a:bodyPr>
          <a:lstStyle/>
          <a:p>
            <a:pPr algn="l"/>
            <a:r>
              <a:rPr sz="4400">
                <a:solidFill>
                  <a:srgbClr val="FFFFFF"/>
                </a:solidFill>
                <a:latin typeface="Gotham Medium"/>
              </a:rPr>
              <a:t>Questions?</a:t>
            </a:r>
          </a:p>
        </p:txBody>
      </p:sp>
      <p:sp>
        <p:nvSpPr>
          <p:cNvPr id="5" name="TextBox 4"/>
          <p:cNvSpPr txBox="1"/>
          <p:nvPr/>
        </p:nvSpPr>
        <p:spPr>
          <a:xfrm>
            <a:off x="585216" y="10012680"/>
            <a:ext cx="12618720" cy="731520"/>
          </a:xfrm>
          <a:prstGeom prst="rect">
            <a:avLst/>
          </a:prstGeom>
          <a:noFill/>
        </p:spPr>
        <p:txBody>
          <a:bodyPr wrap="square" lIns="0" rIns="0" tIns="0" bIns="0">
            <a:spAutoFit/>
          </a:bodyPr>
          <a:lstStyle/>
          <a:p>
            <a:pPr algn="l"/>
            <a:r>
              <a:rPr sz="2800">
                <a:solidFill>
                  <a:srgbClr val="FFFFFF"/>
                </a:solidFill>
                <a:latin typeface="Gotham Book"/>
              </a:rPr>
              <a:t>[Your Name]  |  [email or LinkedIn URL]</a:t>
            </a:r>
          </a:p>
        </p:txBody>
      </p:sp>
    </p:spTree>
    <p:extLst>
      <p:ext uri="{BB962C8B-B14F-4D97-AF65-F5344CB8AC3E}">
        <p14:creationId xmlns:p14="http://schemas.microsoft.com/office/powerpoint/2010/main" val="2981128466"/>
      </p:ext>
    </p:extLst>
  </p:cSld>
  <p:clrMapOvr>
    <a:masterClrMapping/>
  </p:clrMapOvr>
  <p:transition spd="med"/>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AI on ungoverned data scales the error, not the insight</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BACKUP</a:t>
            </a:r>
          </a:p>
        </p:txBody>
      </p:sp>
      <p:sp>
        <p:nvSpPr>
          <p:cNvPr id="119" name="Rectangle 118"/>
          <p:cNvSpPr/>
          <p:nvPr/>
        </p:nvSpPr>
        <p:spPr>
          <a:xfrm>
            <a:off x="2350008" y="3614853"/>
            <a:ext cx="9528887" cy="6864029"/>
          </a:xfrm>
          <a:prstGeom prst="rect">
            <a:avLst/>
          </a:prstGeom>
          <a:solidFill>
            <a:srgbClr val="F8E0E0"/>
          </a:solidFill>
          <a:ln>
            <a:noFill/>
          </a:ln>
        </p:spPr>
        <p:txBody>
          <a:bodyPr rtlCol="0" anchor="ctr"/>
          <a:lstStyle/>
          <a:p>
            <a:pPr algn="ctr"/>
          </a:p>
        </p:txBody>
      </p:sp>
      <p:sp>
        <p:nvSpPr>
          <p:cNvPr id="120" name="TextBox 119"/>
          <p:cNvSpPr txBox="1"/>
          <p:nvPr/>
        </p:nvSpPr>
        <p:spPr>
          <a:xfrm>
            <a:off x="2915280" y="3937866"/>
            <a:ext cx="8398341" cy="888286"/>
          </a:xfrm>
          <a:prstGeom prst="rect">
            <a:avLst/>
          </a:prstGeom>
          <a:noFill/>
        </p:spPr>
        <p:txBody>
          <a:bodyPr wrap="square" lIns="0" rIns="0" tIns="0" bIns="0" anchor="t">
            <a:noAutofit/>
          </a:bodyPr>
          <a:lstStyle/>
          <a:p>
            <a:pPr algn="l"/>
            <a:r>
              <a:rPr sz="3300" b="0" i="0">
                <a:solidFill>
                  <a:srgbClr val="A31F23"/>
                </a:solidFill>
                <a:latin typeface="Gotham Medium"/>
              </a:rPr>
              <a:t>Without governance</a:t>
            </a:r>
          </a:p>
        </p:txBody>
      </p:sp>
      <p:pic>
        <p:nvPicPr>
          <p:cNvPr id="121" name="Picture 120" descr="image.png"/>
          <p:cNvPicPr>
            <a:picLocks noChangeAspect="1"/>
          </p:cNvPicPr>
          <p:nvPr/>
        </p:nvPicPr>
        <p:blipFill>
          <a:blip r:embed="rId2"/>
          <a:stretch>
            <a:fillRect/>
          </a:stretch>
        </p:blipFill>
        <p:spPr>
          <a:xfrm>
            <a:off x="2915280" y="5326822"/>
            <a:ext cx="549122" cy="549122"/>
          </a:xfrm>
          <a:prstGeom prst="rect">
            <a:avLst/>
          </a:prstGeom>
        </p:spPr>
      </p:pic>
      <p:sp>
        <p:nvSpPr>
          <p:cNvPr id="122" name="TextBox 121"/>
          <p:cNvSpPr txBox="1"/>
          <p:nvPr/>
        </p:nvSpPr>
        <p:spPr>
          <a:xfrm>
            <a:off x="3803567" y="5229918"/>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Risk scores built on mismatched part and supplier IDs</a:t>
            </a:r>
          </a:p>
        </p:txBody>
      </p:sp>
      <p:pic>
        <p:nvPicPr>
          <p:cNvPr id="123" name="Picture 122" descr="image.png"/>
          <p:cNvPicPr>
            <a:picLocks noChangeAspect="1"/>
          </p:cNvPicPr>
          <p:nvPr/>
        </p:nvPicPr>
        <p:blipFill>
          <a:blip r:embed="rId2"/>
          <a:stretch>
            <a:fillRect/>
          </a:stretch>
        </p:blipFill>
        <p:spPr>
          <a:xfrm>
            <a:off x="2915280" y="6748080"/>
            <a:ext cx="549122" cy="549122"/>
          </a:xfrm>
          <a:prstGeom prst="rect">
            <a:avLst/>
          </a:prstGeom>
        </p:spPr>
      </p:pic>
      <p:sp>
        <p:nvSpPr>
          <p:cNvPr id="124" name="TextBox 123"/>
          <p:cNvSpPr txBox="1"/>
          <p:nvPr/>
        </p:nvSpPr>
        <p:spPr>
          <a:xfrm>
            <a:off x="3803567" y="6651176"/>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A clean dashboard hides stale lead times</a:t>
            </a:r>
          </a:p>
        </p:txBody>
      </p:sp>
      <p:pic>
        <p:nvPicPr>
          <p:cNvPr id="125" name="Picture 124" descr="image.png"/>
          <p:cNvPicPr>
            <a:picLocks noChangeAspect="1"/>
          </p:cNvPicPr>
          <p:nvPr/>
        </p:nvPicPr>
        <p:blipFill>
          <a:blip r:embed="rId2"/>
          <a:stretch>
            <a:fillRect/>
          </a:stretch>
        </p:blipFill>
        <p:spPr>
          <a:xfrm>
            <a:off x="2915280" y="8169338"/>
            <a:ext cx="549122" cy="549122"/>
          </a:xfrm>
          <a:prstGeom prst="rect">
            <a:avLst/>
          </a:prstGeom>
        </p:spPr>
      </p:pic>
      <p:sp>
        <p:nvSpPr>
          <p:cNvPr id="126" name="TextBox 125"/>
          <p:cNvSpPr txBox="1"/>
          <p:nvPr/>
        </p:nvSpPr>
        <p:spPr>
          <a:xfrm>
            <a:off x="3803567" y="8072434"/>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No one can explain why a supplier was flagged</a:t>
            </a:r>
          </a:p>
        </p:txBody>
      </p:sp>
      <p:pic>
        <p:nvPicPr>
          <p:cNvPr id="127" name="Picture 126" descr="image.png"/>
          <p:cNvPicPr>
            <a:picLocks noChangeAspect="1"/>
          </p:cNvPicPr>
          <p:nvPr/>
        </p:nvPicPr>
        <p:blipFill>
          <a:blip r:embed="rId2"/>
          <a:stretch>
            <a:fillRect/>
          </a:stretch>
        </p:blipFill>
        <p:spPr>
          <a:xfrm>
            <a:off x="2915280" y="9590596"/>
            <a:ext cx="549122" cy="549122"/>
          </a:xfrm>
          <a:prstGeom prst="rect">
            <a:avLst/>
          </a:prstGeom>
        </p:spPr>
      </p:pic>
      <p:sp>
        <p:nvSpPr>
          <p:cNvPr id="128" name="TextBox 127"/>
          <p:cNvSpPr txBox="1"/>
          <p:nvPr/>
        </p:nvSpPr>
        <p:spPr>
          <a:xfrm>
            <a:off x="3803567" y="9493692"/>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Planners stop trusting it and go back to spreadsheets</a:t>
            </a:r>
          </a:p>
        </p:txBody>
      </p:sp>
      <p:sp>
        <p:nvSpPr>
          <p:cNvPr id="129" name="Rectangle 128"/>
          <p:cNvSpPr/>
          <p:nvPr/>
        </p:nvSpPr>
        <p:spPr>
          <a:xfrm>
            <a:off x="12363415" y="3614853"/>
            <a:ext cx="9528887" cy="6864029"/>
          </a:xfrm>
          <a:prstGeom prst="rect">
            <a:avLst/>
          </a:prstGeom>
          <a:solidFill>
            <a:srgbClr val="E6F2DD"/>
          </a:solidFill>
          <a:ln>
            <a:noFill/>
          </a:ln>
        </p:spPr>
        <p:txBody>
          <a:bodyPr rtlCol="0" anchor="ctr"/>
          <a:lstStyle/>
          <a:p>
            <a:pPr algn="ctr"/>
          </a:p>
        </p:txBody>
      </p:sp>
      <p:sp>
        <p:nvSpPr>
          <p:cNvPr id="130" name="TextBox 129"/>
          <p:cNvSpPr txBox="1"/>
          <p:nvPr/>
        </p:nvSpPr>
        <p:spPr>
          <a:xfrm>
            <a:off x="12928688" y="3937866"/>
            <a:ext cx="8398341" cy="888286"/>
          </a:xfrm>
          <a:prstGeom prst="rect">
            <a:avLst/>
          </a:prstGeom>
          <a:noFill/>
        </p:spPr>
        <p:txBody>
          <a:bodyPr wrap="square" lIns="0" rIns="0" tIns="0" bIns="0" anchor="t">
            <a:noAutofit/>
          </a:bodyPr>
          <a:lstStyle/>
          <a:p>
            <a:pPr algn="l"/>
            <a:r>
              <a:rPr sz="3300" b="0" i="0">
                <a:solidFill>
                  <a:srgbClr val="3F7F12"/>
                </a:solidFill>
                <a:latin typeface="Gotham Medium"/>
              </a:rPr>
              <a:t>With governance</a:t>
            </a:r>
          </a:p>
        </p:txBody>
      </p:sp>
      <p:pic>
        <p:nvPicPr>
          <p:cNvPr id="131" name="Picture 130" descr="image.png"/>
          <p:cNvPicPr>
            <a:picLocks noChangeAspect="1"/>
          </p:cNvPicPr>
          <p:nvPr/>
        </p:nvPicPr>
        <p:blipFill>
          <a:blip r:embed="rId3"/>
          <a:stretch>
            <a:fillRect/>
          </a:stretch>
        </p:blipFill>
        <p:spPr>
          <a:xfrm>
            <a:off x="12928688" y="5326822"/>
            <a:ext cx="549122" cy="549122"/>
          </a:xfrm>
          <a:prstGeom prst="rect">
            <a:avLst/>
          </a:prstGeom>
        </p:spPr>
      </p:pic>
      <p:sp>
        <p:nvSpPr>
          <p:cNvPr id="132" name="TextBox 131"/>
          <p:cNvSpPr txBox="1"/>
          <p:nvPr/>
        </p:nvSpPr>
        <p:spPr>
          <a:xfrm>
            <a:off x="13816974" y="5229918"/>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Scores trace back to named, quality-checked sources</a:t>
            </a:r>
          </a:p>
        </p:txBody>
      </p:sp>
      <p:pic>
        <p:nvPicPr>
          <p:cNvPr id="133" name="Picture 132" descr="image.png"/>
          <p:cNvPicPr>
            <a:picLocks noChangeAspect="1"/>
          </p:cNvPicPr>
          <p:nvPr/>
        </p:nvPicPr>
        <p:blipFill>
          <a:blip r:embed="rId3"/>
          <a:stretch>
            <a:fillRect/>
          </a:stretch>
        </p:blipFill>
        <p:spPr>
          <a:xfrm>
            <a:off x="12928688" y="6748080"/>
            <a:ext cx="549122" cy="549122"/>
          </a:xfrm>
          <a:prstGeom prst="rect">
            <a:avLst/>
          </a:prstGeom>
        </p:spPr>
      </p:pic>
      <p:sp>
        <p:nvSpPr>
          <p:cNvPr id="134" name="TextBox 133"/>
          <p:cNvSpPr txBox="1"/>
          <p:nvPr/>
        </p:nvSpPr>
        <p:spPr>
          <a:xfrm>
            <a:off x="13816974" y="6651176"/>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Input confidence is shown next to every output</a:t>
            </a:r>
          </a:p>
        </p:txBody>
      </p:sp>
      <p:pic>
        <p:nvPicPr>
          <p:cNvPr id="135" name="Picture 134" descr="image.png"/>
          <p:cNvPicPr>
            <a:picLocks noChangeAspect="1"/>
          </p:cNvPicPr>
          <p:nvPr/>
        </p:nvPicPr>
        <p:blipFill>
          <a:blip r:embed="rId3"/>
          <a:stretch>
            <a:fillRect/>
          </a:stretch>
        </p:blipFill>
        <p:spPr>
          <a:xfrm>
            <a:off x="12928688" y="8169338"/>
            <a:ext cx="549122" cy="549122"/>
          </a:xfrm>
          <a:prstGeom prst="rect">
            <a:avLst/>
          </a:prstGeom>
        </p:spPr>
      </p:pic>
      <p:sp>
        <p:nvSpPr>
          <p:cNvPr id="136" name="TextBox 135"/>
          <p:cNvSpPr txBox="1"/>
          <p:nvPr/>
        </p:nvSpPr>
        <p:spPr>
          <a:xfrm>
            <a:off x="13816974" y="8072434"/>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Models are validated against past disruptions</a:t>
            </a:r>
          </a:p>
        </p:txBody>
      </p:sp>
      <p:pic>
        <p:nvPicPr>
          <p:cNvPr id="137" name="Picture 136" descr="image.png"/>
          <p:cNvPicPr>
            <a:picLocks noChangeAspect="1"/>
          </p:cNvPicPr>
          <p:nvPr/>
        </p:nvPicPr>
        <p:blipFill>
          <a:blip r:embed="rId3"/>
          <a:stretch>
            <a:fillRect/>
          </a:stretch>
        </p:blipFill>
        <p:spPr>
          <a:xfrm>
            <a:off x="12928688" y="9590596"/>
            <a:ext cx="549122" cy="549122"/>
          </a:xfrm>
          <a:prstGeom prst="rect">
            <a:avLst/>
          </a:prstGeom>
        </p:spPr>
      </p:pic>
      <p:sp>
        <p:nvSpPr>
          <p:cNvPr id="138" name="TextBox 137"/>
          <p:cNvSpPr txBox="1"/>
          <p:nvPr/>
        </p:nvSpPr>
        <p:spPr>
          <a:xfrm>
            <a:off x="13816974" y="9493692"/>
            <a:ext cx="7590808" cy="1211299"/>
          </a:xfrm>
          <a:prstGeom prst="rect">
            <a:avLst/>
          </a:prstGeom>
          <a:noFill/>
        </p:spPr>
        <p:txBody>
          <a:bodyPr wrap="square" lIns="0" rIns="0" tIns="0" bIns="0" anchor="t">
            <a:noAutofit/>
          </a:bodyPr>
          <a:lstStyle/>
          <a:p>
            <a:pPr algn="l"/>
            <a:r>
              <a:rPr sz="2250" b="0" i="0">
                <a:solidFill>
                  <a:srgbClr val="1A1A1A"/>
                </a:solidFill>
                <a:latin typeface="Gotham Book"/>
              </a:rPr>
              <a:t>A named person owns each decision the model informs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350008" y="1783080"/>
            <a:ext cx="19595592" cy="1188720"/>
          </a:xfrm>
        </p:spPr>
        <p:txBody>
          <a:bodyPr wrap="square"/>
          <a:lstStyle/>
          <a:p>
            <a:r>
              <a:rPr sz="4600"/>
              <a:t>Sources</a:t>
            </a:r>
          </a:p>
        </p:txBody>
      </p:sp>
      <p:sp>
        <p:nvSpPr>
          <p:cNvPr id="117" name="Slide Number"/>
          <p:cNvSpPr txBox="1">
            <a:spLocks noGrp="1"/>
          </p:cNvSpPr>
          <p:nvPr>
            <p:ph type="sldNum" sz="quarter" idx="2"/>
          </p:nvPr>
        </p:nvSpPr>
        <p:spPr>
          <a:xfrm>
            <a:off x="22219920" y="12188952"/>
            <a:ext cx="1042415" cy="35661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TextBox 117"/>
          <p:cNvSpPr txBox="1"/>
          <p:nvPr/>
        </p:nvSpPr>
        <p:spPr>
          <a:xfrm>
            <a:off x="2350008" y="1325880"/>
            <a:ext cx="19595592" cy="411480"/>
          </a:xfrm>
          <a:prstGeom prst="rect">
            <a:avLst/>
          </a:prstGeom>
          <a:noFill/>
        </p:spPr>
        <p:txBody>
          <a:bodyPr wrap="square" lIns="0" rIns="0" tIns="0" bIns="0" anchor="t">
            <a:noAutofit/>
          </a:bodyPr>
          <a:lstStyle/>
          <a:p>
            <a:pPr algn="l"/>
            <a:r>
              <a:rPr sz="2025" b="0" i="0" spc="200">
                <a:solidFill>
                  <a:srgbClr val="B35900"/>
                </a:solidFill>
                <a:latin typeface="Gotham Medium"/>
              </a:rPr>
              <a:t>APPENDIX</a:t>
            </a:r>
          </a:p>
        </p:txBody>
      </p:sp>
      <p:sp>
        <p:nvSpPr>
          <p:cNvPr id="119" name="TextBox 118"/>
          <p:cNvSpPr txBox="1"/>
          <p:nvPr/>
        </p:nvSpPr>
        <p:spPr>
          <a:xfrm>
            <a:off x="2350008" y="3372593"/>
            <a:ext cx="19595592" cy="8075328"/>
          </a:xfrm>
          <a:prstGeom prst="rect">
            <a:avLst/>
          </a:prstGeom>
          <a:noFill/>
        </p:spPr>
        <p:txBody>
          <a:bodyPr wrap="square" lIns="0" rIns="0" tIns="0" bIns="0" anchor="t">
            <a:noAutofit/>
          </a:bodyPr>
          <a:lstStyle/>
          <a:p>
            <a:pPr algn="l">
              <a:spcAft>
                <a:spcPts val="750"/>
              </a:spcAft>
            </a:pPr>
            <a:r>
              <a:rPr sz="1650" b="0" i="0">
                <a:solidFill>
                  <a:srgbClr val="1A1A1A"/>
                </a:solidFill>
                <a:latin typeface="Gotham Book"/>
              </a:rPr>
              <a:t>SIA &amp; BCG (May 2024). Emerging Resilience in the Semiconductor Supply Chain. </a:t>
            </a:r>
            <a:r>
              <a:rPr sz="1650" b="0" i="0">
                <a:solidFill>
                  <a:srgbClr val="3F7F12"/>
                </a:solidFill>
                <a:latin typeface="Gotham Book"/>
                <a:hlinkClick r:id="rId2"/>
              </a:rPr>
              <a:t>https://www.semiconductors.org/emerging-resilience-in-the-semiconductor-supply-chain/</a:t>
            </a:r>
          </a:p>
          <a:p>
            <a:pPr algn="l">
              <a:spcAft>
                <a:spcPts val="750"/>
              </a:spcAft>
            </a:pPr>
            <a:r>
              <a:rPr sz="1650" b="0" i="0">
                <a:solidFill>
                  <a:srgbClr val="1A1A1A"/>
                </a:solidFill>
                <a:latin typeface="Gotham Book"/>
              </a:rPr>
              <a:t>USGS (2025). Mineral Commodity Summaries 2025: Gallium; Germanium. </a:t>
            </a:r>
            <a:r>
              <a:rPr sz="1650" b="0" i="0">
                <a:solidFill>
                  <a:srgbClr val="3F7F12"/>
                </a:solidFill>
                <a:latin typeface="Gotham Book"/>
                <a:hlinkClick r:id="rId3"/>
              </a:rPr>
              <a:t>https://pubs.usgs.gov/publication/mcs2025</a:t>
            </a:r>
          </a:p>
          <a:p>
            <a:pPr algn="l">
              <a:spcAft>
                <a:spcPts val="750"/>
              </a:spcAft>
            </a:pPr>
            <a:r>
              <a:rPr sz="1650" b="0" i="0">
                <a:solidFill>
                  <a:srgbClr val="1A1A1A"/>
                </a:solidFill>
                <a:latin typeface="Gotham Book"/>
              </a:rPr>
              <a:t>Gartner (Feb 5, 2025). Supply chain GenAI productivity gains survey. </a:t>
            </a:r>
            <a:r>
              <a:rPr sz="1650" b="0" i="0">
                <a:solidFill>
                  <a:srgbClr val="3F7F12"/>
                </a:solidFill>
                <a:latin typeface="Gotham Book"/>
                <a:hlinkClick r:id="rId4"/>
              </a:rPr>
              <a:t>https://www.gartner.com/en/newsroom/press-releases/2025-02-05-gartner-survey-supply-chain-genai-productivity-gains-at-individual-level-while-creating-new-complications-for-organizations</a:t>
            </a:r>
          </a:p>
          <a:p>
            <a:pPr algn="l">
              <a:spcAft>
                <a:spcPts val="750"/>
              </a:spcAft>
            </a:pPr>
            <a:r>
              <a:rPr sz="1650" b="0" i="0">
                <a:solidFill>
                  <a:srgbClr val="1A1A1A"/>
                </a:solidFill>
                <a:latin typeface="Gotham Book"/>
              </a:rPr>
              <a:t>Gartner (Jun 11, 2025). Just 23% of supply chain organizations have a formal AI strategy. </a:t>
            </a:r>
            <a:r>
              <a:rPr sz="1650" b="0" i="0">
                <a:solidFill>
                  <a:srgbClr val="3F7F12"/>
                </a:solidFill>
                <a:latin typeface="Gotham Book"/>
                <a:hlinkClick r:id="rId5"/>
              </a:rPr>
              <a:t>https://www.gartner.com/en/newsroom/2025-06-11-gartner-survey-shows-just-23-percent-of-supply-chain-organizations-have-a-formal-ai-strategy</a:t>
            </a:r>
          </a:p>
          <a:p>
            <a:pPr algn="l">
              <a:spcAft>
                <a:spcPts val="750"/>
              </a:spcAft>
            </a:pPr>
            <a:r>
              <a:rPr sz="1650" b="0" i="0">
                <a:solidFill>
                  <a:srgbClr val="1A1A1A"/>
                </a:solidFill>
                <a:latin typeface="Gotham Book"/>
              </a:rPr>
              <a:t>McKinsey (2021). Succeeding in the AI supply-chain revolution. </a:t>
            </a:r>
            <a:r>
              <a:rPr sz="1650" b="0" i="0">
                <a:solidFill>
                  <a:srgbClr val="3F7F12"/>
                </a:solidFill>
                <a:latin typeface="Gotham Book"/>
                <a:hlinkClick r:id="rId6"/>
              </a:rPr>
              <a:t>https://www.mckinsey.com/industries/metals-and-mining/our-insights/succeeding-in-the-ai-supply-chain-revolution</a:t>
            </a:r>
          </a:p>
          <a:p>
            <a:pPr algn="l">
              <a:spcAft>
                <a:spcPts val="750"/>
              </a:spcAft>
            </a:pPr>
            <a:r>
              <a:rPr sz="1650" b="0" i="0">
                <a:solidFill>
                  <a:srgbClr val="1A1A1A"/>
                </a:solidFill>
                <a:latin typeface="Gotham Book"/>
              </a:rPr>
              <a:t>Synergy (2025). Strengthening the global semiconductor supply chain in 2025. </a:t>
            </a:r>
            <a:r>
              <a:rPr sz="1650" b="0" i="0">
                <a:solidFill>
                  <a:srgbClr val="3F7F12"/>
                </a:solidFill>
                <a:latin typeface="Gotham Book"/>
                <a:hlinkClick r:id="rId7"/>
              </a:rPr>
              <a:t>https://synergy-inc.com/blogs/strengthening-the-global-semiconductor-supply-chain-challenges-and-opportunities-in-2025-2</a:t>
            </a:r>
          </a:p>
          <a:p>
            <a:pPr algn="l">
              <a:spcAft>
                <a:spcPts val="750"/>
              </a:spcAft>
            </a:pPr>
            <a:r>
              <a:rPr sz="1650" b="0" i="0">
                <a:solidFill>
                  <a:srgbClr val="1A1A1A"/>
                </a:solidFill>
                <a:latin typeface="Gotham Book"/>
              </a:rPr>
              <a:t>Exiger. Chip challenges: semiconductors and supply chain risks. </a:t>
            </a:r>
            <a:r>
              <a:rPr sz="1650" b="0" i="0">
                <a:solidFill>
                  <a:srgbClr val="3F7F12"/>
                </a:solidFill>
                <a:latin typeface="Gotham Book"/>
                <a:hlinkClick r:id="rId8"/>
              </a:rPr>
              <a:t>https://www.exiger.com/perspectives/chip-challenges-semiconductors-and-supply-chain-risks/</a:t>
            </a:r>
          </a:p>
          <a:p>
            <a:pPr algn="l">
              <a:spcAft>
                <a:spcPts val="750"/>
              </a:spcAft>
            </a:pPr>
            <a:r>
              <a:rPr sz="1650" b="0" i="0">
                <a:solidFill>
                  <a:srgbClr val="1A1A1A"/>
                </a:solidFill>
                <a:latin typeface="Gotham Book"/>
              </a:rPr>
              <a:t>Wiley Online Library, article app5.70046. </a:t>
            </a:r>
            <a:r>
              <a:rPr sz="1650" b="0" i="0">
                <a:solidFill>
                  <a:srgbClr val="3F7F12"/>
                </a:solidFill>
                <a:latin typeface="Gotham Book"/>
                <a:hlinkClick r:id="rId9"/>
              </a:rPr>
              <a:t>https://onlinelibrary.wiley.com/doi/full/10.1002/app5.70046</a:t>
            </a:r>
          </a:p>
          <a:p>
            <a:pPr algn="l">
              <a:spcAft>
                <a:spcPts val="750"/>
              </a:spcAft>
            </a:pPr>
            <a:r>
              <a:rPr sz="1650" b="0" i="0">
                <a:solidFill>
                  <a:srgbClr val="1A1A1A"/>
                </a:solidFill>
                <a:latin typeface="Gotham Book"/>
              </a:rPr>
              <a:t>Altium. Supply chain resilience, AI demand, and the semiconductor shortage. </a:t>
            </a:r>
            <a:r>
              <a:rPr sz="1650" b="0" i="0">
                <a:solidFill>
                  <a:srgbClr val="3F7F12"/>
                </a:solidFill>
                <a:latin typeface="Gotham Book"/>
                <a:hlinkClick r:id="rId10"/>
              </a:rPr>
              <a:t>https://resources.altium.com/p/supply-chain-resilience-ai-demand-semiconductor-shortage</a:t>
            </a:r>
          </a:p>
          <a:p>
            <a:pPr algn="l">
              <a:spcAft>
                <a:spcPts val="750"/>
              </a:spcAft>
            </a:pPr>
            <a:r>
              <a:rPr sz="1650" b="0" i="0">
                <a:solidFill>
                  <a:srgbClr val="1A1A1A"/>
                </a:solidFill>
                <a:latin typeface="Gotham Book"/>
              </a:rPr>
              <a:t>Fox Business video on AI-driven supply chain mapping. </a:t>
            </a:r>
            <a:r>
              <a:rPr sz="1650" b="0" i="0">
                <a:solidFill>
                  <a:srgbClr val="3F7F12"/>
                </a:solidFill>
                <a:latin typeface="Gotham Book"/>
                <a:hlinkClick r:id="rId11"/>
              </a:rPr>
              <a:t>https://www.foxbusiness.com/video/6394872288112</a:t>
            </a:r>
          </a:p>
          <a:p>
            <a:pPr algn="l">
              <a:spcAft>
                <a:spcPts val="750"/>
              </a:spcAft>
            </a:pPr>
            <a:r>
              <a:rPr sz="1650" b="0" i="0">
                <a:solidFill>
                  <a:srgbClr val="1A1A1A"/>
                </a:solidFill>
                <a:latin typeface="Gotham Book"/>
              </a:rPr>
              <a:t>NIST AI Risk Management Framework. </a:t>
            </a:r>
            <a:r>
              <a:rPr sz="1650" b="0" i="0">
                <a:solidFill>
                  <a:srgbClr val="3F7F12"/>
                </a:solidFill>
                <a:latin typeface="Gotham Book"/>
                <a:hlinkClick r:id="rId12"/>
              </a:rPr>
              <a:t>https://www.nist.gov/itl/ai-risk-management-framework</a:t>
            </a:r>
          </a:p>
          <a:p>
            <a:pPr algn="l">
              <a:spcAft>
                <a:spcPts val="750"/>
              </a:spcAft>
            </a:pPr>
            <a:r>
              <a:rPr sz="1650" b="0" i="0">
                <a:solidFill>
                  <a:srgbClr val="1A1A1A"/>
                </a:solidFill>
                <a:latin typeface="Gotham Book"/>
              </a:rPr>
              <a:t>ISO/IEC 42001: AI management systems. </a:t>
            </a:r>
            <a:r>
              <a:rPr sz="1650" b="0" i="0">
                <a:solidFill>
                  <a:srgbClr val="3F7F12"/>
                </a:solidFill>
                <a:latin typeface="Gotham Book"/>
                <a:hlinkClick r:id="rId13"/>
              </a:rPr>
              <a:t>https://www.iso.org/standard/81230.html</a:t>
            </a:r>
          </a:p>
        </p:txBody>
      </p:sp>
    </p:spTree>
  </p:cSld>
  <p:clrMapOvr>
    <a:masterClrMapping/>
  </p:clrMapOvr>
</p:sld>
</file>

<file path=ppt/theme/theme1.xml><?xml version="1.0" encoding="utf-8"?>
<a:theme xmlns:a="http://schemas.openxmlformats.org/drawingml/2006/main" name="White">
  <a:themeElements>
    <a:clrScheme name="Custom 21">
      <a:dk1>
        <a:srgbClr val="000000"/>
      </a:dk1>
      <a:lt1>
        <a:srgbClr val="FFFFFF"/>
      </a:lt1>
      <a:dk2>
        <a:srgbClr val="5E5E5E"/>
      </a:dk2>
      <a:lt2>
        <a:srgbClr val="D5D5D5"/>
      </a:lt2>
      <a:accent1>
        <a:srgbClr val="9A3056"/>
      </a:accent1>
      <a:accent2>
        <a:srgbClr val="F4AE00"/>
      </a:accent2>
      <a:accent3>
        <a:srgbClr val="E97B05"/>
      </a:accent3>
      <a:accent4>
        <a:srgbClr val="C9282C"/>
      </a:accent4>
      <a:accent5>
        <a:srgbClr val="5BB3E5"/>
      </a:accent5>
      <a:accent6>
        <a:srgbClr val="54A41C"/>
      </a:accent6>
      <a:hlink>
        <a:srgbClr val="0000FF"/>
      </a:hlink>
      <a:folHlink>
        <a:srgbClr val="FF00FF"/>
      </a:folHlink>
    </a:clrScheme>
    <a:fontScheme name="White">
      <a:majorFont>
        <a:latin typeface="Gotham Black"/>
        <a:ea typeface="Gotham Black"/>
        <a:cs typeface="Gotham Black"/>
      </a:majorFont>
      <a:minorFont>
        <a:latin typeface="Gotham Black"/>
        <a:ea typeface="Gotham Black"/>
        <a:cs typeface="Gotham Black"/>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otham Black"/>
        <a:ea typeface="Gotham Black"/>
        <a:cs typeface="Gotham Black"/>
      </a:majorFont>
      <a:minorFont>
        <a:latin typeface="Gotham Black"/>
        <a:ea typeface="Gotham Black"/>
        <a:cs typeface="Gotham Black"/>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9D35BC82558B4E9F64E3E8AAA23523" ma:contentTypeVersion="24" ma:contentTypeDescription="Create a new document." ma:contentTypeScope="" ma:versionID="d867268e606a95b6c684715f8975d99c">
  <xsd:schema xmlns:xsd="http://www.w3.org/2001/XMLSchema" xmlns:xs="http://www.w3.org/2001/XMLSchema" xmlns:p="http://schemas.microsoft.com/office/2006/metadata/properties" xmlns:ns1="http://schemas.microsoft.com/sharepoint/v3" xmlns:ns2="53b4a38d-d267-4cdb-b100-8fcdd1c612bb" xmlns:ns3="c3d57bb1-c434-4746-8ecb-fdf879ee4008" targetNamespace="http://schemas.microsoft.com/office/2006/metadata/properties" ma:root="true" ma:fieldsID="aae7b3804872e0147cd67d20c5430166" ns1:_="" ns2:_="" ns3:_="">
    <xsd:import namespace="http://schemas.microsoft.com/sharepoint/v3"/>
    <xsd:import namespace="53b4a38d-d267-4cdb-b100-8fcdd1c612bb"/>
    <xsd:import namespace="c3d57bb1-c434-4746-8ecb-fdf879ee400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3:Date" minOccurs="0"/>
                <xsd:element ref="ns1:_ip_UnifiedCompliancePolicyProperties" minOccurs="0"/>
                <xsd:element ref="ns1:_ip_UnifiedCompliancePolicyUIAction" minOccurs="0"/>
                <xsd:element ref="ns3:MediaLengthInSeconds"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b4a38d-d267-4cdb-b100-8fcdd1c612b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6dbb4b4e-3d81-4d70-90f6-2883c605ebe2}" ma:internalName="TaxCatchAll" ma:showField="CatchAllData" ma:web="53b4a38d-d267-4cdb-b100-8fcdd1c612b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3d57bb1-c434-4746-8ecb-fdf879ee400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Date" ma:index="20" nillable="true" ma:displayName="Date" ma:format="DateOnly" ma:internalName="Date">
      <xsd:simpleType>
        <xsd:restriction base="dms:DateTime"/>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fe38edb0-9445-43a8-acb7-81cf1420d42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3d57bb1-c434-4746-8ecb-fdf879ee4008">
      <Terms xmlns="http://schemas.microsoft.com/office/infopath/2007/PartnerControls"/>
    </lcf76f155ced4ddcb4097134ff3c332f>
    <_ip_UnifiedCompliancePolicyUIAction xmlns="http://schemas.microsoft.com/sharepoint/v3" xsi:nil="true"/>
    <TaxCatchAll xmlns="53b4a38d-d267-4cdb-b100-8fcdd1c612bb" xsi:nil="true"/>
    <_ip_UnifiedCompliancePolicyProperties xmlns="http://schemas.microsoft.com/sharepoint/v3" xsi:nil="true"/>
    <Date xmlns="c3d57bb1-c434-4746-8ecb-fdf879ee4008" xsi:nil="true"/>
  </documentManagement>
</p:properties>
</file>

<file path=customXml/itemProps1.xml><?xml version="1.0" encoding="utf-8"?>
<ds:datastoreItem xmlns:ds="http://schemas.openxmlformats.org/officeDocument/2006/customXml" ds:itemID="{B2E3B391-D58D-4C8D-AFB0-3CA59B3BD4D0}"/>
</file>

<file path=customXml/itemProps2.xml><?xml version="1.0" encoding="utf-8"?>
<ds:datastoreItem xmlns:ds="http://schemas.openxmlformats.org/officeDocument/2006/customXml" ds:itemID="{F3820224-EF29-4EF7-A658-E75F91B6D8E5}"/>
</file>

<file path=customXml/itemProps3.xml><?xml version="1.0" encoding="utf-8"?>
<ds:datastoreItem xmlns:ds="http://schemas.openxmlformats.org/officeDocument/2006/customXml" ds:itemID="{68E97CF9-55F9-4F9C-8FC5-9E2156D6D98A}"/>
</file>

<file path=docProps/app.xml><?xml version="1.0" encoding="utf-8"?>
<Properties xmlns="http://schemas.openxmlformats.org/officeDocument/2006/extended-properties" xmlns:vt="http://schemas.openxmlformats.org/officeDocument/2006/docPropsVTypes">
  <TotalTime>3689</TotalTime>
  <Words>146</Words>
  <Application>Microsoft Office PowerPoint</Application>
  <PresentationFormat>Custom</PresentationFormat>
  <Paragraphs>16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Gotham Book</vt:lpstr>
      <vt:lpstr>Gotham Medium</vt:lpstr>
      <vt:lpstr>Helvetica Neue</vt:lpstr>
      <vt:lpstr>White</vt:lpstr>
      <vt:lpstr>Title Goes Here  Max Two Lines Long</vt:lpstr>
      <vt:lpstr>Section Title</vt:lpstr>
      <vt:lpstr>Page Title</vt:lpstr>
      <vt:lpstr>Sample slide text heavy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Max Two Lines Long</dc:title>
  <cp:lastModifiedBy>Ann Bui</cp:lastModifiedBy>
  <cp:revision>48</cp:revision>
  <dcterms:modified xsi:type="dcterms:W3CDTF">2026-01-10T23:45:41Z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0x010100309D35BC82558B4E9F64E3E8AAA23523</vt:lpwstr>
  </property>
</Properties>
</file>